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3" r:id="rId8"/>
    <p:sldId id="264" r:id="rId9"/>
    <p:sldId id="267" r:id="rId1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1053F9-1E8D-4E38-A1DB-A9147C256586}" v="3" dt="2026-10-18T15:11:13.8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  <Relationship Id="rId19" Type="http://schemas.openxmlformats.org/officeDocument/2006/relationships/slide" Target="slides/slide11.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tkarsh sai sidhardh" userId="639201c2c6e0f4cf" providerId="LiveId" clId="{10A8BC82-9A35-4221-9069-0B605D07106F}"/>
    <pc:docChg chg="custSel addSld delSld modSld">
      <pc:chgData name="utkarsh sai sidhardh" userId="639201c2c6e0f4cf" providerId="LiveId" clId="{10A8BC82-9A35-4221-9069-0B605D07106F}" dt="2026-10-18T15:31:33.458" v="222" actId="478"/>
      <pc:docMkLst>
        <pc:docMk/>
      </pc:docMkLst>
      <pc:sldChg chg="delSp modSp mod">
        <pc:chgData name="utkarsh sai sidhardh" userId="639201c2c6e0f4cf" providerId="LiveId" clId="{10A8BC82-9A35-4221-9069-0B605D07106F}" dt="2026-10-17T08:17:06.504" v="205" actId="20577"/>
        <pc:sldMkLst>
          <pc:docMk/>
          <pc:sldMk cId="0" sldId="256"/>
        </pc:sldMkLst>
        <pc:spChg chg="del mod">
          <ac:chgData name="utkarsh sai sidhardh" userId="639201c2c6e0f4cf" providerId="LiveId" clId="{10A8BC82-9A35-4221-9069-0B605D07106F}" dt="2026-10-17T07:56:43.217" v="4" actId="478"/>
          <ac:spMkLst>
            <pc:docMk/>
            <pc:sldMk cId="0" sldId="256"/>
            <ac:spMk id="5" creationId="{00000000-0000-0000-0000-000000000000}"/>
          </ac:spMkLst>
        </pc:spChg>
        <pc:spChg chg="mod">
          <ac:chgData name="utkarsh sai sidhardh" userId="639201c2c6e0f4cf" providerId="LiveId" clId="{10A8BC82-9A35-4221-9069-0B605D07106F}" dt="2026-10-17T08:17:06.504" v="205" actId="20577"/>
          <ac:spMkLst>
            <pc:docMk/>
            <pc:sldMk cId="0" sldId="256"/>
            <ac:spMk id="6" creationId="{00000000-0000-0000-0000-000000000000}"/>
          </ac:spMkLst>
        </pc:spChg>
      </pc:sldChg>
      <pc:sldChg chg="addSp delSp modSp mod">
        <pc:chgData name="utkarsh sai sidhardh" userId="639201c2c6e0f4cf" providerId="LiveId" clId="{10A8BC82-9A35-4221-9069-0B605D07106F}" dt="2026-10-17T07:57:00.884" v="10"/>
        <pc:sldMkLst>
          <pc:docMk/>
          <pc:sldMk cId="0" sldId="257"/>
        </pc:sldMkLst>
        <pc:spChg chg="add del mod">
          <ac:chgData name="utkarsh sai sidhardh" userId="639201c2c6e0f4cf" providerId="LiveId" clId="{10A8BC82-9A35-4221-9069-0B605D07106F}" dt="2026-10-17T07:56:52.520" v="7"/>
          <ac:spMkLst>
            <pc:docMk/>
            <pc:sldMk cId="0" sldId="257"/>
            <ac:spMk id="42" creationId="{033A665C-E541-2B48-17F4-83006C550D76}"/>
          </ac:spMkLst>
        </pc:spChg>
        <pc:spChg chg="add del mod">
          <ac:chgData name="utkarsh sai sidhardh" userId="639201c2c6e0f4cf" providerId="LiveId" clId="{10A8BC82-9A35-4221-9069-0B605D07106F}" dt="2026-10-17T07:57:00.884" v="10"/>
          <ac:spMkLst>
            <pc:docMk/>
            <pc:sldMk cId="0" sldId="257"/>
            <ac:spMk id="43" creationId="{A99BCDFE-6E8D-168A-3A15-C5E0AD58779C}"/>
          </ac:spMkLst>
        </pc:spChg>
      </pc:sldChg>
      <pc:sldChg chg="modSp mod">
        <pc:chgData name="utkarsh sai sidhardh" userId="639201c2c6e0f4cf" providerId="LiveId" clId="{10A8BC82-9A35-4221-9069-0B605D07106F}" dt="2026-10-18T15:11:13.889" v="209"/>
        <pc:sldMkLst>
          <pc:docMk/>
          <pc:sldMk cId="0" sldId="260"/>
        </pc:sldMkLst>
        <pc:spChg chg="mod">
          <ac:chgData name="utkarsh sai sidhardh" userId="639201c2c6e0f4cf" providerId="LiveId" clId="{10A8BC82-9A35-4221-9069-0B605D07106F}" dt="2026-10-17T08:04:31.805" v="195" actId="20577"/>
          <ac:spMkLst>
            <pc:docMk/>
            <pc:sldMk cId="0" sldId="260"/>
            <ac:spMk id="3" creationId="{00000000-0000-0000-0000-000000000000}"/>
          </ac:spMkLst>
        </pc:spChg>
        <pc:graphicFrameChg chg="mod">
          <ac:chgData name="utkarsh sai sidhardh" userId="639201c2c6e0f4cf" providerId="LiveId" clId="{10A8BC82-9A35-4221-9069-0B605D07106F}" dt="2026-10-18T15:11:13.889" v="209"/>
          <ac:graphicFrameMkLst>
            <pc:docMk/>
            <pc:sldMk cId="0" sldId="260"/>
            <ac:graphicFrameMk id="519" creationId="{00000000-0000-0000-0000-000000000000}"/>
          </ac:graphicFrameMkLst>
        </pc:graphicFrameChg>
      </pc:sldChg>
      <pc:sldChg chg="delSp modSp mod">
        <pc:chgData name="utkarsh sai sidhardh" userId="639201c2c6e0f4cf" providerId="LiveId" clId="{10A8BC82-9A35-4221-9069-0B605D07106F}" dt="2026-10-18T15:31:33.458" v="222" actId="478"/>
        <pc:sldMkLst>
          <pc:docMk/>
          <pc:sldMk cId="0" sldId="261"/>
        </pc:sldMkLst>
        <pc:spChg chg="del">
          <ac:chgData name="utkarsh sai sidhardh" userId="639201c2c6e0f4cf" providerId="LiveId" clId="{10A8BC82-9A35-4221-9069-0B605D07106F}" dt="2026-10-18T15:31:09.660" v="215" actId="478"/>
          <ac:spMkLst>
            <pc:docMk/>
            <pc:sldMk cId="0" sldId="261"/>
            <ac:spMk id="467" creationId="{00000000-0000-0000-0000-000000000000}"/>
          </ac:spMkLst>
        </pc:spChg>
        <pc:spChg chg="del mod">
          <ac:chgData name="utkarsh sai sidhardh" userId="639201c2c6e0f4cf" providerId="LiveId" clId="{10A8BC82-9A35-4221-9069-0B605D07106F}" dt="2026-10-18T15:31:08.002" v="214" actId="478"/>
          <ac:spMkLst>
            <pc:docMk/>
            <pc:sldMk cId="0" sldId="261"/>
            <ac:spMk id="468" creationId="{00000000-0000-0000-0000-000000000000}"/>
          </ac:spMkLst>
        </pc:spChg>
        <pc:spChg chg="del">
          <ac:chgData name="utkarsh sai sidhardh" userId="639201c2c6e0f4cf" providerId="LiveId" clId="{10A8BC82-9A35-4221-9069-0B605D07106F}" dt="2026-10-18T15:31:16.831" v="218" actId="478"/>
          <ac:spMkLst>
            <pc:docMk/>
            <pc:sldMk cId="0" sldId="261"/>
            <ac:spMk id="469" creationId="{00000000-0000-0000-0000-000000000000}"/>
          </ac:spMkLst>
        </pc:spChg>
        <pc:spChg chg="del mod">
          <ac:chgData name="utkarsh sai sidhardh" userId="639201c2c6e0f4cf" providerId="LiveId" clId="{10A8BC82-9A35-4221-9069-0B605D07106F}" dt="2026-10-18T15:31:14.748" v="217" actId="478"/>
          <ac:spMkLst>
            <pc:docMk/>
            <pc:sldMk cId="0" sldId="261"/>
            <ac:spMk id="470" creationId="{00000000-0000-0000-0000-000000000000}"/>
          </ac:spMkLst>
        </pc:spChg>
        <pc:spChg chg="del">
          <ac:chgData name="utkarsh sai sidhardh" userId="639201c2c6e0f4cf" providerId="LiveId" clId="{10A8BC82-9A35-4221-9069-0B605D07106F}" dt="2026-10-18T15:31:24.289" v="220" actId="478"/>
          <ac:spMkLst>
            <pc:docMk/>
            <pc:sldMk cId="0" sldId="261"/>
            <ac:spMk id="471" creationId="{00000000-0000-0000-0000-000000000000}"/>
          </ac:spMkLst>
        </pc:spChg>
        <pc:spChg chg="del">
          <ac:chgData name="utkarsh sai sidhardh" userId="639201c2c6e0f4cf" providerId="LiveId" clId="{10A8BC82-9A35-4221-9069-0B605D07106F}" dt="2026-10-18T15:31:22.362" v="219" actId="478"/>
          <ac:spMkLst>
            <pc:docMk/>
            <pc:sldMk cId="0" sldId="261"/>
            <ac:spMk id="472" creationId="{00000000-0000-0000-0000-000000000000}"/>
          </ac:spMkLst>
        </pc:spChg>
        <pc:spChg chg="del mod">
          <ac:chgData name="utkarsh sai sidhardh" userId="639201c2c6e0f4cf" providerId="LiveId" clId="{10A8BC82-9A35-4221-9069-0B605D07106F}" dt="2026-10-18T15:31:33.458" v="222" actId="478"/>
          <ac:spMkLst>
            <pc:docMk/>
            <pc:sldMk cId="0" sldId="261"/>
            <ac:spMk id="473" creationId="{00000000-0000-0000-0000-000000000000}"/>
          </ac:spMkLst>
        </pc:spChg>
      </pc:sldChg>
      <pc:sldChg chg="modSp mod">
        <pc:chgData name="utkarsh sai sidhardh" userId="639201c2c6e0f4cf" providerId="LiveId" clId="{10A8BC82-9A35-4221-9069-0B605D07106F}" dt="2026-10-18T15:30:42.121" v="210" actId="6549"/>
        <pc:sldMkLst>
          <pc:docMk/>
          <pc:sldMk cId="0" sldId="263"/>
        </pc:sldMkLst>
        <pc:spChg chg="mod">
          <ac:chgData name="utkarsh sai sidhardh" userId="639201c2c6e0f4cf" providerId="LiveId" clId="{10A8BC82-9A35-4221-9069-0B605D07106F}" dt="2026-10-18T15:30:42.121" v="210" actId="6549"/>
          <ac:spMkLst>
            <pc:docMk/>
            <pc:sldMk cId="0" sldId="263"/>
            <ac:spMk id="623" creationId="{00000000-0000-0000-0000-000000000000}"/>
          </ac:spMkLst>
        </pc:spChg>
      </pc:sldChg>
      <pc:sldChg chg="del">
        <pc:chgData name="utkarsh sai sidhardh" userId="639201c2c6e0f4cf" providerId="LiveId" clId="{10A8BC82-9A35-4221-9069-0B605D07106F}" dt="2026-10-17T07:56:31.748" v="1" actId="47"/>
        <pc:sldMkLst>
          <pc:docMk/>
          <pc:sldMk cId="0" sldId="266"/>
        </pc:sldMkLst>
      </pc:sldChg>
      <pc:sldChg chg="addSp delSp modSp new mod">
        <pc:chgData name="utkarsh sai sidhardh" userId="639201c2c6e0f4cf" providerId="LiveId" clId="{10A8BC82-9A35-4221-9069-0B605D07106F}" dt="2026-10-17T08:05:56.822" v="204" actId="58"/>
        <pc:sldMkLst>
          <pc:docMk/>
          <pc:sldMk cId="3805443723" sldId="266"/>
        </pc:sldMkLst>
        <pc:spChg chg="add del mod">
          <ac:chgData name="utkarsh sai sidhardh" userId="639201c2c6e0f4cf" providerId="LiveId" clId="{10A8BC82-9A35-4221-9069-0B605D07106F}" dt="2026-10-17T07:58:30.900" v="15"/>
          <ac:spMkLst>
            <pc:docMk/>
            <pc:sldMk cId="3805443723" sldId="266"/>
            <ac:spMk id="2" creationId="{5F43E314-403C-EF2E-F5F3-B9930AFFFC49}"/>
          </ac:spMkLst>
        </pc:spChg>
        <pc:spChg chg="add mod">
          <ac:chgData name="utkarsh sai sidhardh" userId="639201c2c6e0f4cf" providerId="LiveId" clId="{10A8BC82-9A35-4221-9069-0B605D07106F}" dt="2026-10-17T08:05:56.822" v="204" actId="58"/>
          <ac:spMkLst>
            <pc:docMk/>
            <pc:sldMk cId="3805443723" sldId="266"/>
            <ac:spMk id="3" creationId="{9221DCD6-0E38-2453-EA86-3B3BEDAA6C73}"/>
          </ac:spMkLst>
        </pc:spChg>
        <pc:spChg chg="add mod">
          <ac:chgData name="utkarsh sai sidhardh" userId="639201c2c6e0f4cf" providerId="LiveId" clId="{10A8BC82-9A35-4221-9069-0B605D07106F}" dt="2026-10-17T08:05:56.822" v="204" actId="58"/>
          <ac:spMkLst>
            <pc:docMk/>
            <pc:sldMk cId="3805443723" sldId="266"/>
            <ac:spMk id="4" creationId="{FE09D203-1F49-DF82-499A-900A1F0EDAAE}"/>
          </ac:spMkLst>
        </pc:spChg>
        <pc:spChg chg="add mod">
          <ac:chgData name="utkarsh sai sidhardh" userId="639201c2c6e0f4cf" providerId="LiveId" clId="{10A8BC82-9A35-4221-9069-0B605D07106F}" dt="2026-10-17T08:05:56.822" v="204" actId="58"/>
          <ac:spMkLst>
            <pc:docMk/>
            <pc:sldMk cId="3805443723" sldId="266"/>
            <ac:spMk id="5" creationId="{C554B32A-2B7D-026D-04D8-2884D7733430}"/>
          </ac:spMkLst>
        </pc:spChg>
      </pc:sldChg>
      <pc:sldChg chg="del">
        <pc:chgData name="utkarsh sai sidhardh" userId="639201c2c6e0f4cf" providerId="LiveId" clId="{10A8BC82-9A35-4221-9069-0B605D07106F}" dt="2026-10-17T07:56:21.015" v="0" actId="47"/>
        <pc:sldMkLst>
          <pc:docMk/>
          <pc:sldMk cId="0" sldId="26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Score</c:v>
                </c:pt>
              </c:strCache>
            </c:strRef>
          </c:tx>
          <c:spPr>
            <a:solidFill>
              <a:srgbClr val="2F6FDB"/>
            </a:solidFill>
            <a:effectLst/>
          </c:spPr>
          <c:invertIfNegative val="0"/>
          <c:dPt>
            <c:idx val="0"/>
            <c:invertIfNegative val="0"/>
            <c:bubble3D val="0"/>
            <c:extLst>
              <c:ext xmlns:c16="http://schemas.microsoft.com/office/drawing/2014/chart" uri="{C3380CC4-5D6E-409C-BE32-E72D297353CC}">
                <c16:uniqueId val="{00000001-F5E7-49AE-A9AA-0F1F223ABAD0}"/>
              </c:ext>
            </c:extLst>
          </c:dPt>
          <c:dPt>
            <c:idx val="1"/>
            <c:invertIfNegative val="0"/>
            <c:bubble3D val="0"/>
            <c:extLst>
              <c:ext xmlns:c16="http://schemas.microsoft.com/office/drawing/2014/chart" uri="{C3380CC4-5D6E-409C-BE32-E72D297353CC}">
                <c16:uniqueId val="{00000003-F5E7-49AE-A9AA-0F1F223ABAD0}"/>
              </c:ext>
            </c:extLst>
          </c:dPt>
          <c:dPt>
            <c:idx val="2"/>
            <c:invertIfNegative val="0"/>
            <c:bubble3D val="0"/>
            <c:spPr>
              <a:solidFill>
                <a:srgbClr val="1F4E96"/>
              </a:solidFill>
              <a:effectLst/>
            </c:spPr>
            <c:extLst>
              <c:ext xmlns:c16="http://schemas.microsoft.com/office/drawing/2014/chart" uri="{C3380CC4-5D6E-409C-BE32-E72D297353CC}">
                <c16:uniqueId val="{00000005-F5E7-49AE-A9AA-0F1F223ABAD0}"/>
              </c:ext>
            </c:extLst>
          </c:dPt>
          <c:dLbls>
            <c:numFmt formatCode="0.0" sourceLinked="0"/>
            <c:spPr>
              <a:noFill/>
              <a:ln>
                <a:noFill/>
              </a:ln>
              <a:effectLst/>
            </c:spPr>
            <c:txPr>
              <a:bodyPr/>
              <a:lstStyle/>
              <a:p>
                <a:pPr>
                  <a:defRPr sz="1000" b="0" i="0" u="none" strike="noStrike">
                    <a:solidFill>
                      <a:srgbClr val="2B2F3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One sheet</c:v>
                </c:pt>
                <c:pt idx="1">
                  <c:v>Across sheets</c:v>
                </c:pt>
                <c:pt idx="2">
                  <c:v>Across documents</c:v>
                </c:pt>
              </c:strCache>
            </c:strRef>
          </c:cat>
          <c:val>
            <c:numRef>
              <c:f>Sheet1!$B$2:$B$4</c:f>
              <c:numCache>
                <c:formatCode>General</c:formatCode>
                <c:ptCount val="3"/>
                <c:pt idx="0">
                  <c:v>70.599999999999994</c:v>
                </c:pt>
                <c:pt idx="1">
                  <c:v>88.3</c:v>
                </c:pt>
                <c:pt idx="2">
                  <c:v>62</c:v>
                </c:pt>
              </c:numCache>
            </c:numRef>
          </c:val>
          <c:extLst>
            <c:ext xmlns:c16="http://schemas.microsoft.com/office/drawing/2014/chart" uri="{C3380CC4-5D6E-409C-BE32-E72D297353CC}">
              <c16:uniqueId val="{00000006-F5E7-49AE-A9AA-0F1F223ABAD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A93A0"/>
            </a:solidFill>
            <a:prstDash val="solid"/>
            <a:round/>
          </a:ln>
        </c:spPr>
        <c:txPr>
          <a:bodyPr/>
          <a:lstStyle/>
          <a:p>
            <a:pPr>
              <a:defRPr sz="1000" b="0" i="0" u="none" strike="noStrike">
                <a:solidFill>
                  <a:srgbClr val="2B2F36"/>
                </a:solidFill>
                <a:latin typeface="Calibri"/>
              </a:defRPr>
            </a:pPr>
            <a:endParaRPr lang="en-US"/>
          </a:p>
        </c:txPr>
        <c:crossAx val="2094734552"/>
        <c:crosses val="autoZero"/>
        <c:auto val="1"/>
        <c:lblAlgn val="ctr"/>
        <c:lblOffset val="100"/>
        <c:noMultiLvlLbl val="1"/>
      </c:catAx>
      <c:valAx>
        <c:axId val="2094734552"/>
        <c:scaling>
          <c:orientation val="minMax"/>
          <c:max val="11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Gain</c:v>
                </c:pt>
              </c:strCache>
            </c:strRef>
          </c:tx>
          <c:spPr>
            <a:solidFill>
              <a:srgbClr val="2F6FDB"/>
            </a:solidFill>
            <a:effectLst/>
          </c:spPr>
          <c:invertIfNegative val="0"/>
          <c:dPt>
            <c:idx val="0"/>
            <c:invertIfNegative val="0"/>
            <c:bubble3D val="0"/>
            <c:extLst>
              <c:ext xmlns:c16="http://schemas.microsoft.com/office/drawing/2014/chart" uri="{C3380CC4-5D6E-409C-BE32-E72D297353CC}">
                <c16:uniqueId val="{00000001-F555-4798-BC05-EC52EBF7B443}"/>
              </c:ext>
            </c:extLst>
          </c:dPt>
          <c:dPt>
            <c:idx val="1"/>
            <c:invertIfNegative val="0"/>
            <c:bubble3D val="0"/>
            <c:extLst>
              <c:ext xmlns:c16="http://schemas.microsoft.com/office/drawing/2014/chart" uri="{C3380CC4-5D6E-409C-BE32-E72D297353CC}">
                <c16:uniqueId val="{00000003-F555-4798-BC05-EC52EBF7B443}"/>
              </c:ext>
            </c:extLst>
          </c:dPt>
          <c:dPt>
            <c:idx val="2"/>
            <c:invertIfNegative val="0"/>
            <c:bubble3D val="0"/>
            <c:extLst>
              <c:ext xmlns:c16="http://schemas.microsoft.com/office/drawing/2014/chart" uri="{C3380CC4-5D6E-409C-BE32-E72D297353CC}">
                <c16:uniqueId val="{00000005-F555-4798-BC05-EC52EBF7B443}"/>
              </c:ext>
            </c:extLst>
          </c:dPt>
          <c:dLbls>
            <c:numFmt formatCode="\+0.0" sourceLinked="0"/>
            <c:spPr>
              <a:noFill/>
              <a:ln>
                <a:noFill/>
              </a:ln>
              <a:effectLst/>
            </c:spPr>
            <c:txPr>
              <a:bodyPr/>
              <a:lstStyle/>
              <a:p>
                <a:pPr>
                  <a:defRPr sz="1000" b="0" i="0" u="none" strike="noStrike">
                    <a:solidFill>
                      <a:srgbClr val="2B2F3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Detail review</c:v>
                </c:pt>
                <c:pt idx="1">
                  <c:v>Spec–drawing sync</c:v>
                </c:pt>
                <c:pt idx="2">
                  <c:v>Drawing navigation</c:v>
                </c:pt>
              </c:strCache>
            </c:strRef>
          </c:cat>
          <c:val>
            <c:numRef>
              <c:f>Sheet1!$B$2:$B$4</c:f>
              <c:numCache>
                <c:formatCode>General</c:formatCode>
                <c:ptCount val="3"/>
                <c:pt idx="0">
                  <c:v>32.200000000000003</c:v>
                </c:pt>
                <c:pt idx="1">
                  <c:v>20.8</c:v>
                </c:pt>
                <c:pt idx="2">
                  <c:v>18.75</c:v>
                </c:pt>
              </c:numCache>
            </c:numRef>
          </c:val>
          <c:extLst>
            <c:ext xmlns:c16="http://schemas.microsoft.com/office/drawing/2014/chart" uri="{C3380CC4-5D6E-409C-BE32-E72D297353CC}">
              <c16:uniqueId val="{00000006-F555-4798-BC05-EC52EBF7B443}"/>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A93A0"/>
            </a:solidFill>
            <a:prstDash val="solid"/>
            <a:round/>
          </a:ln>
        </c:spPr>
        <c:txPr>
          <a:bodyPr/>
          <a:lstStyle/>
          <a:p>
            <a:pPr>
              <a:defRPr sz="1000" b="0" i="0" u="none" strike="noStrike">
                <a:solidFill>
                  <a:srgbClr val="2B2F36"/>
                </a:solidFill>
                <a:latin typeface="Calibri"/>
              </a:defRPr>
            </a:pPr>
            <a:endParaRPr lang="en-US"/>
          </a:p>
        </c:txPr>
        <c:crossAx val="2094734552"/>
        <c:crosses val="autoZero"/>
        <c:auto val="1"/>
        <c:lblAlgn val="ctr"/>
        <c:lblOffset val="100"/>
        <c:noMultiLvlLbl val="1"/>
      </c:catAx>
      <c:valAx>
        <c:axId val="2094734552"/>
        <c:scaling>
          <c:orientation val="minMax"/>
          <c:max val="42"/>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BIM use</c:v>
                </c:pt>
              </c:strCache>
            </c:strRef>
          </c:tx>
          <c:spPr>
            <a:ln w="38100" cap="flat">
              <a:solidFill>
                <a:srgbClr val="2F6FDB"/>
              </a:solidFill>
              <a:prstDash val="solid"/>
              <a:round/>
            </a:ln>
            <a:effectLst/>
          </c:spPr>
          <c:marker>
            <c:symbol val="circle"/>
            <c:size val="8"/>
            <c:spPr>
              <a:solidFill>
                <a:srgbClr val="2F6FDB"/>
              </a:solidFill>
              <a:ln w="9525" cap="flat">
                <a:solidFill>
                  <a:srgbClr val="2F6FDB"/>
                </a:solidFill>
                <a:prstDash val="solid"/>
                <a:round/>
              </a:ln>
              <a:effectLst/>
            </c:spPr>
          </c:marker>
          <c:dLbls>
            <c:numFmt formatCode="0&quot;%&quot;" sourceLinked="0"/>
            <c:spPr>
              <a:noFill/>
              <a:ln>
                <a:noFill/>
              </a:ln>
              <a:effectLst/>
            </c:spPr>
            <c:txPr>
              <a:bodyPr/>
              <a:lstStyle/>
              <a:p>
                <a:pPr>
                  <a:defRPr sz="1000" b="0" i="0" u="none" strike="noStrike">
                    <a:solidFill>
                      <a:srgbClr val="2B2F36"/>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2011</c:v>
                </c:pt>
                <c:pt idx="1">
                  <c:v>2015</c:v>
                </c:pt>
                <c:pt idx="2">
                  <c:v>2016</c:v>
                </c:pt>
                <c:pt idx="3">
                  <c:v>2020</c:v>
                </c:pt>
              </c:strCache>
            </c:strRef>
          </c:cat>
          <c:val>
            <c:numRef>
              <c:f>Sheet1!$B$2:$B$5</c:f>
              <c:numCache>
                <c:formatCode>General</c:formatCode>
                <c:ptCount val="4"/>
                <c:pt idx="0">
                  <c:v>13</c:v>
                </c:pt>
                <c:pt idx="1">
                  <c:v>48</c:v>
                </c:pt>
                <c:pt idx="2">
                  <c:v>54</c:v>
                </c:pt>
                <c:pt idx="3">
                  <c:v>73</c:v>
                </c:pt>
              </c:numCache>
            </c:numRef>
          </c:val>
          <c:smooth val="0"/>
          <c:extLst>
            <c:ext xmlns:c16="http://schemas.microsoft.com/office/drawing/2014/chart" uri="{C3380CC4-5D6E-409C-BE32-E72D297353CC}">
              <c16:uniqueId val="{00000000-F42E-40E9-9A06-8266FDB5D491}"/>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A93A0"/>
            </a:solidFill>
            <a:prstDash val="solid"/>
            <a:round/>
          </a:ln>
        </c:spPr>
        <c:txPr>
          <a:bodyPr/>
          <a:lstStyle/>
          <a:p>
            <a:pPr>
              <a:defRPr sz="1000" b="0" i="0" u="none" strike="noStrike">
                <a:solidFill>
                  <a:srgbClr val="2B2F36"/>
                </a:solidFill>
                <a:latin typeface="Calibri"/>
              </a:defRPr>
            </a:pPr>
            <a:endParaRPr lang="en-US"/>
          </a:p>
        </c:txPr>
        <c:crossAx val="2094734552"/>
        <c:crosses val="autoZero"/>
        <c:auto val="1"/>
        <c:lblAlgn val="ctr"/>
        <c:lblOffset val="100"/>
        <c:noMultiLvlLbl val="1"/>
      </c:catAx>
      <c:valAx>
        <c:axId val="2094734552"/>
        <c:scaling>
          <c:orientation val="minMax"/>
          <c:max val="9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9344873817206765"/>
          <c:y val="0.12563131313131315"/>
          <c:w val="0.24993072873372121"/>
          <c:h val="0.75925925925925919"/>
        </c:manualLayout>
      </c:layout>
      <c:doughnutChart>
        <c:varyColors val="1"/>
        <c:ser>
          <c:idx val="0"/>
          <c:order val="0"/>
          <c:tx>
            <c:strRef>
              <c:f>Sheet1!$B$1</c:f>
              <c:strCache>
                <c:ptCount val="1"/>
                <c:pt idx="0">
                  <c:v>Rework</c:v>
                </c:pt>
              </c:strCache>
            </c:strRef>
          </c:tx>
          <c:spPr>
            <a:solidFill>
              <a:schemeClr val="accent1"/>
            </a:solidFill>
            <a:ln w="9525" cap="flat">
              <a:solidFill>
                <a:srgbClr val="FAF9F6"/>
              </a:solidFill>
              <a:prstDash val="solid"/>
              <a:round/>
            </a:ln>
            <a:effectLst/>
          </c:spPr>
          <c:dPt>
            <c:idx val="0"/>
            <c:bubble3D val="0"/>
            <c:spPr>
              <a:solidFill>
                <a:srgbClr val="2F6FDB"/>
              </a:solidFill>
              <a:effectLst/>
            </c:spPr>
            <c:extLst>
              <c:ext xmlns:c16="http://schemas.microsoft.com/office/drawing/2014/chart" uri="{C3380CC4-5D6E-409C-BE32-E72D297353CC}">
                <c16:uniqueId val="{00000001-C67D-4225-8206-CB15BD110F7A}"/>
              </c:ext>
            </c:extLst>
          </c:dPt>
          <c:dPt>
            <c:idx val="1"/>
            <c:bubble3D val="0"/>
            <c:spPr>
              <a:solidFill>
                <a:srgbClr val="1F4E96"/>
              </a:solidFill>
              <a:effectLst/>
            </c:spPr>
            <c:extLst>
              <c:ext xmlns:c16="http://schemas.microsoft.com/office/drawing/2014/chart" uri="{C3380CC4-5D6E-409C-BE32-E72D297353CC}">
                <c16:uniqueId val="{00000003-C67D-4225-8206-CB15BD110F7A}"/>
              </c:ext>
            </c:extLst>
          </c:dPt>
          <c:dLbls>
            <c:dLbl>
              <c:idx val="0"/>
              <c:numFmt formatCode="\$0.0&quot;B&quot;" sourceLinked="0"/>
              <c:spPr/>
              <c:txPr>
                <a:bodyPr/>
                <a:lstStyle/>
                <a:p>
                  <a:pPr>
                    <a:defRPr sz="10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67D-4225-8206-CB15BD110F7A}"/>
                </c:ext>
              </c:extLst>
            </c:dLbl>
            <c:dLbl>
              <c:idx val="1"/>
              <c:numFmt formatCode="\$0.0&quot;B&quot;" sourceLinked="0"/>
              <c:spPr/>
              <c:txPr>
                <a:bodyPr/>
                <a:lstStyle/>
                <a:p>
                  <a:pPr>
                    <a:defRPr sz="10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67D-4225-8206-CB15BD110F7A}"/>
                </c:ext>
              </c:extLst>
            </c:dLbl>
            <c:numFmt formatCode="\$0.0&quot;B&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Poor communication</c:v>
                </c:pt>
                <c:pt idx="1">
                  <c:v>Poor project data</c:v>
                </c:pt>
              </c:strCache>
            </c:strRef>
          </c:cat>
          <c:val>
            <c:numRef>
              <c:f>Sheet1!$B$2:$B$3</c:f>
              <c:numCache>
                <c:formatCode>General</c:formatCode>
                <c:ptCount val="2"/>
                <c:pt idx="0">
                  <c:v>17</c:v>
                </c:pt>
                <c:pt idx="1">
                  <c:v>14.3</c:v>
                </c:pt>
              </c:numCache>
            </c:numRef>
          </c:val>
          <c:extLst>
            <c:ext xmlns:c16="http://schemas.microsoft.com/office/drawing/2014/chart" uri="{C3380CC4-5D6E-409C-BE32-E72D297353CC}">
              <c16:uniqueId val="{00000004-C67D-4225-8206-CB15BD110F7A}"/>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layout>
        <c:manualLayout>
          <c:xMode val="edge"/>
          <c:yMode val="edge"/>
          <c:x val="0.6084180522949143"/>
          <c:y val="0.17771552594387241"/>
          <c:w val="0.36959426080974705"/>
          <c:h val="0.64456894811225518"/>
        </c:manualLayout>
      </c:layout>
      <c:overlay val="0"/>
      <c:txPr>
        <a:bodyPr/>
        <a:lstStyle/>
        <a:p>
          <a:pPr>
            <a:defRPr sz="1000">
              <a:solidFill>
                <a:srgbClr val="2B2F36"/>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Growth</c:v>
                </c:pt>
              </c:strCache>
            </c:strRef>
          </c:tx>
          <c:spPr>
            <a:solidFill>
              <a:srgbClr val="1F4E96"/>
            </a:solidFill>
            <a:effectLst/>
          </c:spPr>
          <c:invertIfNegative val="0"/>
          <c:dPt>
            <c:idx val="0"/>
            <c:invertIfNegative val="0"/>
            <c:bubble3D val="0"/>
            <c:extLst>
              <c:ext xmlns:c16="http://schemas.microsoft.com/office/drawing/2014/chart" uri="{C3380CC4-5D6E-409C-BE32-E72D297353CC}">
                <c16:uniqueId val="{00000001-89C4-4928-A593-42E112454E8D}"/>
              </c:ext>
            </c:extLst>
          </c:dPt>
          <c:dPt>
            <c:idx val="1"/>
            <c:invertIfNegative val="0"/>
            <c:bubble3D val="0"/>
            <c:spPr>
              <a:solidFill>
                <a:srgbClr val="9DB8E8"/>
              </a:solidFill>
              <a:effectLst/>
            </c:spPr>
            <c:extLst>
              <c:ext xmlns:c16="http://schemas.microsoft.com/office/drawing/2014/chart" uri="{C3380CC4-5D6E-409C-BE32-E72D297353CC}">
                <c16:uniqueId val="{00000003-89C4-4928-A593-42E112454E8D}"/>
              </c:ext>
            </c:extLst>
          </c:dPt>
          <c:dPt>
            <c:idx val="2"/>
            <c:invertIfNegative val="0"/>
            <c:bubble3D val="0"/>
            <c:spPr>
              <a:solidFill>
                <a:srgbClr val="0B1F3A"/>
              </a:solidFill>
              <a:effectLst/>
            </c:spPr>
            <c:extLst>
              <c:ext xmlns:c16="http://schemas.microsoft.com/office/drawing/2014/chart" uri="{C3380CC4-5D6E-409C-BE32-E72D297353CC}">
                <c16:uniqueId val="{00000005-89C4-4928-A593-42E112454E8D}"/>
              </c:ext>
            </c:extLst>
          </c:dPt>
          <c:dLbls>
            <c:numFmt formatCode="0.0&quot;%&quot;" sourceLinked="0"/>
            <c:spPr>
              <a:noFill/>
              <a:ln>
                <a:noFill/>
              </a:ln>
              <a:effectLst/>
            </c:spPr>
            <c:txPr>
              <a:bodyPr/>
              <a:lstStyle/>
              <a:p>
                <a:pPr>
                  <a:defRPr sz="1000" b="0" i="0" u="none" strike="noStrike">
                    <a:solidFill>
                      <a:srgbClr val="2B2F3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Construction</c:v>
                </c:pt>
                <c:pt idx="1">
                  <c:v>World economy</c:v>
                </c:pt>
                <c:pt idx="2">
                  <c:v>Manufacturing</c:v>
                </c:pt>
              </c:strCache>
            </c:strRef>
          </c:cat>
          <c:val>
            <c:numRef>
              <c:f>Sheet1!$B$2:$B$4</c:f>
              <c:numCache>
                <c:formatCode>General</c:formatCode>
                <c:ptCount val="3"/>
                <c:pt idx="0">
                  <c:v>1</c:v>
                </c:pt>
                <c:pt idx="1">
                  <c:v>2.8</c:v>
                </c:pt>
                <c:pt idx="2">
                  <c:v>3.6</c:v>
                </c:pt>
              </c:numCache>
            </c:numRef>
          </c:val>
          <c:extLst>
            <c:ext xmlns:c16="http://schemas.microsoft.com/office/drawing/2014/chart" uri="{C3380CC4-5D6E-409C-BE32-E72D297353CC}">
              <c16:uniqueId val="{00000006-89C4-4928-A593-42E112454E8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A93A0"/>
            </a:solidFill>
            <a:prstDash val="solid"/>
            <a:round/>
          </a:ln>
        </c:spPr>
        <c:txPr>
          <a:bodyPr/>
          <a:lstStyle/>
          <a:p>
            <a:pPr>
              <a:defRPr sz="1000" b="0" i="0" u="none" strike="noStrike">
                <a:solidFill>
                  <a:srgbClr val="2B2F36"/>
                </a:solidFill>
                <a:latin typeface="Calibri"/>
              </a:defRPr>
            </a:pPr>
            <a:endParaRPr lang="en-US"/>
          </a:p>
        </c:txPr>
        <c:crossAx val="2094734552"/>
        <c:crosses val="autoZero"/>
        <c:auto val="1"/>
        <c:lblAlgn val="ctr"/>
        <c:lblOffset val="100"/>
        <c:noMultiLvlLbl val="1"/>
      </c:catAx>
      <c:valAx>
        <c:axId val="2094734552"/>
        <c:scaling>
          <c:orientation val="minMax"/>
          <c:max val="4.4000000000000004"/>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ndard"/>
        <c:varyColors val="0"/>
        <c:ser>
          <c:idx val="0"/>
          <c:order val="0"/>
          <c:tx>
            <c:strRef>
              <c:f>Sheet1!$B$1</c:f>
              <c:strCache>
                <c:ptCount val="1"/>
                <c:pt idx="0">
                  <c:v>Market</c:v>
                </c:pt>
              </c:strCache>
            </c:strRef>
          </c:tx>
          <c:spPr>
            <a:solidFill>
              <a:srgbClr val="9DB8E8"/>
            </a:solidFill>
            <a:effectLst/>
          </c:spPr>
          <c:dLbls>
            <c:numFmt formatCode="0.0" sourceLinked="0"/>
            <c:spPr>
              <a:noFill/>
              <a:ln>
                <a:noFill/>
              </a:ln>
              <a:effectLst/>
            </c:spPr>
            <c:txPr>
              <a:bodyPr/>
              <a:lstStyle/>
              <a:p>
                <a:pPr>
                  <a:defRPr sz="1000" b="0" i="0" u="none" strike="noStrike">
                    <a:solidFill>
                      <a:srgbClr val="2B2F3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2024</c:v>
                </c:pt>
                <c:pt idx="1">
                  <c:v>2025</c:v>
                </c:pt>
                <c:pt idx="2">
                  <c:v>2026</c:v>
                </c:pt>
                <c:pt idx="3">
                  <c:v>2027</c:v>
                </c:pt>
                <c:pt idx="4">
                  <c:v>2028</c:v>
                </c:pt>
                <c:pt idx="5">
                  <c:v>2029</c:v>
                </c:pt>
                <c:pt idx="6">
                  <c:v>2030</c:v>
                </c:pt>
              </c:strCache>
            </c:strRef>
          </c:cat>
          <c:val>
            <c:numRef>
              <c:f>Sheet1!$B$2:$B$8</c:f>
              <c:numCache>
                <c:formatCode>General</c:formatCode>
                <c:ptCount val="7"/>
                <c:pt idx="0">
                  <c:v>2.4</c:v>
                </c:pt>
                <c:pt idx="1">
                  <c:v>3.1</c:v>
                </c:pt>
                <c:pt idx="2">
                  <c:v>4.0999999999999996</c:v>
                </c:pt>
                <c:pt idx="3">
                  <c:v>5.4</c:v>
                </c:pt>
                <c:pt idx="4">
                  <c:v>7.1</c:v>
                </c:pt>
                <c:pt idx="5">
                  <c:v>9.3000000000000007</c:v>
                </c:pt>
                <c:pt idx="6">
                  <c:v>12.1</c:v>
                </c:pt>
              </c:numCache>
            </c:numRef>
          </c:val>
          <c:extLst>
            <c:ext xmlns:c16="http://schemas.microsoft.com/office/drawing/2014/chart" uri="{C3380CC4-5D6E-409C-BE32-E72D297353CC}">
              <c16:uniqueId val="{00000000-C28E-4CEB-8CB7-899F2686AEAD}"/>
            </c:ext>
          </c:extLst>
        </c:ser>
        <c:dLbls>
          <c:showLegendKey val="0"/>
          <c:showVal val="1"/>
          <c:showCatName val="0"/>
          <c:showSerName val="0"/>
          <c:showPercent val="0"/>
          <c:showBubbleSize val="0"/>
        </c:dLbls>
        <c:axId val="2094734554"/>
        <c:axId val="2094734552"/>
      </c:areaChart>
      <c:catAx>
        <c:axId val="2094734554"/>
        <c:scaling>
          <c:orientation val="minMax"/>
        </c:scaling>
        <c:delete val="0"/>
        <c:axPos val="b"/>
        <c:numFmt formatCode="General" sourceLinked="1"/>
        <c:majorTickMark val="out"/>
        <c:minorTickMark val="none"/>
        <c:tickLblPos val="low"/>
        <c:spPr>
          <a:ln w="12700" cap="flat">
            <a:solidFill>
              <a:srgbClr val="8A93A0"/>
            </a:solidFill>
            <a:prstDash val="solid"/>
            <a:round/>
          </a:ln>
        </c:spPr>
        <c:txPr>
          <a:bodyPr/>
          <a:lstStyle/>
          <a:p>
            <a:pPr>
              <a:defRPr sz="1000" b="0" i="0" u="none" strike="noStrike">
                <a:solidFill>
                  <a:srgbClr val="2B2F36"/>
                </a:solidFill>
                <a:latin typeface="Calibri"/>
              </a:defRPr>
            </a:pPr>
            <a:endParaRPr lang="en-US"/>
          </a:p>
        </c:txPr>
        <c:crossAx val="2094734552"/>
        <c:crosses val="autoZero"/>
        <c:auto val="1"/>
        <c:lblAlgn val="ctr"/>
        <c:lblOffset val="100"/>
        <c:noMultiLvlLbl val="1"/>
      </c:catAx>
      <c:valAx>
        <c:axId val="2094734552"/>
        <c:scaling>
          <c:orientation val="minMax"/>
          <c:max val="14"/>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Price</c:v>
                </c:pt>
              </c:strCache>
            </c:strRef>
          </c:tx>
          <c:spPr>
            <a:solidFill>
              <a:srgbClr val="9DB8E8"/>
            </a:solidFill>
            <a:effectLst/>
          </c:spPr>
          <c:invertIfNegative val="0"/>
          <c:dPt>
            <c:idx val="0"/>
            <c:invertIfNegative val="0"/>
            <c:bubble3D val="0"/>
            <c:extLst>
              <c:ext xmlns:c16="http://schemas.microsoft.com/office/drawing/2014/chart" uri="{C3380CC4-5D6E-409C-BE32-E72D297353CC}">
                <c16:uniqueId val="{00000001-1A93-4950-B814-854B4C4ECC3E}"/>
              </c:ext>
            </c:extLst>
          </c:dPt>
          <c:dPt>
            <c:idx val="1"/>
            <c:invertIfNegative val="0"/>
            <c:bubble3D val="0"/>
            <c:spPr>
              <a:solidFill>
                <a:srgbClr val="2F6FDB"/>
              </a:solidFill>
              <a:effectLst/>
            </c:spPr>
            <c:extLst>
              <c:ext xmlns:c16="http://schemas.microsoft.com/office/drawing/2014/chart" uri="{C3380CC4-5D6E-409C-BE32-E72D297353CC}">
                <c16:uniqueId val="{00000003-1A93-4950-B814-854B4C4ECC3E}"/>
              </c:ext>
            </c:extLst>
          </c:dPt>
          <c:dPt>
            <c:idx val="2"/>
            <c:invertIfNegative val="0"/>
            <c:bubble3D val="0"/>
            <c:spPr>
              <a:solidFill>
                <a:srgbClr val="0B1F3A"/>
              </a:solidFill>
              <a:effectLst/>
            </c:spPr>
            <c:extLst>
              <c:ext xmlns:c16="http://schemas.microsoft.com/office/drawing/2014/chart" uri="{C3380CC4-5D6E-409C-BE32-E72D297353CC}">
                <c16:uniqueId val="{00000005-1A93-4950-B814-854B4C4ECC3E}"/>
              </c:ext>
            </c:extLst>
          </c:dPt>
          <c:dLbls>
            <c:numFmt formatCode="\$#,##0" sourceLinked="0"/>
            <c:spPr>
              <a:noFill/>
              <a:ln>
                <a:noFill/>
              </a:ln>
              <a:effectLst/>
            </c:spPr>
            <c:txPr>
              <a:bodyPr/>
              <a:lstStyle/>
              <a:p>
                <a:pPr>
                  <a:defRPr sz="1000" b="0" i="0" u="none" strike="noStrike">
                    <a:solidFill>
                      <a:srgbClr val="2B2F3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Bluebeam Revu Core</c:v>
                </c:pt>
                <c:pt idx="1">
                  <c:v>Revit</c:v>
                </c:pt>
                <c:pt idx="2">
                  <c:v>AEC Collection</c:v>
                </c:pt>
              </c:strCache>
            </c:strRef>
          </c:cat>
          <c:val>
            <c:numRef>
              <c:f>Sheet1!$B$2:$B$4</c:f>
              <c:numCache>
                <c:formatCode>General</c:formatCode>
                <c:ptCount val="3"/>
                <c:pt idx="0">
                  <c:v>330</c:v>
                </c:pt>
                <c:pt idx="1">
                  <c:v>3005</c:v>
                </c:pt>
                <c:pt idx="2">
                  <c:v>3675</c:v>
                </c:pt>
              </c:numCache>
            </c:numRef>
          </c:val>
          <c:extLst>
            <c:ext xmlns:c16="http://schemas.microsoft.com/office/drawing/2014/chart" uri="{C3380CC4-5D6E-409C-BE32-E72D297353CC}">
              <c16:uniqueId val="{00000006-1A93-4950-B814-854B4C4ECC3E}"/>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A93A0"/>
            </a:solidFill>
            <a:prstDash val="solid"/>
            <a:round/>
          </a:ln>
        </c:spPr>
        <c:txPr>
          <a:bodyPr/>
          <a:lstStyle/>
          <a:p>
            <a:pPr>
              <a:defRPr sz="1000" b="0" i="0" u="none" strike="noStrike">
                <a:solidFill>
                  <a:srgbClr val="2B2F36"/>
                </a:solidFill>
                <a:latin typeface="Calibri"/>
              </a:defRPr>
            </a:pPr>
            <a:endParaRPr lang="en-US"/>
          </a:p>
        </c:txPr>
        <c:crossAx val="2094734552"/>
        <c:crosses val="autoZero"/>
        <c:auto val="1"/>
        <c:lblAlgn val="ctr"/>
        <c:lblOffset val="100"/>
        <c:noMultiLvlLbl val="1"/>
      </c:catAx>
      <c:valAx>
        <c:axId val="2094734552"/>
        <c:scaling>
          <c:orientation val="minMax"/>
          <c:max val="48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Market</c:v>
                </c:pt>
              </c:strCache>
            </c:strRef>
          </c:tx>
          <c:spPr>
            <a:solidFill>
              <a:srgbClr val="9DB8E8"/>
            </a:solidFill>
            <a:effectLst/>
          </c:spPr>
          <c:invertIfNegative val="0"/>
          <c:dPt>
            <c:idx val="0"/>
            <c:invertIfNegative val="0"/>
            <c:bubble3D val="0"/>
            <c:extLst>
              <c:ext xmlns:c16="http://schemas.microsoft.com/office/drawing/2014/chart" uri="{C3380CC4-5D6E-409C-BE32-E72D297353CC}">
                <c16:uniqueId val="{00000001-575C-4AD8-91F5-F935C7ABAE6B}"/>
              </c:ext>
            </c:extLst>
          </c:dPt>
          <c:dPt>
            <c:idx val="1"/>
            <c:invertIfNegative val="0"/>
            <c:bubble3D val="0"/>
            <c:extLst>
              <c:ext xmlns:c16="http://schemas.microsoft.com/office/drawing/2014/chart" uri="{C3380CC4-5D6E-409C-BE32-E72D297353CC}">
                <c16:uniqueId val="{00000003-575C-4AD8-91F5-F935C7ABAE6B}"/>
              </c:ext>
            </c:extLst>
          </c:dPt>
          <c:dPt>
            <c:idx val="2"/>
            <c:invertIfNegative val="0"/>
            <c:bubble3D val="0"/>
            <c:extLst>
              <c:ext xmlns:c16="http://schemas.microsoft.com/office/drawing/2014/chart" uri="{C3380CC4-5D6E-409C-BE32-E72D297353CC}">
                <c16:uniqueId val="{00000005-575C-4AD8-91F5-F935C7ABAE6B}"/>
              </c:ext>
            </c:extLst>
          </c:dPt>
          <c:dPt>
            <c:idx val="3"/>
            <c:invertIfNegative val="0"/>
            <c:bubble3D val="0"/>
            <c:spPr>
              <a:solidFill>
                <a:srgbClr val="2F6FDB"/>
              </a:solidFill>
              <a:effectLst/>
            </c:spPr>
            <c:extLst>
              <c:ext xmlns:c16="http://schemas.microsoft.com/office/drawing/2014/chart" uri="{C3380CC4-5D6E-409C-BE32-E72D297353CC}">
                <c16:uniqueId val="{00000007-575C-4AD8-91F5-F935C7ABAE6B}"/>
              </c:ext>
            </c:extLst>
          </c:dPt>
          <c:dLbls>
            <c:numFmt formatCode="\$0.0" sourceLinked="0"/>
            <c:spPr>
              <a:noFill/>
              <a:ln>
                <a:noFill/>
              </a:ln>
              <a:effectLst/>
            </c:spPr>
            <c:txPr>
              <a:bodyPr/>
              <a:lstStyle/>
              <a:p>
                <a:pPr>
                  <a:defRPr sz="1000" b="0" i="0" u="none" strike="noStrike">
                    <a:solidFill>
                      <a:srgbClr val="2B2F3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AEC software · 15.5%</c:v>
                </c:pt>
                <c:pt idx="1">
                  <c:v>Project mgmt · 11.1%</c:v>
                </c:pt>
                <c:pt idx="2">
                  <c:v>Constr. mgmt · 10.2%</c:v>
                </c:pt>
                <c:pt idx="3">
                  <c:v>AI in constr. · 24.8%</c:v>
                </c:pt>
              </c:strCache>
            </c:strRef>
          </c:cat>
          <c:val>
            <c:numRef>
              <c:f>Sheet1!$B$2:$B$5</c:f>
              <c:numCache>
                <c:formatCode>General</c:formatCode>
                <c:ptCount val="4"/>
                <c:pt idx="0">
                  <c:v>12</c:v>
                </c:pt>
                <c:pt idx="1">
                  <c:v>7.9</c:v>
                </c:pt>
                <c:pt idx="2">
                  <c:v>7.7</c:v>
                </c:pt>
                <c:pt idx="3">
                  <c:v>4.9000000000000004</c:v>
                </c:pt>
              </c:numCache>
            </c:numRef>
          </c:val>
          <c:extLst>
            <c:ext xmlns:c16="http://schemas.microsoft.com/office/drawing/2014/chart" uri="{C3380CC4-5D6E-409C-BE32-E72D297353CC}">
              <c16:uniqueId val="{00000008-575C-4AD8-91F5-F935C7ABAE6B}"/>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A93A0"/>
            </a:solidFill>
            <a:prstDash val="solid"/>
            <a:round/>
          </a:ln>
        </c:spPr>
        <c:txPr>
          <a:bodyPr/>
          <a:lstStyle/>
          <a:p>
            <a:pPr>
              <a:defRPr sz="1000" b="0" i="0" u="none" strike="noStrike">
                <a:solidFill>
                  <a:srgbClr val="2B2F36"/>
                </a:solidFill>
                <a:latin typeface="Calibri"/>
              </a:defRPr>
            </a:pPr>
            <a:endParaRPr lang="en-US"/>
          </a:p>
        </c:txPr>
        <c:crossAx val="2094734552"/>
        <c:crosses val="autoZero"/>
        <c:auto val="1"/>
        <c:lblAlgn val="ctr"/>
        <c:lblOffset val="100"/>
        <c:noMultiLvlLbl val="1"/>
      </c:catAx>
      <c:valAx>
        <c:axId val="2094734552"/>
        <c:scaling>
          <c:orientation val="minMax"/>
          <c:max val="1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8767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AERES
Open with the name and the idea: AERES, the Architectural Engineering Reasoning Engine.
One sentence: an intelligence layer that connects project information across the built environment and reasons across it.
Be upfront early: this is a concept at the research and validation stage; today we are presenting the idea, the architecture and the path to proving it.
Terms: Reasoning layer: software that sits above existing tools and works out how project information relates, rather than storing or drawing it.
Transition: Let us start with the problem it addresses.</a:t>
            </a:r>
          </a:p>
          <a:p>
            <a:r>
              <a:rPr lang="en-US" dirty="0"/>
              <a:t>Team and contact: K Utkarsh Sai Sidhardh and Aravindh Rajan A; email and phone are on this slide, so there is no separate contact slide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disconnected project records</a:t>
            </a:r>
          </a:p>
          <a:p>
            <a:r>
              <a:rPr lang="en-US" dirty="0"/>
              <a:t>What it is: a building is described across drawings, BIM models, specifications, codes, site data and cost plans. When one element changes (the example is column C-4), nobody can automatically see which structural, services, specification, code and cost records it touches, so teams trace it by hand.</a:t>
            </a:r>
          </a:p>
          <a:p>
            <a:r>
              <a:rPr lang="en-US" dirty="0"/>
              <a:t>Why it occurs, in four steps: (1) information is fragmented across tools and formats; (2) teams and firms work in silos, each owning one slice; (3) the links between records live in people's heads, not in the data; (4) so problems surface late, as RFIs, change orders and rework, when fixes cost the most. NIST traces the interoperability problem to the highly fragmented nature of the industry.</a:t>
            </a:r>
          </a:p>
          <a:p>
            <a:r>
              <a:rPr lang="en-US" dirty="0"/>
              <a:t>Core issues: no traceable links; version drift (Autodesk and FMI 2021, 3,900+ professionals: 30% said more than half their project data is bad); manual cross-checks (Navigant 2013, 1,300+ projects: about 796 RFIs per project, median response 9.7 days, about $1,080 each); re-keying and duplicate work from incompatible tools.</a:t>
            </a:r>
          </a:p>
          <a:p>
            <a:r>
              <a:rPr lang="en-US" dirty="0"/>
              <a:t>What it costs: direct rework averages about 5% of contract cost, with indirect costs adding roughly as much again (rework study summarised by ASCC, 2020; a China case study of six residential buildings found 4.95%). FMI and PlanGrid 2018 (about 600 leaders): $31.3B of US rework a year from poor communication and project data, 48% of all rework; 35% of working time (14+ hours a week) is non-productive, including 5.5 hours looking for project information. Navigant 2013: about $860K per project in RFI handling (796 x $1,080). NIST GCR 04-867 (2004, 2002 data): $15.8B a year from inadequate interoperability in US capital facilities. Autodesk and FMI 2021: bad data may have cost the global industry $1.85 trillion in 2020.</a:t>
            </a:r>
          </a:p>
          <a:p>
            <a:r>
              <a:rPr lang="en-US" dirty="0"/>
              <a:t>Who is affected: architects and designers, structural and MEP engineers, BIM coordinators, contractors and trades, owners and developers. NIST puts $10.6B of the $15.8B on owners and operators; architects and engineers $1.2B, general contractors $1.8B, specialty fabricators and suppliers $2.2B.</a:t>
            </a:r>
          </a:p>
          <a:p>
            <a:r>
              <a:rPr lang="en-US" dirty="0"/>
              <a:t>Caveat: these are industry-wide and partly older US figures, vendor-sponsored in places, not AERES results.</a:t>
            </a:r>
          </a:p>
          <a:p>
            <a:r>
              <a:rPr lang="en-US" dirty="0"/>
              <a:t>Transition: So how would AERES address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connect the project, then reason across it</a:t>
            </a:r>
          </a:p>
          <a:p>
            <a:r>
              <a:rPr lang="en-US" dirty="0"/>
              <a:t>How it works, mapped to the four root causes on the previous slide: Understand reads every source in its native format (fixes fragmented information). Connect builds one linked model of entities, links, revisions and evidence (fixes silos). Reason walks the links when something changes and tests affected requirements with deterministic rules, geometry checks and specialist solvers, not an LLM alone (fixes links held in heads). Decide hands the reviewer a finding with sources, affected elements and a next action; a qualified professional decides and changes trigger reanalysis (fixes late discovery).</a:t>
            </a:r>
          </a:p>
          <a:p>
            <a:r>
              <a:rPr lang="en-US" dirty="0"/>
              <a:t>How we benefit, with benchmarks: Stanford CIFE, 32 BIM projects: up to 10% of contract value saved through timely clash detection and up to 40% fewer unbudgeted changes. AERES aims to extend this from geometry clashes to cross-document reasoning across specs, codes and cost. FMI and PlanGrid 2018: 5.5 hours per person per week spent hunting for project information. Navigant 2013: about $860K per project in RFI handling; FMI and PlanGrid: 48% of rework tied to poor communication and data. Auditable evidence is an AERES design principle, not a measured result.</a:t>
            </a:r>
          </a:p>
          <a:p>
            <a:r>
              <a:rPr lang="en-US" dirty="0"/>
              <a:t>Caveat: benchmarks come from BIM and industry studies and show the size of the prize. AERES's own gains are hypotheses to prove in paid pilots, in line with the validation criteria later in the deck.</a:t>
            </a:r>
          </a:p>
          <a:p>
            <a:r>
              <a:rPr lang="en-US" dirty="0"/>
              <a:t>Transition: Here is the process flow and system design.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flow and system design</a:t>
            </a:r>
          </a:p>
          <a:p>
            <a:r>
              <a:rPr lang="en-US" dirty="0"/>
              <a:t>This is the proposed architecture, not an implemented system.</a:t>
            </a:r>
          </a:p>
          <a:p>
            <a:r>
              <a:rPr lang="en-US" dirty="0"/>
              <a:t>Process flow: three stages form one system. Understand: ingest and interpret drawings, models, specifications, reports and constraints. Connect: represent entities, spatial relationships, dependencies, requirements, revisions and evidence in structured form. Reason: evaluate relationships and constraints, flag potential issues, show consequences and alternatives. Decide: a qualified professional reviews and decides.</a:t>
            </a:r>
          </a:p>
          <a:p>
            <a:r>
              <a:rPr lang="en-US" dirty="0"/>
              <a:t>System design: read the eight steps left to right: ingestion, document and model understanding, entity and geometry extraction, structured project model, evidence and constraints, hybrid reasoning and validation, issue and decision objects, professional review.</a:t>
            </a:r>
          </a:p>
          <a:p>
            <a:r>
              <a:rPr lang="en-US" dirty="0"/>
              <a:t>Key design choice: AI handles interpretation. Geometry checks, rules, calculations and specialist solvers stay in deterministic tools, not an LLM alone. Evidence, provenance and revision history run through every step, and changes trigger reanalysis.</a:t>
            </a:r>
          </a:p>
          <a:p>
            <a:r>
              <a:rPr lang="en-US" dirty="0"/>
              <a:t>Minimal tech stack is illustrative: OpenCV, PyTorch and a multimodal LLM for understanding; PostgreSQL, Neo4j and FastAPI for the project model; NumPy, SciPy and Docker-isolated workers for deterministic compute; React, Three.js and TypeScript for the review interface. Final choices follow validation.</a:t>
            </a:r>
          </a:p>
          <a:p>
            <a:r>
              <a:rPr lang="en-US" dirty="0"/>
              <a:t>Terms: Deterministic: same input always gives the same output. Issue object: a structured finding with evidence, affected entities, status and next action. Provenance: where information came from, including its revision.</a:t>
            </a:r>
          </a:p>
          <a:p>
            <a:r>
              <a:rPr lang="en-US" dirty="0"/>
              <a:t>Transition: Let us make this concrete with one worked example.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and scalability: the real-world evidence</a:t>
            </a:r>
          </a:p>
          <a:p>
            <a:r>
              <a:rPr lang="en-US" dirty="0"/>
              <a:t>Top row, is it feasible: (1) Nomic AEC-Bench, 2026, vendor-run benchmark of 196 tasks; best agent scores 88.3 across sheets, 70.6 on one sheet, 62.0 across documents, so cross-document reasoning is the hardest scope. (2) Same benchmark: adding structured drawing parsing lifted scores by 32.2, 20.8 and 18.75 points on retrieval-heavy tasks. (3) NBS National BIM Report: UK BIM use rose from 13% in 2011 to 73% in 2020.</a:t>
            </a:r>
          </a:p>
          <a:p>
            <a:r>
              <a:rPr lang="en-US" dirty="0"/>
              <a:t>Bottom row, will it scale: (4) FMI and PlanGrid 2018: $31.3B US rework, split $17.0B communication and $14.3B project data. (5) McKinsey Global Institute 2017: productivity growth 1.0% construction vs 2.8% economy vs 3.6% manufacturing. (6) ResearchAndMarkets: AI in construction $2.4B in 2024 to $12.1B in 2030 at 31% CAGR; 2025 to 2029 values are interpolated by us; other publishers give very different figures.</a:t>
            </a:r>
          </a:p>
          <a:p>
            <a:r>
              <a:rPr lang="en-US" dirty="0"/>
              <a:t>Honest reading: the data shows a large, costly problem and ready structured data, but also that cross-document reasoning is still the hard part. That is why AERES starts with one bounded workflow.</a:t>
            </a:r>
          </a:p>
          <a:p>
            <a:r>
              <a:rPr lang="en-US" dirty="0"/>
              <a:t>Transition: So how would AERES be sold?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model: how AERES gets sold</a:t>
            </a:r>
          </a:p>
          <a:p>
            <a:r>
              <a:rPr lang="en-US" dirty="0"/>
              <a:t>Who pays: design firms, preconstruction teams, developers and owners, specialist consultants.</a:t>
            </a:r>
          </a:p>
          <a:p>
            <a:r>
              <a:rPr lang="en-US" dirty="0"/>
              <a:t>How we sell: land with a paid pilot on one live project, prove value with expert-verified results, expand to per-project plans and a firm subscription, then partner through marketplaces and consultancies.</a:t>
            </a:r>
          </a:p>
          <a:p>
            <a:r>
              <a:rPr lang="en-US" dirty="0"/>
              <a:t>Price anchors are third-party 2026 list prices and negotiable: Bluebeam Revu Core $330, Revit about $3,005, AEC Collection about $3,675 per user per year. Procore prices on annual construction volume with unlimited users. These show how buyers already pay; AERES pricing is a hypothesis to test in pilots.</a:t>
            </a:r>
          </a:p>
          <a:p>
            <a:r>
              <a:rPr lang="en-US" dirty="0"/>
              <a:t>Channel proof is a peer, not AERES: Nomic went live on Autodesk Marketplace in July 2026 and announced partnerships with Aurecon and Arcadis in September 2026. Procore reports 500+ marketplace integrations.</a:t>
            </a:r>
          </a:p>
          <a:p>
            <a:r>
              <a:rPr lang="en-US" dirty="0"/>
              <a:t>Gates: GO, PIVOT or KILL decisions come from pilot evidence. No revenue or funding claims are made.</a:t>
            </a:r>
          </a:p>
          <a:p>
            <a:r>
              <a:rPr lang="en-US" dirty="0"/>
              <a:t>Transition: Where AERES sits against existing products.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Competitive landscape and whitespace</a:t>
            </a:r>
          </a:p>
          <a:p>
            <a:r>
              <a:rPr lang="en-US" dirty="0"/>
              <a:t>Message: existing products solve single layers well; AERES targets the reasoning layer between them. This is a hypothesis that still needs validation.</a:t>
            </a:r>
          </a:p>
          <a:p>
            <a:r>
              <a:rPr lang="en-US" dirty="0"/>
              <a:t>Top left (AERES Competitive Landscape v1.0, design stage): Forma, Revit, Bentley iTwin, Solibri, cove.tool and Procore each cover parts of plan, site, code, structural, cost and AI. Ratings follow the document's matrix: filled is a meaningful part of the product, ring is partial or adjacent, dash is not a primary focus. The AERES row shows the intended reasoning layer across all six; it is not demonstrated capability.</a:t>
            </a:r>
          </a:p>
          <a:p>
            <a:r>
              <a:rPr lang="en-US" dirty="0"/>
              <a:t>Top right (Version 2 Market Opportunity, execution stage): Oracle Primavera and InEight are rated Very High threat, Bentley SYNCHRO and Buildots High, nPlan and ALICE Medium-High. Each leaves a gap upstream: messy, mixed-format field evidence that has to be linked to the schedule.</a:t>
            </a:r>
          </a:p>
          <a:p>
            <a:r>
              <a:rPr lang="en-US" dirty="0"/>
              <a:t>Bottom left: 2025 market sizes from the Version 2 document: AEC software $12.0B (15.5% CAGR), project management software $7.9B (11.1%), construction management software $7.7B (10.2%, other sources up to $11.7B), AI in construction $4.9B (24.8%). The document stresses these are directional envelopes, not additive and not a TAM.</a:t>
            </a:r>
          </a:p>
          <a:p>
            <a:r>
              <a:rPr lang="en-US" dirty="0"/>
              <a:t>Bottom middle: the whitespace is five linked functions: ingest mixed sources, link entities and events, reason across disciplines, expose evidence and confidence, learn from review. Bottom right: positioning. AERES is a reasoning layer on existing tools; it is not a BIM or project-management platform, a Primavera or Revit replacement, or a generic chatbot.</a:t>
            </a:r>
          </a:p>
          <a:p>
            <a:r>
              <a:rPr lang="en-US" dirty="0"/>
              <a:t>Caveat: the largest risk named in both documents is incumbents adding similar AI features, so speed, evidence quality and validated data matter.</a:t>
            </a:r>
          </a:p>
          <a:p>
            <a:r>
              <a:rPr lang="en-US" dirty="0"/>
              <a:t>Transition: What would it take to prove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and roadmap
Four stages gated by evidence, not by dates: validate the problem, build a bounded proof of concept, test with professionals, expand carefully.
Mention AERES V2 (execution intelligence from fragmented field reports to schedule reconciliation) as one candidate first workflow to test, not the whole pitch.
Be candid about the hard problems: cross-source entity resolution, contradictory documents, geometry and engineering validation, and plausible but wrong outputs.
Terms: Entity resolution: deciding that two references describe the same real element. False positive: a flagged issue that is not real.
Transition: The references behind these numbers, then where this is heading.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vision
The shift: from software that stores and displays project information to systems that understand relationships, reason across disciplines and support evidence-grounded decisions.
Next concrete milestone: validate the highest-value workflow, build a bounded prototype, test it with qualified professionals.
Close with thanks; there is no financial or funding request in this submission.
Transition: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references</a:t>
            </a:r>
          </a:p>
          <a:p>
            <a:r>
              <a:rPr lang="en-US" dirty="0"/>
              <a:t>Source register compiled 20 October 2026 from the AERES deck, supporting research documents and a targeted public-source screening. Sources describe their own contexts; they are not evidence of AERES performance, customer demand or savings.</a:t>
            </a:r>
          </a:p>
          <a:p>
            <a:r>
              <a:rPr lang="en-US" dirty="0"/>
              <a:t>A. Direct evidence for the presentation’s numeric claims</a:t>
            </a:r>
          </a:p>
          <a:p>
            <a:r>
              <a:rPr lang="en-US" dirty="0"/>
              <a:t>Nomic, “AEC-Bench: A Multimodal Benchmark for Agentic Systems in Architecture, Engineering, and Construction” (2026): https://www.nomic.ai/news/aec-bench-a-multimodal-benchmark-for-agentic-systems-in-architecture-engineering-and-construction</a:t>
            </a:r>
          </a:p>
          <a:p>
            <a:r>
              <a:rPr lang="en-US" dirty="0"/>
              <a:t>Nomic AEC-Bench paper / benchmark materials: https://github.com/nomic-ai/aec-bench</a:t>
            </a:r>
          </a:p>
          <a:p>
            <a:r>
              <a:rPr lang="en-US" dirty="0"/>
              <a:t>NBS, “A Digital Evolution: Majority Using BIM” (2020): https://www.thenbs.com/news-and-press/a-digital-evolution-majority-using-bim</a:t>
            </a:r>
          </a:p>
          <a:p>
            <a:r>
              <a:rPr lang="en-US" dirty="0"/>
              <a:t>NBS, 10th National BIM Report (2020): https://www.thenbs.com/downloads/national-bim-report-2020</a:t>
            </a:r>
          </a:p>
          <a:p>
            <a:r>
              <a:rPr lang="en-US" dirty="0"/>
              <a:t>NBS, Digital Construction Report 2021, “BIM adoption over time” chart: https://www.thenbs.com/digital-construction-report-2021/_download/nbs_digital_construction_report.pdf</a:t>
            </a:r>
          </a:p>
          <a:p>
            <a:r>
              <a:rPr lang="en-US" dirty="0"/>
              <a:t>FMI and PlanGrid, “Construction Disconnected” (2018): https://www.prnewswire.com/news-releases/new-research-from-plangrid-and-fmi-identifies-factors-costing-the-construction-industry-more-than-177-billion-annually-300689826.html</a:t>
            </a:r>
          </a:p>
          <a:p>
            <a:r>
              <a:rPr lang="en-US" dirty="0"/>
              <a:t>FMI / PlanGrid findings reproduced by For Construction Pros (2018): https://www.forconstructionpros.com/business/business-services/financing-insurance-leasing/press-release/21015974/plangrid-poor-communication-rework-bad-data-management-cost-construction-industry-177b-annually</a:t>
            </a:r>
          </a:p>
          <a:p>
            <a:r>
              <a:rPr lang="en-US" dirty="0"/>
              <a:t>McKinsey Global Institute, “Reinventing construction through a productivity revolution” (2017): https://www.mckinsey.com/capabilities/operations/our-insights/reinventing-construction-through-a-productivity-revolution</a:t>
            </a:r>
          </a:p>
          <a:p>
            <a:r>
              <a:rPr lang="en-US" dirty="0"/>
              <a:t>ResearchAndMarkets, “Artificial Intelligence (AI) in Construction – Global Strategic Business Report” (2025 release): https://www.globenewswire.com/news-release/2025/09/12/3149042/28124/en/artificial-intelligence-ai-in-construction-strategic-intelligence-report-2025-market-to-expand-by-9-7-billion-by-2030-labor-shortages-quality-control-and-green-construction-acceler.html</a:t>
            </a:r>
          </a:p>
          <a:p>
            <a:r>
              <a:rPr lang="en-US" dirty="0"/>
              <a:t>B. Competitor and product capability references</a:t>
            </a:r>
          </a:p>
          <a:p>
            <a:r>
              <a:rPr lang="en-US" dirty="0"/>
              <a:t>Autodesk, Autodesk Assistant / AI-native intelligence in Forma (June 2026): https://www.autodesk.com/blogs/construction/meet-autodesk-assistant-ai-native-intelligence-in-forma/</a:t>
            </a:r>
          </a:p>
          <a:p>
            <a:r>
              <a:rPr lang="en-US" dirty="0"/>
              <a:t>Autodesk, “About Autodesk Forma”: https://help.autodesk.com/view/DOCS/ENU/?guid=About_Autodesk_Construction_Cloud</a:t>
            </a:r>
          </a:p>
          <a:p>
            <a:r>
              <a:rPr lang="en-US" dirty="0"/>
              <a:t>Autodesk, AI features in Forma: https://www.autodesk.com/support/technical/article/caas/sfdcarticles/sfdcarticles/AI-features-in-Autodesk-Construction-Cloud.html</a:t>
            </a:r>
          </a:p>
          <a:p>
            <a:r>
              <a:rPr lang="en-US" dirty="0"/>
              <a:t>Autodesk, Forma Build overview: https://help.autodesk.com/cloudhelp/ENU/Build-GS/files/What_is_Build.html</a:t>
            </a:r>
          </a:p>
          <a:p>
            <a:r>
              <a:rPr lang="en-US" dirty="0"/>
              <a:t>Procore, AI for Construction: https://www.procore.com/en/ai</a:t>
            </a:r>
          </a:p>
          <a:p>
            <a:r>
              <a:rPr lang="en-US" dirty="0"/>
              <a:t>Procore, platform integrations overview: https://www.procore.com/platform</a:t>
            </a:r>
          </a:p>
          <a:p>
            <a:r>
              <a:rPr lang="en-US" dirty="0"/>
              <a:t>Nomic, “Nomic live on Autodesk Marketplace” (7 July 2026): https://www.nomic.ai/news/nomic-autodesk-aeco-partner-design-and-make-marketplace</a:t>
            </a:r>
          </a:p>
          <a:p>
            <a:r>
              <a:rPr lang="en-US" dirty="0"/>
              <a:t>Arcadis, “Arcadis accelerates AI-enabled delivery through investment in Nomic” (July 2026): https://www.arcadis.com/en/news/global/2026/arcadis-accelerates-ai-enabled-delivery-through-investment-in-nomic</a:t>
            </a:r>
          </a:p>
          <a:p>
            <a:r>
              <a:rPr lang="en-US" dirty="0"/>
              <a:t>Autodesk, “Arcadis and Autodesk partner to develop innovative AI solutions” (16 September 2025): https://adsknews.autodesk.com/en/stories/au25-arcadis/</a:t>
            </a:r>
          </a:p>
          <a:p>
            <a:r>
              <a:rPr lang="en-US" dirty="0"/>
              <a:t>Oracle, Primavera Cloud: https://www.oracle.com/construction-engineering/primavera-cloud-project-management/</a:t>
            </a:r>
          </a:p>
          <a:p>
            <a:r>
              <a:rPr lang="en-US" dirty="0"/>
              <a:t>InEight, Integrated Project Controls: https://ineight.com/integrated-project-controls-software/</a:t>
            </a:r>
          </a:p>
          <a:p>
            <a:r>
              <a:rPr lang="en-US" dirty="0"/>
              <a:t>InEight, Plan &amp; Progress: https://ineight.com/products/ineight-plan-and-progress/</a:t>
            </a:r>
          </a:p>
          <a:p>
            <a:r>
              <a:rPr lang="en-US" dirty="0"/>
              <a:t>Bentley, SYNCHRO Perform product data sheet: https://www.bentley.com/wp-content/uploads/PDS-SYNCHRO-Perform-LTR-EN-LR.pdf</a:t>
            </a:r>
          </a:p>
          <a:p>
            <a:r>
              <a:rPr lang="en-US" dirty="0"/>
              <a:t>Buildots, Construction Intelligence Platform: https://buildots.com/</a:t>
            </a:r>
          </a:p>
          <a:p>
            <a:r>
              <a:rPr lang="en-US" dirty="0"/>
              <a:t>Buildots, Progress Reporting: https://buildots.com/solutions/progress-reporting/</a:t>
            </a:r>
          </a:p>
          <a:p>
            <a:r>
              <a:rPr lang="en-US" dirty="0"/>
              <a:t>nPlan, AI for Project Controls and Delivery: https://www.nplan.io/</a:t>
            </a:r>
          </a:p>
          <a:p>
            <a:r>
              <a:rPr lang="en-US" dirty="0"/>
              <a:t>ALICE Technologies, Construction Project Scheduling Software: https://www.alicetechnologies.com/construction-project-scheduling-software</a:t>
            </a:r>
          </a:p>
          <a:p>
            <a:r>
              <a:rPr lang="en-US" dirty="0"/>
              <a:t>Bentley iTwin Platform: https://developer.bentley.com/itwinplatform/</a:t>
            </a:r>
          </a:p>
          <a:p>
            <a:r>
              <a:rPr lang="en-US" dirty="0"/>
              <a:t>Solibri, Intelligent Model Checking: https://www.solibri.com/intelligent-model-checking</a:t>
            </a:r>
          </a:p>
          <a:p>
            <a:r>
              <a:rPr lang="en-US" dirty="0"/>
              <a:t>Autodesk Forma product overview: https://www.autodesk.com/products/forma/overview</a:t>
            </a:r>
          </a:p>
          <a:p>
            <a:r>
              <a:rPr lang="en-US" dirty="0"/>
              <a:t>C. AI risk, human oversight and construction research</a:t>
            </a:r>
          </a:p>
          <a:p>
            <a:r>
              <a:rPr lang="en-US" dirty="0"/>
              <a:t>NIST, AI Risk Management Framework: Generative AI Profile (NIST AI 600-1): https://nvlpubs.nist.gov/nistpubs/ai/NIST.AI.600-1.pdf</a:t>
            </a:r>
          </a:p>
          <a:p>
            <a:r>
              <a:rPr lang="en-US" dirty="0"/>
              <a:t>NIST, AI Risk Management Framework (AI RMF) second draft: https://www.nist.gov/system/files/documents/2022/08/18/AI_RMF_2nd_draft.pdf</a:t>
            </a:r>
          </a:p>
          <a:p>
            <a:r>
              <a:rPr lang="en-US" dirty="0"/>
              <a:t>Zhan et al., Journal of Management in Engineering (2025), DOI: 10.1061/jmenea.meeng-7193: https://doi.org/10.1061/jmenea.meeng-7193</a:t>
            </a:r>
          </a:p>
          <a:p>
            <a:r>
              <a:rPr lang="en-US" dirty="0"/>
              <a:t>“Large language models in smart construction: systematic review”, Engineering, Construction and Architectural Management: https://www.sciencedirect.com/org/science/article/pii/S0969998826000056</a:t>
            </a:r>
          </a:p>
          <a:p>
            <a:r>
              <a:rPr lang="en-US" dirty="0"/>
              <a:t>Singh and Hsieh, Advanced Engineering Informatics (2026): https://www.sciencedirect.com/science/article/pii/S1474034625007189</a:t>
            </a:r>
          </a:p>
          <a:p>
            <a:r>
              <a:rPr lang="en-US" dirty="0"/>
              <a:t>Golmoradi et al., Automation in Construction (2026): https://www.sciencedirect.com/science/article/pii/S0926580526002530</a:t>
            </a:r>
          </a:p>
          <a:p>
            <a:r>
              <a:rPr lang="en-US" dirty="0"/>
              <a:t>Review of LLMs in AEC, Artificial Intelligence Review: https://doi.org/10.1007/s10462-025-11241-7</a:t>
            </a:r>
          </a:p>
          <a:p>
            <a:r>
              <a:rPr lang="en-US" dirty="0"/>
              <a:t>“Application of LLMs in AECO Industry”, Buildings (2025): https://www.mdpi.com/2075-5309/15/11/1944</a:t>
            </a:r>
          </a:p>
          <a:p>
            <a:r>
              <a:rPr lang="en-US" dirty="0"/>
              <a:t>Frontiers, “The socio-technical gap: an AI framework for project resilience in UK construction” (2025): https://www.frontiersin.org/journals/built-environment/articles/10.3389/fbuil.2025.1741095/full</a:t>
            </a:r>
          </a:p>
          <a:p>
            <a:r>
              <a:rPr lang="en-US" dirty="0"/>
              <a:t>“Quantifying Schedule Delay Risk in Construction Projects”, Advances in Civil Engineering (2023): https://onlinelibrary.wiley.com/doi/10.1155/2023/5525655</a:t>
            </a:r>
          </a:p>
          <a:p>
            <a:r>
              <a:rPr lang="en-US" dirty="0"/>
              <a:t>D. Market sizing and infrastructure context cited in AERES V2 research</a:t>
            </a:r>
          </a:p>
          <a:p>
            <a:r>
              <a:rPr lang="en-US" dirty="0"/>
              <a:t>Grand View Research, Construction Management Software Market: https://www.grandviewresearch.com/industry-analysis/construction-management-software-market-report</a:t>
            </a:r>
          </a:p>
          <a:p>
            <a:r>
              <a:rPr lang="en-US" dirty="0"/>
              <a:t>Fortune Business Insights, Construction Management Software Market: https://www.fortunebusinessinsights.com/construction-management-software-market-109380</a:t>
            </a:r>
          </a:p>
          <a:p>
            <a:r>
              <a:rPr lang="en-US" dirty="0"/>
              <a:t>Fortune Business Insights, AI in Construction Market: https://www.fortunebusinessinsights.com/ai-in-construction-market-109848</a:t>
            </a:r>
          </a:p>
          <a:p>
            <a:r>
              <a:rPr lang="en-US" dirty="0"/>
              <a:t>Grand View Research, Architecture, Engineering and Construction Software Market: https://www.grandviewresearch.com/industry-analysis/architecture-engineering-construction-software-market-report</a:t>
            </a:r>
          </a:p>
          <a:p>
            <a:r>
              <a:rPr lang="en-US" dirty="0"/>
              <a:t>Grand View Research, Project Management Software Market: https://www.grandviewresearch.com/industry-analysis/project-management-software-market-report</a:t>
            </a:r>
          </a:p>
          <a:p>
            <a:r>
              <a:rPr lang="en-US" dirty="0"/>
              <a:t>SEBI public disclosure referencing India’s National Infrastructure Pipeline: https://www.sebi.gov.in/sebi_data/attachdocs/feb-2025/1739768241883.pdf</a:t>
            </a:r>
          </a:p>
          <a:p>
            <a:r>
              <a:rPr lang="en-US" dirty="0"/>
              <a:t>E. Technical architecture and implementation references</a:t>
            </a:r>
          </a:p>
          <a:p>
            <a:r>
              <a:rPr lang="en-US" dirty="0"/>
              <a:t>Docling official repository: https://github.com/docling-project/docling</a:t>
            </a:r>
          </a:p>
          <a:p>
            <a:r>
              <a:rPr lang="en-US" dirty="0"/>
              <a:t>Docling OCR documentation: https://github.com/docling-project/docling/blob/main/docs/concepts/OCR.md</a:t>
            </a:r>
          </a:p>
          <a:p>
            <a:r>
              <a:rPr lang="en-US" dirty="0"/>
              <a:t>PaddleOCR official repository: https://github.com/PaddlePaddle/PaddleOCR</a:t>
            </a:r>
          </a:p>
          <a:p>
            <a:r>
              <a:rPr lang="en-US" dirty="0"/>
              <a:t>LangGraph official repository: https://github.com/langchain-ai/langgraph</a:t>
            </a:r>
          </a:p>
          <a:p>
            <a:r>
              <a:rPr lang="en-US" dirty="0"/>
              <a:t>FastAPI official repository: https://github.com/fastapi/fastapi</a:t>
            </a:r>
          </a:p>
          <a:p>
            <a:r>
              <a:rPr lang="en-US" dirty="0"/>
              <a:t>Pydantic official repository: https://github.com/pydantic/pydantic</a:t>
            </a:r>
          </a:p>
          <a:p>
            <a:r>
              <a:rPr lang="en-US" dirty="0"/>
              <a:t>pgvector official repository: https://github.com/pgvector/pgvector</a:t>
            </a:r>
          </a:p>
          <a:p>
            <a:r>
              <a:rPr lang="en-US" dirty="0"/>
              <a:t>Qdrant official repository: https://github.com/qdrant/qdrant</a:t>
            </a:r>
          </a:p>
          <a:p>
            <a:r>
              <a:rPr lang="en-US" dirty="0"/>
              <a:t>sentence-transformers official repository: https://github.com/UKPLab/sentence-transformers</a:t>
            </a:r>
          </a:p>
          <a:p>
            <a:r>
              <a:rPr lang="en-US" dirty="0"/>
              <a:t>Langfuse official repository: https://github.com/langfuse/langfuse</a:t>
            </a:r>
          </a:p>
          <a:p>
            <a:r>
              <a:rPr lang="en-US" dirty="0"/>
              <a:t>OpenTelemetry Python: https://github.com/open-telemetry/opentelemetry-python</a:t>
            </a:r>
          </a:p>
          <a:p>
            <a:r>
              <a:rPr lang="en-US" dirty="0"/>
              <a:t>MinIO official repository: https://github.com/minio/minio</a:t>
            </a:r>
          </a:p>
          <a:p>
            <a:r>
              <a:rPr lang="en-US" dirty="0"/>
              <a:t>Temporal official repository: https://github.com/temporalio/temporal</a:t>
            </a:r>
          </a:p>
          <a:p>
            <a:r>
              <a:rPr lang="en-US" dirty="0"/>
              <a:t>faster-whisper official repository: https://github.com/SYSTRAN/faster-whisper</a:t>
            </a:r>
          </a:p>
          <a:p>
            <a:r>
              <a:rPr lang="en-US" dirty="0"/>
              <a:t>xerparser repository: https://github.com/jjCode01/xerparser</a:t>
            </a:r>
          </a:p>
          <a:p>
            <a:r>
              <a:rPr lang="en-US" dirty="0"/>
              <a:t>F. Presentation structure and investor-pitch references</a:t>
            </a:r>
          </a:p>
          <a:p>
            <a:r>
              <a:rPr lang="en-US" dirty="0"/>
              <a:t>Y Combinator, “How to Pitch Your Company” (2016): https://www.ycombinator.com/blog/how-to-pitch-your-company/</a:t>
            </a:r>
          </a:p>
          <a:p>
            <a:r>
              <a:rPr lang="en-US" dirty="0"/>
              <a:t>Y Combinator, “A Guide to Demo Day Presentations”: https://www.ycombinator.com/blog/guide-to-demo-day-pitches/</a:t>
            </a:r>
          </a:p>
          <a:p>
            <a:r>
              <a:rPr lang="en-US" dirty="0"/>
              <a:t>Y Combinator, “YC’s Essential Startup Advice”: https://www.ycombinator.com/blog/ycs-essential-startup-advice/</a:t>
            </a:r>
          </a:p>
          <a:p>
            <a:r>
              <a:rPr lang="en-US" dirty="0"/>
              <a:t>Penn State, “Scientific Presentations: The Assertion-Evidence Approach”: http://writing.engr.psu.edu/assertion_evidence_EA.html</a:t>
            </a:r>
          </a:p>
          <a:p>
            <a:r>
              <a:rPr lang="en-US" dirty="0"/>
              <a:t>FHSU Digital Press, “Designing Assertion-Evidence Slide Decks”: https://fhsu.pressbooks.pub/strategicbcomm/chapter/5-12-message-strategy-evidence/</a:t>
            </a:r>
          </a:p>
          <a:p>
            <a:r>
              <a:rPr lang="en-US" dirty="0"/>
              <a:t>Alley et al., “Assertion-Evidence Slides Appear to Lead to Better Comprehension and Recall of More Complex Concepts”: https://peer.asee.org/assertion-evidence-slides-appear-to-lead-to-better-comprehension-and-recall-of-more-complex-concepts.pdf</a:t>
            </a:r>
          </a:p>
          <a:p>
            <a:r>
              <a:rPr lang="en-US" dirty="0"/>
              <a:t>“How the Design of Presentation Slides Affects Audience Comprehension: A Case for the Assertion-Evidence Approach”: https://www.ijee.ie/articles/Vol29-6/23_ijee2791ns.pdf</a:t>
            </a:r>
          </a:p>
          <a:p>
            <a:r>
              <a:rPr lang="en-US" dirty="0"/>
              <a:t>“Start with Why, but Only if You Have To: The Strategic Framing of Novel Ideas Across Different Audiences”: https://openaccess.city.ac.uk/id/eprint/26920/3/SMJ_Main%20Document_FINAL.pdf</a:t>
            </a:r>
          </a:p>
          <a:p>
            <a:r>
              <a:rPr lang="en-US" dirty="0"/>
              <a:t>Also used on slides 2, 3 and 6 but not in the register: NIST GCR 04-867 (2004) on interoperability cost; Navigant Construction Forum, Impact and Control of RFIs (2013); Autodesk and FMI, Harnessing the Data Advantage in Construction (2021); Stanford CIFE BIM study of 32 projects; ASCC rework summary (2020); Nomic announcement of strategic funding and partnerships with Aurecon and Arcadis (Sep 2026). Add these to the register before external circulation.</a:t>
            </a:r>
          </a:p>
          <a:p>
            <a:r>
              <a:rPr lang="en-US" dirty="0"/>
              <a:t>Transition: Finally, where this is heading.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9F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60120"/>
          </a:xfrm>
          <a:prstGeom prst="rect">
            <a:avLst/>
          </a:prstGeom>
          <a:noFill/>
          <a:ln/>
        </p:spPr>
        <p:txBody>
          <a:bodyPr wrap="square" rtlCol="0"/>
          <a:lstStyle>
            <a:lvl1pPr marL="0" indent="0" algn="l">
              <a:buNone/>
              <a:defRPr lang="en-US" sz="3000" b="1" dirty="0">
                <a:solidFill>
                  <a:srgbClr val="0B1F3A"/>
                </a:solidFill>
                <a:latin typeface="Calibri" pitchFamily="34" charset="0"/>
                <a:ea typeface="Calibri" pitchFamily="34" charset="-122"/>
                <a:cs typeface="Calibri" pitchFamily="34" charset="-120"/>
              </a:defRPr>
            </a:lvl1pPr>
          </a:lstStyle>
          <a:p>
            <a:pPr marL="0" indent="0" algn="l">
              <a:buNone/>
            </a:pPr>
            <a:endParaRPr lang="en-US" sz="30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marL="0" indent="0">
              <a:buNone/>
            </a:pP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48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482"/>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mailto:utkarshsaisidhardh@gmail.com" TargetMode="External"/><Relationship Id="rId4" Type="http://schemas.openxmlformats.org/officeDocument/2006/relationships/hyperlink" Target="mailto:aravindhrajan132@gmail.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png"/><Relationship Id="rId21" Type="http://schemas.openxmlformats.org/officeDocument/2006/relationships/image" Target="../media/image19.pn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chart" Target="../charts/chart5.xml"/><Relationship Id="rId8"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chart" Target="../charts/chart7.xml"/><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hart" Target="../charts/chart8.xml"/><Relationship Id="rId4" Type="http://schemas.openxmlformats.org/officeDocument/2006/relationships/image" Target="../media/image30.png"/><Relationship Id="rId5" Type="http://schemas.openxmlformats.org/officeDocument/2006/relationships/image" Target="../media/image3.png"/><Relationship Id="rId6" Type="http://schemas.openxmlformats.org/officeDocument/2006/relationships/image" Target="../media/image31.png"/><Relationship Id="rId7" Type="http://schemas.openxmlformats.org/officeDocument/2006/relationships/image" Target="../media/image5.png"/><Relationship Id="rId8" Type="http://schemas.openxmlformats.org/officeDocument/2006/relationships/image" Target="../media/image10.png"/><Relationship Id="rId9" Type="http://schemas.openxmlformats.org/officeDocument/2006/relationships/image" Target="../media/image32.png"/><Relationship Id="rId10"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11" Type="http://schemas.openxmlformats.org/officeDocument/2006/relationships/image" Target="../media/ref_icon1.png"/><Relationship Id="rId12" Type="http://schemas.openxmlformats.org/officeDocument/2006/relationships/image" Target="../media/ref_icon2.png"/><Relationship Id="rId13" Type="http://schemas.openxmlformats.org/officeDocument/2006/relationships/image" Target="../media/ref_icon3.png"/><Relationship Id="rId14" Type="http://schemas.openxmlformats.org/officeDocument/2006/relationships/image" Target="../media/ref_icon4.png"/><Relationship Id="rId15" Type="http://schemas.openxmlformats.org/officeDocument/2006/relationships/image" Target="../media/ref_icon5.png"/><Relationship Id="rId16" Type="http://schemas.openxmlformats.org/officeDocument/2006/relationships/image" Target="../media/ref_icon6.png"/><Relationship Id="rId17" Type="http://schemas.openxmlformats.org/officeDocument/2006/relationships/image" Target="../media/ref_icon7.png"/><Relationship Id="rId18" Type="http://schemas.openxmlformats.org/officeDocument/2006/relationships/image" Target="../media/ref_icon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685800"/>
            <a:ext cx="5852160" cy="1463040"/>
          </a:xfrm>
          <a:prstGeom prst="rect">
            <a:avLst/>
          </a:prstGeom>
          <a:noFill/>
          <a:ln/>
        </p:spPr>
        <p:txBody>
          <a:bodyPr wrap="square" lIns="0" tIns="0" rIns="0" bIns="0" rtlCol="0" anchor="t"/>
          <a:lstStyle/>
          <a:p>
            <a:pPr marL="0" indent="0">
              <a:buNone/>
            </a:pPr>
            <a:r>
              <a:rPr lang="en-US" sz="9600" b="1" kern="0" spc="800" dirty="0">
                <a:solidFill>
                  <a:srgbClr val="FFFFFF"/>
                </a:solidFill>
                <a:latin typeface="Calibri" pitchFamily="34" charset="0"/>
                <a:ea typeface="Calibri" pitchFamily="34" charset="-122"/>
                <a:cs typeface="Calibri" pitchFamily="34" charset="-120"/>
              </a:rPr>
              <a:t>AERES</a:t>
            </a:r>
            <a:endParaRPr lang="en-US" sz="9600" dirty="0"/>
          </a:p>
        </p:txBody>
      </p:sp>
      <p:sp>
        <p:nvSpPr>
          <p:cNvPr id="3" name="Text 1"/>
          <p:cNvSpPr txBox="1"/>
          <p:nvPr/>
        </p:nvSpPr>
        <p:spPr>
          <a:xfrm>
            <a:off x="731520" y="2194560"/>
            <a:ext cx="5852160" cy="457200"/>
          </a:xfrm>
          <a:prstGeom prst="rect">
            <a:avLst/>
          </a:prstGeom>
          <a:noFill/>
          <a:ln/>
        </p:spPr>
        <p:txBody>
          <a:bodyPr wrap="square" lIns="0" tIns="0" rIns="0" bIns="0" rtlCol="0" anchor="t"/>
          <a:lstStyle/>
          <a:p>
            <a:pPr marL="0" indent="0">
              <a:buNone/>
            </a:pPr>
            <a:r>
              <a:rPr lang="en-US" sz="2200" dirty="0">
                <a:solidFill>
                  <a:srgbClr val="9DB8E8"/>
                </a:solidFill>
                <a:latin typeface="Calibri" pitchFamily="34" charset="0"/>
                <a:ea typeface="Calibri" pitchFamily="34" charset="-122"/>
                <a:cs typeface="Calibri" pitchFamily="34" charset="-120"/>
              </a:rPr>
              <a:t>Architectural Engineering Reasoning Engine</a:t>
            </a:r>
            <a:endParaRPr lang="en-US" sz="2200" dirty="0"/>
          </a:p>
        </p:txBody>
      </p:sp>
      <p:sp>
        <p:nvSpPr>
          <p:cNvPr id="4" name="Text 2"/>
          <p:cNvSpPr txBox="1"/>
          <p:nvPr/>
        </p:nvSpPr>
        <p:spPr>
          <a:xfrm>
            <a:off x="731520" y="2834640"/>
            <a:ext cx="5852160" cy="82296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An intelligence layer that connects the built environment and reasons across it.</a:t>
            </a:r>
            <a:endParaRPr lang="en-US" sz="2400" dirty="0"/>
          </a:p>
        </p:txBody>
      </p:sp>
      <p:sp>
        <p:nvSpPr>
          <p:cNvPr id="6" name="Shape 4"/>
          <p:cNvSpPr/>
          <p:nvPr/>
        </p:nvSpPr>
        <p:spPr>
          <a:xfrm>
            <a:off x="6858000" y="1005840"/>
            <a:ext cx="4572000" cy="4754880"/>
          </a:xfrm>
          <a:prstGeom prst="rect">
            <a:avLst/>
          </a:prstGeom>
          <a:solidFill>
            <a:srgbClr val="3A5A8C">
              <a:alpha val="0"/>
            </a:srgbClr>
          </a:solidFill>
          <a:ln w="17780">
            <a:solidFill>
              <a:srgbClr val="3A5A8C"/>
            </a:solidFill>
            <a:prstDash val="solid"/>
          </a:ln>
        </p:spPr>
        <p:txBody>
          <a:bodyPr/>
          <a:lstStyle/>
          <a:p>
            <a:endParaRPr lang="en-IN" dirty="0"/>
          </a:p>
        </p:txBody>
      </p:sp>
      <p:sp>
        <p:nvSpPr>
          <p:cNvPr id="7" name="Shape 5"/>
          <p:cNvSpPr/>
          <p:nvPr/>
        </p:nvSpPr>
        <p:spPr>
          <a:xfrm>
            <a:off x="6858000" y="2194560"/>
            <a:ext cx="4572000" cy="0"/>
          </a:xfrm>
          <a:prstGeom prst="line">
            <a:avLst/>
          </a:prstGeom>
          <a:noFill/>
          <a:ln w="12700">
            <a:solidFill>
              <a:srgbClr val="3A5A8C"/>
            </a:solidFill>
            <a:prstDash val="solid"/>
          </a:ln>
        </p:spPr>
      </p:sp>
      <p:sp>
        <p:nvSpPr>
          <p:cNvPr id="8" name="Shape 6"/>
          <p:cNvSpPr/>
          <p:nvPr/>
        </p:nvSpPr>
        <p:spPr>
          <a:xfrm>
            <a:off x="6858000" y="3383280"/>
            <a:ext cx="4572000" cy="0"/>
          </a:xfrm>
          <a:prstGeom prst="line">
            <a:avLst/>
          </a:prstGeom>
          <a:noFill/>
          <a:ln w="12700">
            <a:solidFill>
              <a:srgbClr val="3A5A8C"/>
            </a:solidFill>
            <a:prstDash val="solid"/>
          </a:ln>
        </p:spPr>
      </p:sp>
      <p:sp>
        <p:nvSpPr>
          <p:cNvPr id="9" name="Shape 7"/>
          <p:cNvSpPr/>
          <p:nvPr/>
        </p:nvSpPr>
        <p:spPr>
          <a:xfrm>
            <a:off x="6858000" y="4572000"/>
            <a:ext cx="4572000" cy="0"/>
          </a:xfrm>
          <a:prstGeom prst="line">
            <a:avLst/>
          </a:prstGeom>
          <a:noFill/>
          <a:ln w="12700">
            <a:solidFill>
              <a:srgbClr val="3A5A8C"/>
            </a:solidFill>
            <a:prstDash val="solid"/>
          </a:ln>
        </p:spPr>
      </p:sp>
      <p:sp>
        <p:nvSpPr>
          <p:cNvPr id="10" name="Shape 8"/>
          <p:cNvSpPr/>
          <p:nvPr/>
        </p:nvSpPr>
        <p:spPr>
          <a:xfrm>
            <a:off x="7772400" y="1005840"/>
            <a:ext cx="0" cy="4754880"/>
          </a:xfrm>
          <a:prstGeom prst="line">
            <a:avLst/>
          </a:prstGeom>
          <a:noFill/>
          <a:ln w="12700">
            <a:solidFill>
              <a:srgbClr val="3A5A8C"/>
            </a:solidFill>
            <a:prstDash val="solid"/>
          </a:ln>
        </p:spPr>
      </p:sp>
      <p:sp>
        <p:nvSpPr>
          <p:cNvPr id="11" name="Shape 9"/>
          <p:cNvSpPr/>
          <p:nvPr/>
        </p:nvSpPr>
        <p:spPr>
          <a:xfrm>
            <a:off x="8686800" y="1005840"/>
            <a:ext cx="0" cy="4754880"/>
          </a:xfrm>
          <a:prstGeom prst="line">
            <a:avLst/>
          </a:prstGeom>
          <a:noFill/>
          <a:ln w="12700">
            <a:solidFill>
              <a:srgbClr val="3A5A8C"/>
            </a:solidFill>
            <a:prstDash val="solid"/>
          </a:ln>
        </p:spPr>
      </p:sp>
      <p:sp>
        <p:nvSpPr>
          <p:cNvPr id="12" name="Shape 10"/>
          <p:cNvSpPr/>
          <p:nvPr/>
        </p:nvSpPr>
        <p:spPr>
          <a:xfrm>
            <a:off x="9601200" y="1005840"/>
            <a:ext cx="0" cy="4754880"/>
          </a:xfrm>
          <a:prstGeom prst="line">
            <a:avLst/>
          </a:prstGeom>
          <a:noFill/>
          <a:ln w="12700">
            <a:solidFill>
              <a:srgbClr val="3A5A8C"/>
            </a:solidFill>
            <a:prstDash val="solid"/>
          </a:ln>
        </p:spPr>
      </p:sp>
      <p:sp>
        <p:nvSpPr>
          <p:cNvPr id="13" name="Shape 11"/>
          <p:cNvSpPr/>
          <p:nvPr/>
        </p:nvSpPr>
        <p:spPr>
          <a:xfrm>
            <a:off x="10515600" y="1005840"/>
            <a:ext cx="0" cy="4754880"/>
          </a:xfrm>
          <a:prstGeom prst="line">
            <a:avLst/>
          </a:prstGeom>
          <a:noFill/>
          <a:ln w="12700">
            <a:solidFill>
              <a:srgbClr val="3A5A8C"/>
            </a:solidFill>
            <a:prstDash val="solid"/>
          </a:ln>
        </p:spPr>
      </p:sp>
      <p:sp>
        <p:nvSpPr>
          <p:cNvPr id="14" name="Shape 12"/>
          <p:cNvSpPr/>
          <p:nvPr/>
        </p:nvSpPr>
        <p:spPr>
          <a:xfrm>
            <a:off x="6583680" y="5760720"/>
            <a:ext cx="5120640" cy="0"/>
          </a:xfrm>
          <a:prstGeom prst="line">
            <a:avLst/>
          </a:prstGeom>
          <a:noFill/>
          <a:ln w="25400">
            <a:solidFill>
              <a:srgbClr val="3A5A8C"/>
            </a:solidFill>
            <a:prstDash val="solid"/>
          </a:ln>
        </p:spPr>
      </p:sp>
      <p:sp>
        <p:nvSpPr>
          <p:cNvPr id="15" name="Shape 13"/>
          <p:cNvSpPr/>
          <p:nvPr/>
        </p:nvSpPr>
        <p:spPr>
          <a:xfrm>
            <a:off x="7772400" y="2194560"/>
            <a:ext cx="1828800" cy="0"/>
          </a:xfrm>
          <a:prstGeom prst="line">
            <a:avLst/>
          </a:prstGeom>
          <a:noFill/>
          <a:ln w="19050">
            <a:solidFill>
              <a:srgbClr val="5A9BFF"/>
            </a:solidFill>
            <a:prstDash val="solid"/>
          </a:ln>
        </p:spPr>
      </p:sp>
      <p:sp>
        <p:nvSpPr>
          <p:cNvPr id="16" name="Shape 14"/>
          <p:cNvSpPr/>
          <p:nvPr/>
        </p:nvSpPr>
        <p:spPr>
          <a:xfrm>
            <a:off x="7772400" y="2194560"/>
            <a:ext cx="914400" cy="1188720"/>
          </a:xfrm>
          <a:prstGeom prst="line">
            <a:avLst/>
          </a:prstGeom>
          <a:noFill/>
          <a:ln w="19050">
            <a:solidFill>
              <a:srgbClr val="5A9BFF"/>
            </a:solidFill>
            <a:prstDash val="solid"/>
          </a:ln>
        </p:spPr>
      </p:sp>
      <p:sp>
        <p:nvSpPr>
          <p:cNvPr id="17" name="Shape 15"/>
          <p:cNvSpPr/>
          <p:nvPr/>
        </p:nvSpPr>
        <p:spPr>
          <a:xfrm flipH="1">
            <a:off x="8686800" y="2194560"/>
            <a:ext cx="914400" cy="1188720"/>
          </a:xfrm>
          <a:prstGeom prst="line">
            <a:avLst/>
          </a:prstGeom>
          <a:noFill/>
          <a:ln w="19050">
            <a:solidFill>
              <a:srgbClr val="5A9BFF"/>
            </a:solidFill>
            <a:prstDash val="solid"/>
          </a:ln>
        </p:spPr>
      </p:sp>
      <p:sp>
        <p:nvSpPr>
          <p:cNvPr id="18" name="Shape 16"/>
          <p:cNvSpPr/>
          <p:nvPr/>
        </p:nvSpPr>
        <p:spPr>
          <a:xfrm>
            <a:off x="9601200" y="2194560"/>
            <a:ext cx="914400" cy="1188720"/>
          </a:xfrm>
          <a:prstGeom prst="line">
            <a:avLst/>
          </a:prstGeom>
          <a:noFill/>
          <a:ln w="19050">
            <a:solidFill>
              <a:srgbClr val="5A9BFF"/>
            </a:solidFill>
            <a:prstDash val="solid"/>
          </a:ln>
        </p:spPr>
      </p:sp>
      <p:sp>
        <p:nvSpPr>
          <p:cNvPr id="19" name="Shape 17"/>
          <p:cNvSpPr/>
          <p:nvPr/>
        </p:nvSpPr>
        <p:spPr>
          <a:xfrm flipH="1">
            <a:off x="7772400" y="3383280"/>
            <a:ext cx="914400" cy="1188720"/>
          </a:xfrm>
          <a:prstGeom prst="line">
            <a:avLst/>
          </a:prstGeom>
          <a:noFill/>
          <a:ln w="19050">
            <a:solidFill>
              <a:srgbClr val="5A9BFF"/>
            </a:solidFill>
            <a:prstDash val="solid"/>
          </a:ln>
        </p:spPr>
      </p:sp>
      <p:sp>
        <p:nvSpPr>
          <p:cNvPr id="20" name="Shape 18"/>
          <p:cNvSpPr/>
          <p:nvPr/>
        </p:nvSpPr>
        <p:spPr>
          <a:xfrm>
            <a:off x="8686800" y="3383280"/>
            <a:ext cx="914400" cy="1188720"/>
          </a:xfrm>
          <a:prstGeom prst="line">
            <a:avLst/>
          </a:prstGeom>
          <a:noFill/>
          <a:ln w="19050">
            <a:solidFill>
              <a:srgbClr val="5A9BFF"/>
            </a:solidFill>
            <a:prstDash val="solid"/>
          </a:ln>
        </p:spPr>
      </p:sp>
      <p:sp>
        <p:nvSpPr>
          <p:cNvPr id="21" name="Shape 19"/>
          <p:cNvSpPr/>
          <p:nvPr/>
        </p:nvSpPr>
        <p:spPr>
          <a:xfrm flipH="1">
            <a:off x="9601200" y="3383280"/>
            <a:ext cx="914400" cy="1188720"/>
          </a:xfrm>
          <a:prstGeom prst="line">
            <a:avLst/>
          </a:prstGeom>
          <a:noFill/>
          <a:ln w="19050">
            <a:solidFill>
              <a:srgbClr val="5A9BFF"/>
            </a:solidFill>
            <a:prstDash val="solid"/>
          </a:ln>
        </p:spPr>
      </p:sp>
      <p:sp>
        <p:nvSpPr>
          <p:cNvPr id="22" name="Shape 20"/>
          <p:cNvSpPr/>
          <p:nvPr/>
        </p:nvSpPr>
        <p:spPr>
          <a:xfrm>
            <a:off x="7772400" y="4572000"/>
            <a:ext cx="1828800" cy="0"/>
          </a:xfrm>
          <a:prstGeom prst="line">
            <a:avLst/>
          </a:prstGeom>
          <a:noFill/>
          <a:ln w="19050">
            <a:solidFill>
              <a:srgbClr val="5A9BFF"/>
            </a:solidFill>
            <a:prstDash val="solid"/>
          </a:ln>
        </p:spPr>
      </p:sp>
      <p:sp>
        <p:nvSpPr>
          <p:cNvPr id="23" name="Shape 21"/>
          <p:cNvSpPr/>
          <p:nvPr/>
        </p:nvSpPr>
        <p:spPr>
          <a:xfrm flipH="1">
            <a:off x="7772400" y="1005840"/>
            <a:ext cx="914400" cy="1188720"/>
          </a:xfrm>
          <a:prstGeom prst="line">
            <a:avLst/>
          </a:prstGeom>
          <a:noFill/>
          <a:ln w="19050">
            <a:solidFill>
              <a:srgbClr val="5A9BFF"/>
            </a:solidFill>
            <a:prstDash val="solid"/>
          </a:ln>
        </p:spPr>
      </p:sp>
      <p:sp>
        <p:nvSpPr>
          <p:cNvPr id="24" name="Shape 22"/>
          <p:cNvSpPr/>
          <p:nvPr/>
        </p:nvSpPr>
        <p:spPr>
          <a:xfrm>
            <a:off x="8686800" y="1005840"/>
            <a:ext cx="914400" cy="1188720"/>
          </a:xfrm>
          <a:prstGeom prst="line">
            <a:avLst/>
          </a:prstGeom>
          <a:noFill/>
          <a:ln w="19050">
            <a:solidFill>
              <a:srgbClr val="5A9BFF"/>
            </a:solidFill>
            <a:prstDash val="solid"/>
          </a:ln>
        </p:spPr>
      </p:sp>
      <p:sp>
        <p:nvSpPr>
          <p:cNvPr id="25" name="Shape 23"/>
          <p:cNvSpPr/>
          <p:nvPr/>
        </p:nvSpPr>
        <p:spPr>
          <a:xfrm flipH="1" flipV="1">
            <a:off x="9601200" y="4572000"/>
            <a:ext cx="914400" cy="1188720"/>
          </a:xfrm>
          <a:prstGeom prst="line">
            <a:avLst/>
          </a:prstGeom>
          <a:noFill/>
          <a:ln w="19050">
            <a:solidFill>
              <a:srgbClr val="5A9BFF"/>
            </a:solidFill>
            <a:prstDash val="solid"/>
          </a:ln>
        </p:spPr>
      </p:sp>
      <p:sp>
        <p:nvSpPr>
          <p:cNvPr id="26" name="Shape 24"/>
          <p:cNvSpPr/>
          <p:nvPr/>
        </p:nvSpPr>
        <p:spPr>
          <a:xfrm>
            <a:off x="7644384" y="2066544"/>
            <a:ext cx="256032" cy="256032"/>
          </a:xfrm>
          <a:prstGeom prst="ellipse">
            <a:avLst/>
          </a:prstGeom>
          <a:solidFill>
            <a:srgbClr val="0B1F3A"/>
          </a:solidFill>
          <a:ln w="12700">
            <a:solidFill>
              <a:srgbClr val="5A9BFF"/>
            </a:solidFill>
            <a:prstDash val="solid"/>
          </a:ln>
        </p:spPr>
      </p:sp>
      <p:sp>
        <p:nvSpPr>
          <p:cNvPr id="27" name="Shape 25"/>
          <p:cNvSpPr/>
          <p:nvPr/>
        </p:nvSpPr>
        <p:spPr>
          <a:xfrm>
            <a:off x="7717536" y="2139696"/>
            <a:ext cx="109728" cy="109728"/>
          </a:xfrm>
          <a:prstGeom prst="ellipse">
            <a:avLst/>
          </a:prstGeom>
          <a:solidFill>
            <a:srgbClr val="5A9BFF"/>
          </a:solidFill>
          <a:ln w="12700">
            <a:solidFill>
              <a:srgbClr val="5A9BFF"/>
            </a:solidFill>
            <a:prstDash val="solid"/>
          </a:ln>
        </p:spPr>
      </p:sp>
      <p:sp>
        <p:nvSpPr>
          <p:cNvPr id="28" name="Shape 26"/>
          <p:cNvSpPr/>
          <p:nvPr/>
        </p:nvSpPr>
        <p:spPr>
          <a:xfrm>
            <a:off x="9473184" y="2066544"/>
            <a:ext cx="256032" cy="256032"/>
          </a:xfrm>
          <a:prstGeom prst="ellipse">
            <a:avLst/>
          </a:prstGeom>
          <a:solidFill>
            <a:srgbClr val="0B1F3A"/>
          </a:solidFill>
          <a:ln w="12700">
            <a:solidFill>
              <a:srgbClr val="5A9BFF"/>
            </a:solidFill>
            <a:prstDash val="solid"/>
          </a:ln>
        </p:spPr>
      </p:sp>
      <p:sp>
        <p:nvSpPr>
          <p:cNvPr id="29" name="Shape 27"/>
          <p:cNvSpPr/>
          <p:nvPr/>
        </p:nvSpPr>
        <p:spPr>
          <a:xfrm>
            <a:off x="9546336" y="2139696"/>
            <a:ext cx="109728" cy="109728"/>
          </a:xfrm>
          <a:prstGeom prst="ellipse">
            <a:avLst/>
          </a:prstGeom>
          <a:solidFill>
            <a:srgbClr val="5A9BFF"/>
          </a:solidFill>
          <a:ln w="12700">
            <a:solidFill>
              <a:srgbClr val="5A9BFF"/>
            </a:solidFill>
            <a:prstDash val="solid"/>
          </a:ln>
        </p:spPr>
      </p:sp>
      <p:sp>
        <p:nvSpPr>
          <p:cNvPr id="30" name="Shape 28"/>
          <p:cNvSpPr/>
          <p:nvPr/>
        </p:nvSpPr>
        <p:spPr>
          <a:xfrm>
            <a:off x="8558784" y="3255264"/>
            <a:ext cx="256032" cy="256032"/>
          </a:xfrm>
          <a:prstGeom prst="ellipse">
            <a:avLst/>
          </a:prstGeom>
          <a:solidFill>
            <a:srgbClr val="0B1F3A"/>
          </a:solidFill>
          <a:ln w="12700">
            <a:solidFill>
              <a:srgbClr val="5A9BFF"/>
            </a:solidFill>
            <a:prstDash val="solid"/>
          </a:ln>
        </p:spPr>
      </p:sp>
      <p:sp>
        <p:nvSpPr>
          <p:cNvPr id="31" name="Shape 29"/>
          <p:cNvSpPr/>
          <p:nvPr/>
        </p:nvSpPr>
        <p:spPr>
          <a:xfrm>
            <a:off x="8631936" y="3328416"/>
            <a:ext cx="109728" cy="109728"/>
          </a:xfrm>
          <a:prstGeom prst="ellipse">
            <a:avLst/>
          </a:prstGeom>
          <a:solidFill>
            <a:srgbClr val="5A9BFF"/>
          </a:solidFill>
          <a:ln w="12700">
            <a:solidFill>
              <a:srgbClr val="5A9BFF"/>
            </a:solidFill>
            <a:prstDash val="solid"/>
          </a:ln>
        </p:spPr>
      </p:sp>
      <p:sp>
        <p:nvSpPr>
          <p:cNvPr id="32" name="Shape 30"/>
          <p:cNvSpPr/>
          <p:nvPr/>
        </p:nvSpPr>
        <p:spPr>
          <a:xfrm>
            <a:off x="10387584" y="3255264"/>
            <a:ext cx="256032" cy="256032"/>
          </a:xfrm>
          <a:prstGeom prst="ellipse">
            <a:avLst/>
          </a:prstGeom>
          <a:solidFill>
            <a:srgbClr val="0B1F3A"/>
          </a:solidFill>
          <a:ln w="12700">
            <a:solidFill>
              <a:srgbClr val="5A9BFF"/>
            </a:solidFill>
            <a:prstDash val="solid"/>
          </a:ln>
        </p:spPr>
      </p:sp>
      <p:sp>
        <p:nvSpPr>
          <p:cNvPr id="33" name="Shape 31"/>
          <p:cNvSpPr/>
          <p:nvPr/>
        </p:nvSpPr>
        <p:spPr>
          <a:xfrm>
            <a:off x="10460736" y="3328416"/>
            <a:ext cx="109728" cy="109728"/>
          </a:xfrm>
          <a:prstGeom prst="ellipse">
            <a:avLst/>
          </a:prstGeom>
          <a:solidFill>
            <a:srgbClr val="5A9BFF"/>
          </a:solidFill>
          <a:ln w="12700">
            <a:solidFill>
              <a:srgbClr val="5A9BFF"/>
            </a:solidFill>
            <a:prstDash val="solid"/>
          </a:ln>
        </p:spPr>
      </p:sp>
      <p:sp>
        <p:nvSpPr>
          <p:cNvPr id="34" name="Shape 32"/>
          <p:cNvSpPr/>
          <p:nvPr/>
        </p:nvSpPr>
        <p:spPr>
          <a:xfrm>
            <a:off x="7644384" y="4443984"/>
            <a:ext cx="256032" cy="256032"/>
          </a:xfrm>
          <a:prstGeom prst="ellipse">
            <a:avLst/>
          </a:prstGeom>
          <a:solidFill>
            <a:srgbClr val="0B1F3A"/>
          </a:solidFill>
          <a:ln w="12700">
            <a:solidFill>
              <a:srgbClr val="5A9BFF"/>
            </a:solidFill>
            <a:prstDash val="solid"/>
          </a:ln>
        </p:spPr>
      </p:sp>
      <p:sp>
        <p:nvSpPr>
          <p:cNvPr id="35" name="Shape 33"/>
          <p:cNvSpPr/>
          <p:nvPr/>
        </p:nvSpPr>
        <p:spPr>
          <a:xfrm>
            <a:off x="7717536" y="4517136"/>
            <a:ext cx="109728" cy="109728"/>
          </a:xfrm>
          <a:prstGeom prst="ellipse">
            <a:avLst/>
          </a:prstGeom>
          <a:solidFill>
            <a:srgbClr val="5A9BFF"/>
          </a:solidFill>
          <a:ln w="12700">
            <a:solidFill>
              <a:srgbClr val="5A9BFF"/>
            </a:solidFill>
            <a:prstDash val="solid"/>
          </a:ln>
        </p:spPr>
      </p:sp>
      <p:sp>
        <p:nvSpPr>
          <p:cNvPr id="36" name="Shape 34"/>
          <p:cNvSpPr/>
          <p:nvPr/>
        </p:nvSpPr>
        <p:spPr>
          <a:xfrm>
            <a:off x="9473184" y="4443984"/>
            <a:ext cx="256032" cy="256032"/>
          </a:xfrm>
          <a:prstGeom prst="ellipse">
            <a:avLst/>
          </a:prstGeom>
          <a:solidFill>
            <a:srgbClr val="0B1F3A"/>
          </a:solidFill>
          <a:ln w="12700">
            <a:solidFill>
              <a:srgbClr val="5A9BFF"/>
            </a:solidFill>
            <a:prstDash val="solid"/>
          </a:ln>
        </p:spPr>
      </p:sp>
      <p:sp>
        <p:nvSpPr>
          <p:cNvPr id="37" name="Shape 35"/>
          <p:cNvSpPr/>
          <p:nvPr/>
        </p:nvSpPr>
        <p:spPr>
          <a:xfrm>
            <a:off x="9546336" y="4517136"/>
            <a:ext cx="109728" cy="109728"/>
          </a:xfrm>
          <a:prstGeom prst="ellipse">
            <a:avLst/>
          </a:prstGeom>
          <a:solidFill>
            <a:srgbClr val="5A9BFF"/>
          </a:solidFill>
          <a:ln w="12700">
            <a:solidFill>
              <a:srgbClr val="5A9BFF"/>
            </a:solidFill>
            <a:prstDash val="solid"/>
          </a:ln>
        </p:spPr>
      </p:sp>
      <p:sp>
        <p:nvSpPr>
          <p:cNvPr id="38" name="Shape 36"/>
          <p:cNvSpPr/>
          <p:nvPr/>
        </p:nvSpPr>
        <p:spPr>
          <a:xfrm>
            <a:off x="8558784" y="877824"/>
            <a:ext cx="256032" cy="256032"/>
          </a:xfrm>
          <a:prstGeom prst="ellipse">
            <a:avLst/>
          </a:prstGeom>
          <a:solidFill>
            <a:srgbClr val="0B1F3A"/>
          </a:solidFill>
          <a:ln w="12700">
            <a:solidFill>
              <a:srgbClr val="5A9BFF"/>
            </a:solidFill>
            <a:prstDash val="solid"/>
          </a:ln>
        </p:spPr>
      </p:sp>
      <p:sp>
        <p:nvSpPr>
          <p:cNvPr id="39" name="Shape 37"/>
          <p:cNvSpPr/>
          <p:nvPr/>
        </p:nvSpPr>
        <p:spPr>
          <a:xfrm>
            <a:off x="8631936" y="950976"/>
            <a:ext cx="109728" cy="109728"/>
          </a:xfrm>
          <a:prstGeom prst="ellipse">
            <a:avLst/>
          </a:prstGeom>
          <a:solidFill>
            <a:srgbClr val="5A9BFF"/>
          </a:solidFill>
          <a:ln w="12700">
            <a:solidFill>
              <a:srgbClr val="5A9BFF"/>
            </a:solidFill>
            <a:prstDash val="solid"/>
          </a:ln>
        </p:spPr>
      </p:sp>
      <p:sp>
        <p:nvSpPr>
          <p:cNvPr id="40" name="Shape 38"/>
          <p:cNvSpPr/>
          <p:nvPr/>
        </p:nvSpPr>
        <p:spPr>
          <a:xfrm>
            <a:off x="10387584" y="5632704"/>
            <a:ext cx="256032" cy="256032"/>
          </a:xfrm>
          <a:prstGeom prst="ellipse">
            <a:avLst/>
          </a:prstGeom>
          <a:solidFill>
            <a:srgbClr val="0B1F3A"/>
          </a:solidFill>
          <a:ln w="12700">
            <a:solidFill>
              <a:srgbClr val="5A9BFF"/>
            </a:solidFill>
            <a:prstDash val="solid"/>
          </a:ln>
        </p:spPr>
      </p:sp>
      <p:sp>
        <p:nvSpPr>
          <p:cNvPr id="41" name="Shape 39"/>
          <p:cNvSpPr/>
          <p:nvPr/>
        </p:nvSpPr>
        <p:spPr>
          <a:xfrm>
            <a:off x="10460736" y="5705856"/>
            <a:ext cx="109728" cy="109728"/>
          </a:xfrm>
          <a:prstGeom prst="ellipse">
            <a:avLst/>
          </a:prstGeom>
          <a:solidFill>
            <a:srgbClr val="5A9BFF"/>
          </a:solidFill>
          <a:ln w="12700">
            <a:solidFill>
              <a:srgbClr val="5A9BFF"/>
            </a:solidFill>
            <a:prstDash val="solid"/>
          </a:ln>
        </p:spPr>
      </p:sp>
      <p:sp>
        <p:nvSpPr>
          <p:cNvPr id="42" name="Text 40"/>
          <p:cNvSpPr txBox="1"/>
          <p:nvPr/>
        </p:nvSpPr>
        <p:spPr>
          <a:xfrm>
            <a:off x="7955280" y="1847088"/>
            <a:ext cx="1463040" cy="228600"/>
          </a:xfrm>
          <a:prstGeom prst="rect">
            <a:avLst/>
          </a:prstGeom>
          <a:noFill/>
          <a:ln/>
        </p:spPr>
        <p:txBody>
          <a:bodyPr wrap="square" lIns="0" tIns="0" rIns="0" bIns="0" rtlCol="0" anchor="t"/>
          <a:lstStyle/>
          <a:p>
            <a:pPr marL="0" indent="0">
              <a:buNone/>
            </a:pPr>
            <a:r>
              <a:rPr lang="en-US" sz="1200" dirty="0">
                <a:solidFill>
                  <a:srgbClr val="9DB8E8"/>
                </a:solidFill>
                <a:latin typeface="Calibri" pitchFamily="34" charset="0"/>
                <a:ea typeface="Calibri" pitchFamily="34" charset="-122"/>
                <a:cs typeface="Calibri" pitchFamily="34" charset="-120"/>
              </a:rPr>
              <a:t>Architecture</a:t>
            </a:r>
            <a:endParaRPr lang="en-US" sz="1200" dirty="0"/>
          </a:p>
        </p:txBody>
      </p:sp>
      <p:sp>
        <p:nvSpPr>
          <p:cNvPr id="43" name="Text 41"/>
          <p:cNvSpPr txBox="1"/>
          <p:nvPr/>
        </p:nvSpPr>
        <p:spPr>
          <a:xfrm>
            <a:off x="9784080" y="1847088"/>
            <a:ext cx="1463040" cy="228600"/>
          </a:xfrm>
          <a:prstGeom prst="rect">
            <a:avLst/>
          </a:prstGeom>
          <a:noFill/>
          <a:ln/>
        </p:spPr>
        <p:txBody>
          <a:bodyPr wrap="square" lIns="0" tIns="0" rIns="0" bIns="0" rtlCol="0" anchor="t"/>
          <a:lstStyle/>
          <a:p>
            <a:pPr marL="0" indent="0">
              <a:buNone/>
            </a:pPr>
            <a:r>
              <a:rPr lang="en-US" sz="1200" dirty="0">
                <a:solidFill>
                  <a:srgbClr val="9DB8E8"/>
                </a:solidFill>
                <a:latin typeface="Calibri" pitchFamily="34" charset="0"/>
                <a:ea typeface="Calibri" pitchFamily="34" charset="-122"/>
                <a:cs typeface="Calibri" pitchFamily="34" charset="-120"/>
              </a:rPr>
              <a:t>Structure</a:t>
            </a:r>
            <a:endParaRPr lang="en-US" sz="1200" dirty="0"/>
          </a:p>
        </p:txBody>
      </p:sp>
      <p:sp>
        <p:nvSpPr>
          <p:cNvPr id="44" name="Text 42"/>
          <p:cNvSpPr txBox="1"/>
          <p:nvPr/>
        </p:nvSpPr>
        <p:spPr>
          <a:xfrm>
            <a:off x="10698480" y="3035808"/>
            <a:ext cx="1463040" cy="228600"/>
          </a:xfrm>
          <a:prstGeom prst="rect">
            <a:avLst/>
          </a:prstGeom>
          <a:noFill/>
          <a:ln/>
        </p:spPr>
        <p:txBody>
          <a:bodyPr wrap="square" lIns="0" tIns="0" rIns="0" bIns="0" rtlCol="0" anchor="t"/>
          <a:lstStyle/>
          <a:p>
            <a:pPr marL="0" indent="0">
              <a:buNone/>
            </a:pPr>
            <a:r>
              <a:rPr lang="en-US" sz="1200" dirty="0">
                <a:solidFill>
                  <a:srgbClr val="9DB8E8"/>
                </a:solidFill>
                <a:latin typeface="Calibri" pitchFamily="34" charset="0"/>
                <a:ea typeface="Calibri" pitchFamily="34" charset="-122"/>
                <a:cs typeface="Calibri" pitchFamily="34" charset="-120"/>
              </a:rPr>
              <a:t>MEP</a:t>
            </a:r>
            <a:endParaRPr lang="en-US" sz="1200" dirty="0"/>
          </a:p>
        </p:txBody>
      </p:sp>
      <p:sp>
        <p:nvSpPr>
          <p:cNvPr id="45" name="Text 43"/>
          <p:cNvSpPr txBox="1"/>
          <p:nvPr/>
        </p:nvSpPr>
        <p:spPr>
          <a:xfrm>
            <a:off x="7955280" y="4224528"/>
            <a:ext cx="1463040" cy="228600"/>
          </a:xfrm>
          <a:prstGeom prst="rect">
            <a:avLst/>
          </a:prstGeom>
          <a:noFill/>
          <a:ln/>
        </p:spPr>
        <p:txBody>
          <a:bodyPr wrap="square" lIns="0" tIns="0" rIns="0" bIns="0" rtlCol="0" anchor="t"/>
          <a:lstStyle/>
          <a:p>
            <a:pPr marL="0" indent="0">
              <a:buNone/>
            </a:pPr>
            <a:r>
              <a:rPr lang="en-US" sz="1200" dirty="0">
                <a:solidFill>
                  <a:srgbClr val="9DB8E8"/>
                </a:solidFill>
                <a:latin typeface="Calibri" pitchFamily="34" charset="0"/>
                <a:ea typeface="Calibri" pitchFamily="34" charset="-122"/>
                <a:cs typeface="Calibri" pitchFamily="34" charset="-120"/>
              </a:rPr>
              <a:t>Specifications</a:t>
            </a:r>
            <a:endParaRPr lang="en-US" sz="1200" dirty="0"/>
          </a:p>
        </p:txBody>
      </p:sp>
      <p:sp>
        <p:nvSpPr>
          <p:cNvPr id="46" name="Text 44"/>
          <p:cNvSpPr txBox="1"/>
          <p:nvPr/>
        </p:nvSpPr>
        <p:spPr>
          <a:xfrm>
            <a:off x="9784080" y="4224528"/>
            <a:ext cx="1463040" cy="228600"/>
          </a:xfrm>
          <a:prstGeom prst="rect">
            <a:avLst/>
          </a:prstGeom>
          <a:noFill/>
          <a:ln/>
        </p:spPr>
        <p:txBody>
          <a:bodyPr wrap="square" lIns="0" tIns="0" rIns="0" bIns="0" rtlCol="0" anchor="t"/>
          <a:lstStyle/>
          <a:p>
            <a:pPr marL="0" indent="0">
              <a:buNone/>
            </a:pPr>
            <a:r>
              <a:rPr lang="en-US" sz="1200" dirty="0">
                <a:solidFill>
                  <a:srgbClr val="9DB8E8"/>
                </a:solidFill>
                <a:latin typeface="Calibri" pitchFamily="34" charset="0"/>
                <a:ea typeface="Calibri" pitchFamily="34" charset="-122"/>
                <a:cs typeface="Calibri" pitchFamily="34" charset="-120"/>
              </a:rPr>
              <a:t>Site</a:t>
            </a:r>
            <a:endParaRPr lang="en-US" sz="1200" dirty="0"/>
          </a:p>
        </p:txBody>
      </p:sp>
      <p:sp>
        <p:nvSpPr>
          <p:cNvPr id="47" name="TextBox 46"/>
          <p:cNvSpPr txBox="1"/>
          <p:nvPr/>
        </p:nvSpPr>
        <p:spPr>
          <a:xfrm>
            <a:off x="548640" y="5989320"/>
            <a:ext cx="5943600" cy="228600"/>
          </a:xfrm>
          <a:prstGeom prst="rect">
            <a:avLst/>
          </a:prstGeom>
          <a:noFill/>
        </p:spPr>
        <p:txBody>
          <a:bodyPr wrap="square" lIns="0" tIns="0" rIns="0" bIns="0" anchor="t">
            <a:spAutoFit/>
          </a:bodyPr>
          <a:lstStyle/>
          <a:p>
            <a:pPr algn="l"/>
            <a:r>
              <a:rPr sz="1000" b="0" i="0">
                <a:solidFill>
                  <a:srgbClr val="9DB8E8"/>
                </a:solidFill>
                <a:latin typeface="Calibri"/>
              </a:rPr>
              <a:t>Concept and research validation stage. Capabilities described are proposed, not demonstrated.</a:t>
            </a:r>
          </a:p>
        </p:txBody>
      </p:sp>
      <p:sp>
        <p:nvSpPr>
          <p:cNvPr id="201" name="Team label"/>
          <p:cNvSpPr txBox="1"/>
          <p:nvPr/>
        </p:nvSpPr>
        <p:spPr>
          <a:xfrm>
            <a:off x="731520" y="4114800"/>
            <a:ext cx="5852160" cy="228600"/>
          </a:xfrm>
          <a:prstGeom prst="rect">
            <a:avLst/>
          </a:prstGeom>
          <a:noFill/>
          <a:ln/>
        </p:spPr>
        <p:txBody>
          <a:bodyPr wrap="square" lIns="0" tIns="0" rIns="0" bIns="0" rtlCol="0" anchor="t"/>
          <a:lstStyle/>
          <a:p>
            <a:pPr marL="0" indent="0">
              <a:spcAft>
                <a:spcPts val="0"/>
              </a:spcAft>
              <a:buNone/>
            </a:pPr>
            <a:r>
              <a:rPr lang="en-US" sz="1050" b="1" dirty="0" spc="150">
                <a:solidFill>
                  <a:srgbClr val="9DB8E8"/>
                </a:solidFill>
                <a:latin typeface="Calibri" pitchFamily="34" charset="0"/>
                <a:ea typeface="Calibri" pitchFamily="34" charset="-122"/>
                <a:cs typeface="Calibri" pitchFamily="34" charset="-120"/>
              </a:rPr>
              <a:t>TEAM AND CONTACT</a:t>
            </a:r>
          </a:p>
        </p:txBody>
      </p:sp>
      <p:sp>
        <p:nvSpPr>
          <p:cNvPr id="202" name="Contact 1"/>
          <p:cNvSpPr txBox="1"/>
          <p:nvPr/>
        </p:nvSpPr>
        <p:spPr>
          <a:xfrm>
            <a:off x="731520" y="4480560"/>
            <a:ext cx="2651760" cy="868680"/>
          </a:xfrm>
          <a:prstGeom prst="rect">
            <a:avLst/>
          </a:prstGeom>
          <a:noFill/>
          <a:ln/>
        </p:spPr>
        <p:txBody>
          <a:bodyPr wrap="square" lIns="0" tIns="0" rIns="0" bIns="0" rtlCol="0" anchor="t"/>
          <a:lstStyle/>
          <a:p>
            <a:pPr marL="0" indent="0">
              <a:spcAft>
                <a:spcPts val="200"/>
              </a:spcAft>
              <a:buNone/>
            </a:pPr>
            <a:r>
              <a:rPr lang="en-US" sz="1400" b="1" dirty="0">
                <a:solidFill>
                  <a:srgbClr val="FFFFFF"/>
                </a:solidFill>
                <a:latin typeface="Calibri" pitchFamily="34" charset="0"/>
                <a:ea typeface="Calibri" pitchFamily="34" charset="-122"/>
                <a:cs typeface="Calibri" pitchFamily="34" charset="-120"/>
              </a:rPr>
              <a:t>K Utkarsh Sai Sidhardh</a:t>
            </a:r>
          </a:p>
          <a:p>
            <a:pPr marL="0" indent="0">
              <a:spcAft>
                <a:spcPts val="100"/>
              </a:spcAft>
              <a:buNone/>
            </a:pPr>
            <a:r>
              <a:rPr lang="en-US" sz="1200" b="0" dirty="0" u="none">
                <a:solidFill>
                  <a:srgbClr val="C9D9F5"/>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utkarshsaisidhardh@gmail.com</a:t>
            </a:r>
          </a:p>
          <a:p>
            <a:pPr marL="0" indent="0">
              <a:spcAft>
                <a:spcPts val="0"/>
              </a:spcAft>
              <a:buNone/>
            </a:pPr>
            <a:r>
              <a:rPr lang="en-US" sz="1200" b="0" dirty="0">
                <a:solidFill>
                  <a:srgbClr val="C9D9F5"/>
                </a:solidFill>
                <a:latin typeface="Calibri" pitchFamily="34" charset="0"/>
                <a:ea typeface="Calibri" pitchFamily="34" charset="-122"/>
                <a:cs typeface="Calibri" pitchFamily="34" charset="-120"/>
              </a:rPr>
              <a:t>+91 93630 44095</a:t>
            </a:r>
          </a:p>
        </p:txBody>
      </p:sp>
      <p:sp>
        <p:nvSpPr>
          <p:cNvPr id="203" name="Contact 2"/>
          <p:cNvSpPr txBox="1"/>
          <p:nvPr/>
        </p:nvSpPr>
        <p:spPr>
          <a:xfrm>
            <a:off x="3749040" y="4480560"/>
            <a:ext cx="2651760" cy="868680"/>
          </a:xfrm>
          <a:prstGeom prst="rect">
            <a:avLst/>
          </a:prstGeom>
          <a:noFill/>
          <a:ln/>
        </p:spPr>
        <p:txBody>
          <a:bodyPr wrap="square" lIns="0" tIns="0" rIns="0" bIns="0" rtlCol="0" anchor="t"/>
          <a:lstStyle/>
          <a:p>
            <a:pPr marL="0" indent="0">
              <a:spcAft>
                <a:spcPts val="200"/>
              </a:spcAft>
              <a:buNone/>
            </a:pPr>
            <a:r>
              <a:rPr lang="en-US" sz="1400" b="1" dirty="0">
                <a:solidFill>
                  <a:srgbClr val="FFFFFF"/>
                </a:solidFill>
                <a:latin typeface="Calibri" pitchFamily="34" charset="0"/>
                <a:ea typeface="Calibri" pitchFamily="34" charset="-122"/>
                <a:cs typeface="Calibri" pitchFamily="34" charset="-120"/>
              </a:rPr>
              <a:t>Aravindh Rajan A</a:t>
            </a:r>
          </a:p>
          <a:p>
            <a:pPr marL="0" indent="0">
              <a:spcAft>
                <a:spcPts val="100"/>
              </a:spcAft>
              <a:buNone/>
            </a:pPr>
            <a:r>
              <a:rPr lang="en-US" sz="1200" b="0" dirty="0" u="none">
                <a:solidFill>
                  <a:srgbClr val="C9D9F5"/>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aravindhrajan132@gmail.com</a:t>
            </a:r>
          </a:p>
          <a:p>
            <a:pPr marL="0" indent="0">
              <a:spcAft>
                <a:spcPts val="0"/>
              </a:spcAft>
              <a:buNone/>
            </a:pPr>
            <a:r>
              <a:rPr lang="en-US" sz="1200" b="0" dirty="0">
                <a:solidFill>
                  <a:srgbClr val="C9D9F5"/>
                </a:solidFill>
                <a:latin typeface="Calibri" pitchFamily="34" charset="0"/>
                <a:ea typeface="Calibri" pitchFamily="34" charset="-122"/>
                <a:cs typeface="Calibri" pitchFamily="34" charset="-120"/>
              </a:rPr>
              <a:t>+91 93617 54851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60120"/>
          </a:xfrm>
          <a:prstGeom prst="rect">
            <a:avLst/>
          </a:prstGeom>
          <a:noFill/>
          <a:ln/>
        </p:spPr>
        <p:txBody>
          <a:bodyPr wrap="square" lIns="0" tIns="0" rIns="0" bIns="0" rtlCol="0" anchor="t"/>
          <a:lstStyle/>
          <a:p>
            <a:pPr marL="0" indent="0" algn="l">
              <a:buNone/>
            </a:pPr>
            <a:r>
              <a:rPr lang="en-US" sz="2800" b="1" dirty="0">
                <a:solidFill>
                  <a:srgbClr val="0B1F3A"/>
                </a:solidFill>
                <a:latin typeface="Calibri" pitchFamily="34" charset="0"/>
                <a:ea typeface="Calibri" pitchFamily="34" charset="-122"/>
                <a:cs typeface="Calibri" pitchFamily="34" charset="-120"/>
              </a:rPr>
              <a:t>Disconnected records turn one change into costly rework</a:t>
            </a:r>
            <a:endParaRPr lang="en-US" sz="2800" dirty="0"/>
          </a:p>
        </p:txBody>
      </p:sp>
      <p:sp>
        <p:nvSpPr>
          <p:cNvPr id="1001" name="Text 0"/>
          <p:cNvSpPr txBox="1"/>
          <p:nvPr/>
        </p:nvSpPr>
        <p:spPr>
          <a:xfrm>
            <a:off x="548640" y="868680"/>
            <a:ext cx="11064240" cy="274320"/>
          </a:xfrm>
          <a:prstGeom prst="rect">
            <a:avLst/>
          </a:prstGeom>
          <a:noFill/>
          <a:ln/>
        </p:spPr>
        <p:txBody>
          <a:bodyPr wrap="square" lIns="0" tIns="0" rIns="0" bIns="0" rtlCol="0" anchor="t"/>
          <a:lstStyle/>
          <a:p>
            <a:pPr algn="l" indent="0" marL="0">
              <a:buNone/>
            </a:pPr>
            <a:r>
              <a:rPr lang="en-US" sz="1300" dirty="0">
                <a:solidFill>
                  <a:srgbClr val="6B7482"/>
                </a:solidFill>
                <a:latin typeface="Calibri" pitchFamily="34" charset="0"/>
                <a:ea typeface="Calibri" pitchFamily="34" charset="-122"/>
                <a:cs typeface="Calibri" pitchFamily="34" charset="-120"/>
              </a:rPr>
              <a:t>A building is recorded in many places. When one record changes, nobody can automatically see everything it touches.</a:t>
            </a:r>
            <a:endParaRPr lang="en-US" sz="1300" dirty="0"/>
          </a:p>
        </p:txBody>
      </p:sp>
      <p:sp>
        <p:nvSpPr>
          <p:cNvPr id="1002" name="Shape 1"/>
          <p:cNvSpPr/>
          <p:nvPr/>
        </p:nvSpPr>
        <p:spPr>
          <a:xfrm>
            <a:off x="548640" y="1371600"/>
            <a:ext cx="3520440" cy="2560320"/>
          </a:xfrm>
          <a:prstGeom prst="roundRect">
            <a:avLst>
              <a:gd name="adj" fmla="val 2500"/>
            </a:avLst>
          </a:prstGeom>
          <a:solidFill>
            <a:srgbClr val="FFFFFF"/>
          </a:solidFill>
          <a:ln w="9525">
            <a:solidFill>
              <a:srgbClr val="D3D8E0"/>
            </a:solidFill>
            <a:prstDash val="solid"/>
          </a:ln>
        </p:spPr>
      </p:sp>
      <p:sp>
        <p:nvSpPr>
          <p:cNvPr id="1003" name="Text 2"/>
          <p:cNvSpPr txBox="1"/>
          <p:nvPr/>
        </p:nvSpPr>
        <p:spPr>
          <a:xfrm>
            <a:off x="731520" y="1499616"/>
            <a:ext cx="3154680" cy="201168"/>
          </a:xfrm>
          <a:prstGeom prst="rect">
            <a:avLst/>
          </a:prstGeom>
          <a:noFill/>
          <a:ln/>
        </p:spPr>
        <p:txBody>
          <a:bodyPr wrap="square" lIns="0" tIns="0" rIns="0" bIns="0" rtlCol="0" anchor="t"/>
          <a:lstStyle/>
          <a:p>
            <a:pPr algn="l" indent="0" marL="0">
              <a:buNone/>
            </a:pPr>
            <a:r>
              <a:rPr lang="en-US" sz="1050" b="1" spc="150" kern="0" dirty="0">
                <a:solidFill>
                  <a:srgbClr val="2F6FDB"/>
                </a:solidFill>
                <a:latin typeface="Calibri" pitchFamily="34" charset="0"/>
                <a:ea typeface="Calibri" pitchFamily="34" charset="-122"/>
                <a:cs typeface="Calibri" pitchFamily="34" charset="-120"/>
              </a:rPr>
              <a:t>WHAT THE PROBLEM IS</a:t>
            </a:r>
            <a:endParaRPr lang="en-US" sz="1050" dirty="0"/>
          </a:p>
        </p:txBody>
      </p:sp>
      <p:sp>
        <p:nvSpPr>
          <p:cNvPr id="1004" name="Text 3"/>
          <p:cNvSpPr txBox="1"/>
          <p:nvPr/>
        </p:nvSpPr>
        <p:spPr>
          <a:xfrm>
            <a:off x="731520" y="1755648"/>
            <a:ext cx="3154680" cy="731520"/>
          </a:xfrm>
          <a:prstGeom prst="rect">
            <a:avLst/>
          </a:prstGeom>
          <a:noFill/>
          <a:ln/>
        </p:spPr>
        <p:txBody>
          <a:bodyPr wrap="square" lIns="0" tIns="0" rIns="0" bIns="0" rtlCol="0" anchor="t"/>
          <a:lstStyle/>
          <a:p>
            <a:pPr algn="l" indent="0" marL="0">
              <a:buNone/>
            </a:pPr>
            <a:r>
              <a:rPr lang="en-US" sz="1150" dirty="0">
                <a:solidFill>
                  <a:srgbClr val="2B2F36"/>
                </a:solidFill>
                <a:latin typeface="Calibri" pitchFamily="34" charset="0"/>
                <a:ea typeface="Calibri" pitchFamily="34" charset="-122"/>
                <a:cs typeface="Calibri" pitchFamily="34" charset="-120"/>
              </a:rPr>
              <a:t>Drawings, BIM models, specifications, codes, site data and cost plans each describe the same building. A change in one is not traced to the rest, so teams must check by hand.</a:t>
            </a:r>
            <a:endParaRPr lang="en-US" sz="1150" dirty="0"/>
          </a:p>
        </p:txBody>
      </p:sp>
      <p:sp>
        <p:nvSpPr>
          <p:cNvPr id="1005" name="Text 4"/>
          <p:cNvSpPr/>
          <p:nvPr/>
        </p:nvSpPr>
        <p:spPr>
          <a:xfrm>
            <a:off x="731520" y="2816352"/>
            <a:ext cx="1005840" cy="512064"/>
          </a:xfrm>
          <a:prstGeom prst="roundRect">
            <a:avLst>
              <a:gd name="adj" fmla="val 10714"/>
            </a:avLst>
          </a:prstGeom>
          <a:solidFill>
            <a:srgbClr val="0B1F3A"/>
          </a:solidFill>
          <a:ln w="6350">
            <a:solidFill>
              <a:srgbClr val="0B1F3A"/>
            </a:solidFill>
          </a:ln>
        </p:spPr>
        <p:txBody>
          <a:bodyPr wrap="square" lIns="508" tIns="508" rIns="508" bIns="508"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Move column C-4</a:t>
            </a:r>
            <a:endParaRPr lang="en-US" sz="1050" dirty="0"/>
          </a:p>
        </p:txBody>
      </p:sp>
      <p:sp>
        <p:nvSpPr>
          <p:cNvPr id="1006" name="Shape 5"/>
          <p:cNvSpPr/>
          <p:nvPr/>
        </p:nvSpPr>
        <p:spPr>
          <a:xfrm>
            <a:off x="1737360" y="3072384"/>
            <a:ext cx="256032" cy="0"/>
          </a:xfrm>
          <a:prstGeom prst="line">
            <a:avLst/>
          </a:prstGeom>
          <a:noFill/>
          <a:ln w="15875">
            <a:solidFill>
              <a:srgbClr val="2F6FDB"/>
            </a:solidFill>
            <a:prstDash val="solid"/>
          </a:ln>
        </p:spPr>
      </p:sp>
      <p:sp>
        <p:nvSpPr>
          <p:cNvPr id="1007" name="Shape 6"/>
          <p:cNvSpPr/>
          <p:nvPr/>
        </p:nvSpPr>
        <p:spPr>
          <a:xfrm flipV="1">
            <a:off x="2084832" y="2642616"/>
            <a:ext cx="704088" cy="429768"/>
          </a:xfrm>
          <a:prstGeom prst="line">
            <a:avLst/>
          </a:prstGeom>
          <a:noFill/>
          <a:ln w="12700">
            <a:solidFill>
              <a:srgbClr val="9DB8E8"/>
            </a:solidFill>
            <a:prstDash val="dash"/>
          </a:ln>
        </p:spPr>
      </p:sp>
      <p:sp>
        <p:nvSpPr>
          <p:cNvPr id="1008" name="Text 7"/>
          <p:cNvSpPr/>
          <p:nvPr/>
        </p:nvSpPr>
        <p:spPr>
          <a:xfrm>
            <a:off x="2788920" y="2542032"/>
            <a:ext cx="1097280" cy="201168"/>
          </a:xfrm>
          <a:prstGeom prst="roundRect">
            <a:avLst>
              <a:gd name="adj" fmla="val 18182"/>
            </a:avLst>
          </a:prstGeom>
          <a:solidFill>
            <a:srgbClr val="E8EFFA"/>
          </a:solidFill>
          <a:ln w="9525">
            <a:solidFill>
              <a:srgbClr val="9DB8E8"/>
            </a:solidFill>
            <a:prstDash val="dash"/>
          </a:ln>
        </p:spPr>
        <p:txBody>
          <a:bodyPr wrap="square" lIns="0" tIns="0" rIns="0" bIns="0" rtlCol="0" anchor="ctr"/>
          <a:lstStyle/>
          <a:p>
            <a:pPr algn="ctr" indent="0" marL="0">
              <a:buNone/>
            </a:pPr>
            <a:r>
              <a:rPr lang="en-US" sz="950" dirty="0">
                <a:solidFill>
                  <a:srgbClr val="6B7482"/>
                </a:solidFill>
                <a:latin typeface="Calibri" pitchFamily="34" charset="0"/>
                <a:ea typeface="Calibri" pitchFamily="34" charset="-122"/>
                <a:cs typeface="Calibri" pitchFamily="34" charset="-120"/>
              </a:rPr>
              <a:t>Structure</a:t>
            </a:r>
            <a:endParaRPr lang="en-US" sz="950" dirty="0"/>
          </a:p>
        </p:txBody>
      </p:sp>
      <p:sp>
        <p:nvSpPr>
          <p:cNvPr id="1009" name="Shape 8"/>
          <p:cNvSpPr/>
          <p:nvPr/>
        </p:nvSpPr>
        <p:spPr>
          <a:xfrm flipV="1">
            <a:off x="2084832" y="2889504"/>
            <a:ext cx="704088" cy="182880"/>
          </a:xfrm>
          <a:prstGeom prst="line">
            <a:avLst/>
          </a:prstGeom>
          <a:noFill/>
          <a:ln w="12700">
            <a:solidFill>
              <a:srgbClr val="9DB8E8"/>
            </a:solidFill>
            <a:prstDash val="dash"/>
          </a:ln>
        </p:spPr>
      </p:sp>
      <p:sp>
        <p:nvSpPr>
          <p:cNvPr id="1010" name="Text 9"/>
          <p:cNvSpPr/>
          <p:nvPr/>
        </p:nvSpPr>
        <p:spPr>
          <a:xfrm>
            <a:off x="2788920" y="2788920"/>
            <a:ext cx="1097280" cy="201168"/>
          </a:xfrm>
          <a:prstGeom prst="roundRect">
            <a:avLst>
              <a:gd name="adj" fmla="val 18182"/>
            </a:avLst>
          </a:prstGeom>
          <a:solidFill>
            <a:srgbClr val="E8EFFA"/>
          </a:solidFill>
          <a:ln w="9525">
            <a:solidFill>
              <a:srgbClr val="9DB8E8"/>
            </a:solidFill>
            <a:prstDash val="dash"/>
          </a:ln>
        </p:spPr>
        <p:txBody>
          <a:bodyPr wrap="square" lIns="0" tIns="0" rIns="0" bIns="0" rtlCol="0" anchor="ctr"/>
          <a:lstStyle/>
          <a:p>
            <a:pPr algn="ctr" indent="0" marL="0">
              <a:buNone/>
            </a:pPr>
            <a:r>
              <a:rPr lang="en-US" sz="950" dirty="0">
                <a:solidFill>
                  <a:srgbClr val="6B7482"/>
                </a:solidFill>
                <a:latin typeface="Calibri" pitchFamily="34" charset="0"/>
                <a:ea typeface="Calibri" pitchFamily="34" charset="-122"/>
                <a:cs typeface="Calibri" pitchFamily="34" charset="-120"/>
              </a:rPr>
              <a:t>MEP services</a:t>
            </a:r>
            <a:endParaRPr lang="en-US" sz="950" dirty="0"/>
          </a:p>
        </p:txBody>
      </p:sp>
      <p:sp>
        <p:nvSpPr>
          <p:cNvPr id="1011" name="Shape 10"/>
          <p:cNvSpPr/>
          <p:nvPr/>
        </p:nvSpPr>
        <p:spPr>
          <a:xfrm>
            <a:off x="2084832" y="3072384"/>
            <a:ext cx="704088" cy="64008"/>
          </a:xfrm>
          <a:prstGeom prst="line">
            <a:avLst/>
          </a:prstGeom>
          <a:noFill/>
          <a:ln w="12700">
            <a:solidFill>
              <a:srgbClr val="9DB8E8"/>
            </a:solidFill>
            <a:prstDash val="dash"/>
          </a:ln>
        </p:spPr>
      </p:sp>
      <p:sp>
        <p:nvSpPr>
          <p:cNvPr id="1012" name="Text 11"/>
          <p:cNvSpPr/>
          <p:nvPr/>
        </p:nvSpPr>
        <p:spPr>
          <a:xfrm>
            <a:off x="2788920" y="3035808"/>
            <a:ext cx="1097280" cy="201168"/>
          </a:xfrm>
          <a:prstGeom prst="roundRect">
            <a:avLst>
              <a:gd name="adj" fmla="val 18182"/>
            </a:avLst>
          </a:prstGeom>
          <a:solidFill>
            <a:srgbClr val="E8EFFA"/>
          </a:solidFill>
          <a:ln w="9525">
            <a:solidFill>
              <a:srgbClr val="9DB8E8"/>
            </a:solidFill>
            <a:prstDash val="dash"/>
          </a:ln>
        </p:spPr>
        <p:txBody>
          <a:bodyPr wrap="square" lIns="0" tIns="0" rIns="0" bIns="0" rtlCol="0" anchor="ctr"/>
          <a:lstStyle/>
          <a:p>
            <a:pPr algn="ctr" indent="0" marL="0">
              <a:buNone/>
            </a:pPr>
            <a:r>
              <a:rPr lang="en-US" sz="950" dirty="0">
                <a:solidFill>
                  <a:srgbClr val="6B7482"/>
                </a:solidFill>
                <a:latin typeface="Calibri" pitchFamily="34" charset="0"/>
                <a:ea typeface="Calibri" pitchFamily="34" charset="-122"/>
                <a:cs typeface="Calibri" pitchFamily="34" charset="-120"/>
              </a:rPr>
              <a:t>Specifications</a:t>
            </a:r>
            <a:endParaRPr lang="en-US" sz="950" dirty="0"/>
          </a:p>
        </p:txBody>
      </p:sp>
      <p:sp>
        <p:nvSpPr>
          <p:cNvPr id="1013" name="Shape 12"/>
          <p:cNvSpPr/>
          <p:nvPr/>
        </p:nvSpPr>
        <p:spPr>
          <a:xfrm>
            <a:off x="2084832" y="3072384"/>
            <a:ext cx="704088" cy="310896"/>
          </a:xfrm>
          <a:prstGeom prst="line">
            <a:avLst/>
          </a:prstGeom>
          <a:noFill/>
          <a:ln w="12700">
            <a:solidFill>
              <a:srgbClr val="9DB8E8"/>
            </a:solidFill>
            <a:prstDash val="dash"/>
          </a:ln>
        </p:spPr>
      </p:sp>
      <p:sp>
        <p:nvSpPr>
          <p:cNvPr id="1014" name="Text 13"/>
          <p:cNvSpPr/>
          <p:nvPr/>
        </p:nvSpPr>
        <p:spPr>
          <a:xfrm>
            <a:off x="2788920" y="3282696"/>
            <a:ext cx="1097280" cy="201168"/>
          </a:xfrm>
          <a:prstGeom prst="roundRect">
            <a:avLst>
              <a:gd name="adj" fmla="val 18182"/>
            </a:avLst>
          </a:prstGeom>
          <a:solidFill>
            <a:srgbClr val="E8EFFA"/>
          </a:solidFill>
          <a:ln w="9525">
            <a:solidFill>
              <a:srgbClr val="9DB8E8"/>
            </a:solidFill>
            <a:prstDash val="dash"/>
          </a:ln>
        </p:spPr>
        <p:txBody>
          <a:bodyPr wrap="square" lIns="0" tIns="0" rIns="0" bIns="0" rtlCol="0" anchor="ctr"/>
          <a:lstStyle/>
          <a:p>
            <a:pPr algn="ctr" indent="0" marL="0">
              <a:buNone/>
            </a:pPr>
            <a:r>
              <a:rPr lang="en-US" sz="950" dirty="0">
                <a:solidFill>
                  <a:srgbClr val="6B7482"/>
                </a:solidFill>
                <a:latin typeface="Calibri" pitchFamily="34" charset="0"/>
                <a:ea typeface="Calibri" pitchFamily="34" charset="-122"/>
                <a:cs typeface="Calibri" pitchFamily="34" charset="-120"/>
              </a:rPr>
              <a:t>Codes</a:t>
            </a:r>
            <a:endParaRPr lang="en-US" sz="950" dirty="0"/>
          </a:p>
        </p:txBody>
      </p:sp>
      <p:sp>
        <p:nvSpPr>
          <p:cNvPr id="1015" name="Shape 14"/>
          <p:cNvSpPr/>
          <p:nvPr/>
        </p:nvSpPr>
        <p:spPr>
          <a:xfrm>
            <a:off x="2084832" y="3072384"/>
            <a:ext cx="704088" cy="557784"/>
          </a:xfrm>
          <a:prstGeom prst="line">
            <a:avLst/>
          </a:prstGeom>
          <a:noFill/>
          <a:ln w="12700">
            <a:solidFill>
              <a:srgbClr val="9DB8E8"/>
            </a:solidFill>
            <a:prstDash val="dash"/>
          </a:ln>
        </p:spPr>
      </p:sp>
      <p:sp>
        <p:nvSpPr>
          <p:cNvPr id="1016" name="Text 15"/>
          <p:cNvSpPr/>
          <p:nvPr/>
        </p:nvSpPr>
        <p:spPr>
          <a:xfrm>
            <a:off x="2788920" y="3529584"/>
            <a:ext cx="1097280" cy="201168"/>
          </a:xfrm>
          <a:prstGeom prst="roundRect">
            <a:avLst>
              <a:gd name="adj" fmla="val 18182"/>
            </a:avLst>
          </a:prstGeom>
          <a:solidFill>
            <a:srgbClr val="E8EFFA"/>
          </a:solidFill>
          <a:ln w="9525">
            <a:solidFill>
              <a:srgbClr val="9DB8E8"/>
            </a:solidFill>
            <a:prstDash val="dash"/>
          </a:ln>
        </p:spPr>
        <p:txBody>
          <a:bodyPr wrap="square" lIns="0" tIns="0" rIns="0" bIns="0" rtlCol="0" anchor="ctr"/>
          <a:lstStyle/>
          <a:p>
            <a:pPr algn="ctr" indent="0" marL="0">
              <a:buNone/>
            </a:pPr>
            <a:r>
              <a:rPr lang="en-US" sz="950" dirty="0">
                <a:solidFill>
                  <a:srgbClr val="6B7482"/>
                </a:solidFill>
                <a:latin typeface="Calibri" pitchFamily="34" charset="0"/>
                <a:ea typeface="Calibri" pitchFamily="34" charset="-122"/>
                <a:cs typeface="Calibri" pitchFamily="34" charset="-120"/>
              </a:rPr>
              <a:t>Cost &amp; schedule</a:t>
            </a:r>
            <a:endParaRPr lang="en-US" sz="950" dirty="0"/>
          </a:p>
        </p:txBody>
      </p:sp>
      <p:sp>
        <p:nvSpPr>
          <p:cNvPr id="1017" name="Text 16"/>
          <p:cNvSpPr/>
          <p:nvPr/>
        </p:nvSpPr>
        <p:spPr>
          <a:xfrm>
            <a:off x="1901952" y="2889504"/>
            <a:ext cx="365760" cy="365760"/>
          </a:xfrm>
          <a:prstGeom prst="ellipse">
            <a:avLst/>
          </a:prstGeom>
          <a:solidFill>
            <a:srgbClr val="2F6FDB"/>
          </a:solidFill>
          <a:ln w="6350">
            <a:solidFill>
              <a:srgbClr val="2F6FD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18" name="Shape 17"/>
          <p:cNvSpPr/>
          <p:nvPr/>
        </p:nvSpPr>
        <p:spPr>
          <a:xfrm>
            <a:off x="4251960" y="1371600"/>
            <a:ext cx="3840480" cy="2560320"/>
          </a:xfrm>
          <a:prstGeom prst="roundRect">
            <a:avLst>
              <a:gd name="adj" fmla="val 2500"/>
            </a:avLst>
          </a:prstGeom>
          <a:solidFill>
            <a:srgbClr val="FFFFFF"/>
          </a:solidFill>
          <a:ln w="9525">
            <a:solidFill>
              <a:srgbClr val="D3D8E0"/>
            </a:solidFill>
            <a:prstDash val="solid"/>
          </a:ln>
        </p:spPr>
      </p:sp>
      <p:sp>
        <p:nvSpPr>
          <p:cNvPr id="1019" name="Text 18"/>
          <p:cNvSpPr txBox="1"/>
          <p:nvPr/>
        </p:nvSpPr>
        <p:spPr>
          <a:xfrm>
            <a:off x="4434840" y="1499616"/>
            <a:ext cx="3474720" cy="201168"/>
          </a:xfrm>
          <a:prstGeom prst="rect">
            <a:avLst/>
          </a:prstGeom>
          <a:noFill/>
          <a:ln/>
        </p:spPr>
        <p:txBody>
          <a:bodyPr wrap="square" lIns="0" tIns="0" rIns="0" bIns="0" rtlCol="0" anchor="t"/>
          <a:lstStyle/>
          <a:p>
            <a:pPr algn="l" indent="0" marL="0">
              <a:buNone/>
            </a:pPr>
            <a:r>
              <a:rPr lang="en-US" sz="1050" b="1" spc="150" kern="0" dirty="0">
                <a:solidFill>
                  <a:srgbClr val="2F6FDB"/>
                </a:solidFill>
                <a:latin typeface="Calibri" pitchFamily="34" charset="0"/>
                <a:ea typeface="Calibri" pitchFamily="34" charset="-122"/>
                <a:cs typeface="Calibri" pitchFamily="34" charset="-120"/>
              </a:rPr>
              <a:t>WHY IT OCCURS: THE ROOT-CAUSE CHAIN</a:t>
            </a:r>
            <a:endParaRPr lang="en-US" sz="1050" dirty="0"/>
          </a:p>
        </p:txBody>
      </p:sp>
      <p:sp>
        <p:nvSpPr>
          <p:cNvPr id="1020" name="Shape 19"/>
          <p:cNvSpPr/>
          <p:nvPr/>
        </p:nvSpPr>
        <p:spPr>
          <a:xfrm>
            <a:off x="4572000" y="2121408"/>
            <a:ext cx="0" cy="228600"/>
          </a:xfrm>
          <a:prstGeom prst="line">
            <a:avLst/>
          </a:prstGeom>
          <a:noFill/>
          <a:ln w="15875">
            <a:solidFill>
              <a:srgbClr val="9DB8E8"/>
            </a:solidFill>
            <a:prstDash val="solid"/>
          </a:ln>
        </p:spPr>
      </p:sp>
      <p:sp>
        <p:nvSpPr>
          <p:cNvPr id="1021" name="Text 20"/>
          <p:cNvSpPr/>
          <p:nvPr/>
        </p:nvSpPr>
        <p:spPr>
          <a:xfrm>
            <a:off x="4434840" y="1828800"/>
            <a:ext cx="274320" cy="274320"/>
          </a:xfrm>
          <a:prstGeom prst="ellipse">
            <a:avLst/>
          </a:prstGeom>
          <a:solidFill>
            <a:srgbClr val="2F6FDB"/>
          </a:solidFill>
          <a:ln w="6350">
            <a:solidFill>
              <a:srgbClr val="2F6FD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22" name="Text 21"/>
          <p:cNvSpPr txBox="1"/>
          <p:nvPr/>
        </p:nvSpPr>
        <p:spPr>
          <a:xfrm>
            <a:off x="4846320" y="1810512"/>
            <a:ext cx="3063240" cy="182880"/>
          </a:xfrm>
          <a:prstGeom prst="rect">
            <a:avLst/>
          </a:prstGeom>
          <a:noFill/>
          <a:ln/>
        </p:spPr>
        <p:txBody>
          <a:bodyPr wrap="square" lIns="0" tIns="0" rIns="0" bIns="0" rtlCol="0" anchor="t"/>
          <a:lstStyle/>
          <a:p>
            <a:pPr algn="l" indent="0" marL="0">
              <a:buNone/>
            </a:pPr>
            <a:r>
              <a:rPr lang="en-US" sz="1200" b="1" dirty="0">
                <a:solidFill>
                  <a:srgbClr val="0B1F3A"/>
                </a:solidFill>
                <a:latin typeface="Calibri" pitchFamily="34" charset="0"/>
                <a:ea typeface="Calibri" pitchFamily="34" charset="-122"/>
                <a:cs typeface="Calibri" pitchFamily="34" charset="-120"/>
              </a:rPr>
              <a:t>Information is fragmented</a:t>
            </a:r>
            <a:endParaRPr lang="en-US" sz="1200" dirty="0"/>
          </a:p>
        </p:txBody>
      </p:sp>
      <p:sp>
        <p:nvSpPr>
          <p:cNvPr id="1023" name="Text 22"/>
          <p:cNvSpPr txBox="1"/>
          <p:nvPr/>
        </p:nvSpPr>
        <p:spPr>
          <a:xfrm>
            <a:off x="4846320" y="2002536"/>
            <a:ext cx="3063240" cy="310896"/>
          </a:xfrm>
          <a:prstGeom prst="rect">
            <a:avLst/>
          </a:prstGeom>
          <a:noFill/>
          <a:ln/>
        </p:spPr>
        <p:txBody>
          <a:bodyPr wrap="square" lIns="0" tIns="0" rIns="0" bIns="0" rtlCol="0" anchor="t"/>
          <a:lstStyle/>
          <a:p>
            <a:pPr algn="l" indent="0" marL="0">
              <a:buNone/>
            </a:pPr>
            <a:r>
              <a:rPr lang="en-US" sz="1050" dirty="0">
                <a:solidFill>
                  <a:srgbClr val="2B2F36"/>
                </a:solidFill>
                <a:latin typeface="Calibri" pitchFamily="34" charset="0"/>
                <a:ea typeface="Calibri" pitchFamily="34" charset="-122"/>
                <a:cs typeface="Calibri" pitchFamily="34" charset="-120"/>
              </a:rPr>
              <a:t>Plans, models, specs and codes sit in separate tools.</a:t>
            </a:r>
            <a:endParaRPr lang="en-US" sz="1050" dirty="0"/>
          </a:p>
        </p:txBody>
      </p:sp>
      <p:sp>
        <p:nvSpPr>
          <p:cNvPr id="1024" name="Shape 23"/>
          <p:cNvSpPr/>
          <p:nvPr/>
        </p:nvSpPr>
        <p:spPr>
          <a:xfrm>
            <a:off x="4572000" y="2642616"/>
            <a:ext cx="0" cy="228600"/>
          </a:xfrm>
          <a:prstGeom prst="line">
            <a:avLst/>
          </a:prstGeom>
          <a:noFill/>
          <a:ln w="15875">
            <a:solidFill>
              <a:srgbClr val="9DB8E8"/>
            </a:solidFill>
            <a:prstDash val="solid"/>
          </a:ln>
        </p:spPr>
      </p:sp>
      <p:sp>
        <p:nvSpPr>
          <p:cNvPr id="1025" name="Text 24"/>
          <p:cNvSpPr/>
          <p:nvPr/>
        </p:nvSpPr>
        <p:spPr>
          <a:xfrm>
            <a:off x="4434840" y="2350008"/>
            <a:ext cx="274320" cy="274320"/>
          </a:xfrm>
          <a:prstGeom prst="ellipse">
            <a:avLst/>
          </a:prstGeom>
          <a:solidFill>
            <a:srgbClr val="2F6FDB"/>
          </a:solidFill>
          <a:ln w="6350">
            <a:solidFill>
              <a:srgbClr val="2F6FD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26" name="Text 25"/>
          <p:cNvSpPr txBox="1"/>
          <p:nvPr/>
        </p:nvSpPr>
        <p:spPr>
          <a:xfrm>
            <a:off x="4846320" y="2331720"/>
            <a:ext cx="3063240" cy="182880"/>
          </a:xfrm>
          <a:prstGeom prst="rect">
            <a:avLst/>
          </a:prstGeom>
          <a:noFill/>
          <a:ln/>
        </p:spPr>
        <p:txBody>
          <a:bodyPr wrap="square" lIns="0" tIns="0" rIns="0" bIns="0" rtlCol="0" anchor="t"/>
          <a:lstStyle/>
          <a:p>
            <a:pPr algn="l" indent="0" marL="0">
              <a:buNone/>
            </a:pPr>
            <a:r>
              <a:rPr lang="en-US" sz="1200" b="1" dirty="0">
                <a:solidFill>
                  <a:srgbClr val="0B1F3A"/>
                </a:solidFill>
                <a:latin typeface="Calibri" pitchFamily="34" charset="0"/>
                <a:ea typeface="Calibri" pitchFamily="34" charset="-122"/>
                <a:cs typeface="Calibri" pitchFamily="34" charset="-120"/>
              </a:rPr>
              <a:t>Teams work in silos</a:t>
            </a:r>
            <a:endParaRPr lang="en-US" sz="1200" dirty="0"/>
          </a:p>
        </p:txBody>
      </p:sp>
      <p:sp>
        <p:nvSpPr>
          <p:cNvPr id="1027" name="Text 26"/>
          <p:cNvSpPr txBox="1"/>
          <p:nvPr/>
        </p:nvSpPr>
        <p:spPr>
          <a:xfrm>
            <a:off x="4846320" y="2523744"/>
            <a:ext cx="3063240" cy="310896"/>
          </a:xfrm>
          <a:prstGeom prst="rect">
            <a:avLst/>
          </a:prstGeom>
          <a:noFill/>
          <a:ln/>
        </p:spPr>
        <p:txBody>
          <a:bodyPr wrap="square" lIns="0" tIns="0" rIns="0" bIns="0" rtlCol="0" anchor="t"/>
          <a:lstStyle/>
          <a:p>
            <a:pPr algn="l" indent="0" marL="0">
              <a:buNone/>
            </a:pPr>
            <a:r>
              <a:rPr lang="en-US" sz="1050" dirty="0">
                <a:solidFill>
                  <a:srgbClr val="2B2F36"/>
                </a:solidFill>
                <a:latin typeface="Calibri" pitchFamily="34" charset="0"/>
                <a:ea typeface="Calibri" pitchFamily="34" charset="-122"/>
                <a:cs typeface="Calibri" pitchFamily="34" charset="-120"/>
              </a:rPr>
              <a:t>Each firm and discipline owns one slice of the record.</a:t>
            </a:r>
            <a:endParaRPr lang="en-US" sz="1050" dirty="0"/>
          </a:p>
        </p:txBody>
      </p:sp>
      <p:sp>
        <p:nvSpPr>
          <p:cNvPr id="1028" name="Shape 27"/>
          <p:cNvSpPr/>
          <p:nvPr/>
        </p:nvSpPr>
        <p:spPr>
          <a:xfrm>
            <a:off x="4572000" y="3163824"/>
            <a:ext cx="0" cy="228600"/>
          </a:xfrm>
          <a:prstGeom prst="line">
            <a:avLst/>
          </a:prstGeom>
          <a:noFill/>
          <a:ln w="15875">
            <a:solidFill>
              <a:srgbClr val="9DB8E8"/>
            </a:solidFill>
            <a:prstDash val="solid"/>
          </a:ln>
        </p:spPr>
      </p:sp>
      <p:sp>
        <p:nvSpPr>
          <p:cNvPr id="1029" name="Text 28"/>
          <p:cNvSpPr/>
          <p:nvPr/>
        </p:nvSpPr>
        <p:spPr>
          <a:xfrm>
            <a:off x="4434840" y="2871216"/>
            <a:ext cx="274320" cy="274320"/>
          </a:xfrm>
          <a:prstGeom prst="ellipse">
            <a:avLst/>
          </a:prstGeom>
          <a:solidFill>
            <a:srgbClr val="2F6FDB"/>
          </a:solidFill>
          <a:ln w="6350">
            <a:solidFill>
              <a:srgbClr val="2F6FD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030" name="Text 29"/>
          <p:cNvSpPr txBox="1"/>
          <p:nvPr/>
        </p:nvSpPr>
        <p:spPr>
          <a:xfrm>
            <a:off x="4846320" y="2852928"/>
            <a:ext cx="3063240" cy="182880"/>
          </a:xfrm>
          <a:prstGeom prst="rect">
            <a:avLst/>
          </a:prstGeom>
          <a:noFill/>
          <a:ln/>
        </p:spPr>
        <p:txBody>
          <a:bodyPr wrap="square" lIns="0" tIns="0" rIns="0" bIns="0" rtlCol="0" anchor="t"/>
          <a:lstStyle/>
          <a:p>
            <a:pPr algn="l" indent="0" marL="0">
              <a:buNone/>
            </a:pPr>
            <a:r>
              <a:rPr lang="en-US" sz="1200" b="1" dirty="0">
                <a:solidFill>
                  <a:srgbClr val="0B1F3A"/>
                </a:solidFill>
                <a:latin typeface="Calibri" pitchFamily="34" charset="0"/>
                <a:ea typeface="Calibri" pitchFamily="34" charset="-122"/>
                <a:cs typeface="Calibri" pitchFamily="34" charset="-120"/>
              </a:rPr>
              <a:t>Links live in people’s heads</a:t>
            </a:r>
            <a:endParaRPr lang="en-US" sz="1200" dirty="0"/>
          </a:p>
        </p:txBody>
      </p:sp>
      <p:sp>
        <p:nvSpPr>
          <p:cNvPr id="1031" name="Text 30"/>
          <p:cNvSpPr txBox="1"/>
          <p:nvPr/>
        </p:nvSpPr>
        <p:spPr>
          <a:xfrm>
            <a:off x="4846320" y="3044952"/>
            <a:ext cx="3063240" cy="310896"/>
          </a:xfrm>
          <a:prstGeom prst="rect">
            <a:avLst/>
          </a:prstGeom>
          <a:noFill/>
          <a:ln/>
        </p:spPr>
        <p:txBody>
          <a:bodyPr wrap="square" lIns="0" tIns="0" rIns="0" bIns="0" rtlCol="0" anchor="t"/>
          <a:lstStyle/>
          <a:p>
            <a:pPr algn="l" indent="0" marL="0">
              <a:buNone/>
            </a:pPr>
            <a:r>
              <a:rPr lang="en-US" sz="1050" dirty="0">
                <a:solidFill>
                  <a:srgbClr val="2B2F36"/>
                </a:solidFill>
                <a:latin typeface="Calibri" pitchFamily="34" charset="0"/>
                <a:ea typeface="Calibri" pitchFamily="34" charset="-122"/>
                <a:cs typeface="Calibri" pitchFamily="34" charset="-120"/>
              </a:rPr>
              <a:t>Dependencies are traced by hand, one change at a time.</a:t>
            </a:r>
            <a:endParaRPr lang="en-US" sz="1050" dirty="0"/>
          </a:p>
        </p:txBody>
      </p:sp>
      <p:sp>
        <p:nvSpPr>
          <p:cNvPr id="1032" name="Text 31"/>
          <p:cNvSpPr/>
          <p:nvPr/>
        </p:nvSpPr>
        <p:spPr>
          <a:xfrm>
            <a:off x="4434840" y="3392424"/>
            <a:ext cx="274320" cy="274320"/>
          </a:xfrm>
          <a:prstGeom prst="ellipse">
            <a:avLst/>
          </a:prstGeom>
          <a:solidFill>
            <a:srgbClr val="0B1F3A"/>
          </a:solidFill>
          <a:ln w="6350">
            <a:solidFill>
              <a:srgbClr val="0B1F3A"/>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033" name="Text 32"/>
          <p:cNvSpPr txBox="1"/>
          <p:nvPr/>
        </p:nvSpPr>
        <p:spPr>
          <a:xfrm>
            <a:off x="4846320" y="3374136"/>
            <a:ext cx="3063240" cy="182880"/>
          </a:xfrm>
          <a:prstGeom prst="rect">
            <a:avLst/>
          </a:prstGeom>
          <a:noFill/>
          <a:ln/>
        </p:spPr>
        <p:txBody>
          <a:bodyPr wrap="square" lIns="0" tIns="0" rIns="0" bIns="0" rtlCol="0" anchor="t"/>
          <a:lstStyle/>
          <a:p>
            <a:pPr algn="l" indent="0" marL="0">
              <a:buNone/>
            </a:pPr>
            <a:r>
              <a:rPr lang="en-US" sz="1200" b="1" dirty="0">
                <a:solidFill>
                  <a:srgbClr val="0B1F3A"/>
                </a:solidFill>
                <a:latin typeface="Calibri" pitchFamily="34" charset="0"/>
                <a:ea typeface="Calibri" pitchFamily="34" charset="-122"/>
                <a:cs typeface="Calibri" pitchFamily="34" charset="-120"/>
              </a:rPr>
              <a:t>Problems surface late</a:t>
            </a:r>
            <a:endParaRPr lang="en-US" sz="1200" dirty="0"/>
          </a:p>
        </p:txBody>
      </p:sp>
      <p:sp>
        <p:nvSpPr>
          <p:cNvPr id="1034" name="Text 33"/>
          <p:cNvSpPr txBox="1"/>
          <p:nvPr/>
        </p:nvSpPr>
        <p:spPr>
          <a:xfrm>
            <a:off x="4846320" y="3566160"/>
            <a:ext cx="3063240" cy="310896"/>
          </a:xfrm>
          <a:prstGeom prst="rect">
            <a:avLst/>
          </a:prstGeom>
          <a:noFill/>
          <a:ln/>
        </p:spPr>
        <p:txBody>
          <a:bodyPr wrap="square" lIns="0" tIns="0" rIns="0" bIns="0" rtlCol="0" anchor="t"/>
          <a:lstStyle/>
          <a:p>
            <a:pPr algn="l" indent="0" marL="0">
              <a:buNone/>
            </a:pPr>
            <a:r>
              <a:rPr lang="en-US" sz="1050" dirty="0">
                <a:solidFill>
                  <a:srgbClr val="2B2F36"/>
                </a:solidFill>
                <a:latin typeface="Calibri" pitchFamily="34" charset="0"/>
                <a:ea typeface="Calibri" pitchFamily="34" charset="-122"/>
                <a:cs typeface="Calibri" pitchFamily="34" charset="-120"/>
              </a:rPr>
              <a:t>Found as RFIs and rework, when fixes cost the most.</a:t>
            </a:r>
            <a:endParaRPr lang="en-US" sz="1050" dirty="0"/>
          </a:p>
        </p:txBody>
      </p:sp>
      <p:sp>
        <p:nvSpPr>
          <p:cNvPr id="1035" name="Shape 34"/>
          <p:cNvSpPr/>
          <p:nvPr/>
        </p:nvSpPr>
        <p:spPr>
          <a:xfrm>
            <a:off x="8275320" y="1371600"/>
            <a:ext cx="3364992" cy="2560320"/>
          </a:xfrm>
          <a:prstGeom prst="roundRect">
            <a:avLst>
              <a:gd name="adj" fmla="val 2500"/>
            </a:avLst>
          </a:prstGeom>
          <a:solidFill>
            <a:srgbClr val="FFFFFF"/>
          </a:solidFill>
          <a:ln w="9525">
            <a:solidFill>
              <a:srgbClr val="D3D8E0"/>
            </a:solidFill>
            <a:prstDash val="solid"/>
          </a:ln>
        </p:spPr>
      </p:sp>
      <p:sp>
        <p:nvSpPr>
          <p:cNvPr id="1036" name="Text 35"/>
          <p:cNvSpPr txBox="1"/>
          <p:nvPr/>
        </p:nvSpPr>
        <p:spPr>
          <a:xfrm>
            <a:off x="8458200" y="1499616"/>
            <a:ext cx="2999232" cy="201168"/>
          </a:xfrm>
          <a:prstGeom prst="rect">
            <a:avLst/>
          </a:prstGeom>
          <a:noFill/>
          <a:ln/>
        </p:spPr>
        <p:txBody>
          <a:bodyPr wrap="square" lIns="0" tIns="0" rIns="0" bIns="0" rtlCol="0" anchor="t"/>
          <a:lstStyle/>
          <a:p>
            <a:pPr algn="l" indent="0" marL="0">
              <a:buNone/>
            </a:pPr>
            <a:r>
              <a:rPr lang="en-US" sz="1050" b="1" spc="150" kern="0" dirty="0">
                <a:solidFill>
                  <a:srgbClr val="2F6FDB"/>
                </a:solidFill>
                <a:latin typeface="Calibri" pitchFamily="34" charset="0"/>
                <a:ea typeface="Calibri" pitchFamily="34" charset="-122"/>
                <a:cs typeface="Calibri" pitchFamily="34" charset="-120"/>
              </a:rPr>
              <a:t>CORE ISSUES</a:t>
            </a:r>
            <a:endParaRPr lang="en-US" sz="1050" dirty="0"/>
          </a:p>
        </p:txBody>
      </p:sp>
      <p:sp>
        <p:nvSpPr>
          <p:cNvPr id="1037" name="Shape 36"/>
          <p:cNvSpPr/>
          <p:nvPr/>
        </p:nvSpPr>
        <p:spPr>
          <a:xfrm>
            <a:off x="8458200" y="1883664"/>
            <a:ext cx="91440" cy="91440"/>
          </a:xfrm>
          <a:prstGeom prst="ellipse">
            <a:avLst/>
          </a:prstGeom>
          <a:solidFill>
            <a:srgbClr val="2F6FDB"/>
          </a:solidFill>
          <a:ln w="6350">
            <a:solidFill>
              <a:srgbClr val="2F6FDB"/>
            </a:solidFill>
            <a:prstDash val="solid"/>
          </a:ln>
        </p:spPr>
      </p:sp>
      <p:sp>
        <p:nvSpPr>
          <p:cNvPr id="1038" name="Text 37"/>
          <p:cNvSpPr txBox="1"/>
          <p:nvPr/>
        </p:nvSpPr>
        <p:spPr>
          <a:xfrm>
            <a:off x="8659368" y="1810512"/>
            <a:ext cx="2798064" cy="182880"/>
          </a:xfrm>
          <a:prstGeom prst="rect">
            <a:avLst/>
          </a:prstGeom>
          <a:noFill/>
          <a:ln/>
        </p:spPr>
        <p:txBody>
          <a:bodyPr wrap="square" lIns="0" tIns="0" rIns="0" bIns="0" rtlCol="0" anchor="t"/>
          <a:lstStyle/>
          <a:p>
            <a:pPr algn="l" indent="0" marL="0">
              <a:buNone/>
            </a:pPr>
            <a:r>
              <a:rPr lang="en-US" sz="1200" b="1" dirty="0">
                <a:solidFill>
                  <a:srgbClr val="0B1F3A"/>
                </a:solidFill>
                <a:latin typeface="Calibri" pitchFamily="34" charset="0"/>
                <a:ea typeface="Calibri" pitchFamily="34" charset="-122"/>
                <a:cs typeface="Calibri" pitchFamily="34" charset="-120"/>
              </a:rPr>
              <a:t>No traceable links</a:t>
            </a:r>
            <a:endParaRPr lang="en-US" sz="1200" dirty="0"/>
          </a:p>
        </p:txBody>
      </p:sp>
      <p:sp>
        <p:nvSpPr>
          <p:cNvPr id="1039" name="Text 38"/>
          <p:cNvSpPr txBox="1"/>
          <p:nvPr/>
        </p:nvSpPr>
        <p:spPr>
          <a:xfrm>
            <a:off x="8659368" y="2002536"/>
            <a:ext cx="2798064" cy="310896"/>
          </a:xfrm>
          <a:prstGeom prst="rect">
            <a:avLst/>
          </a:prstGeom>
          <a:noFill/>
          <a:ln/>
        </p:spPr>
        <p:txBody>
          <a:bodyPr wrap="square" lIns="0" tIns="0" rIns="0" bIns="0" rtlCol="0" anchor="t"/>
          <a:lstStyle/>
          <a:p>
            <a:pPr algn="l" indent="0" marL="0">
              <a:buNone/>
            </a:pPr>
            <a:r>
              <a:rPr lang="en-US" sz="1050" dirty="0">
                <a:solidFill>
                  <a:srgbClr val="2B2F36"/>
                </a:solidFill>
                <a:latin typeface="Calibri" pitchFamily="34" charset="0"/>
                <a:ea typeface="Calibri" pitchFamily="34" charset="-122"/>
                <a:cs typeface="Calibri" pitchFamily="34" charset="-120"/>
              </a:rPr>
              <a:t>A revision is not connected to the records it affects.</a:t>
            </a:r>
            <a:endParaRPr lang="en-US" sz="1050" dirty="0"/>
          </a:p>
        </p:txBody>
      </p:sp>
      <p:sp>
        <p:nvSpPr>
          <p:cNvPr id="1040" name="Shape 39"/>
          <p:cNvSpPr/>
          <p:nvPr/>
        </p:nvSpPr>
        <p:spPr>
          <a:xfrm>
            <a:off x="8458200" y="2404872"/>
            <a:ext cx="91440" cy="91440"/>
          </a:xfrm>
          <a:prstGeom prst="ellipse">
            <a:avLst/>
          </a:prstGeom>
          <a:solidFill>
            <a:srgbClr val="2F6FDB"/>
          </a:solidFill>
          <a:ln w="6350">
            <a:solidFill>
              <a:srgbClr val="2F6FDB"/>
            </a:solidFill>
            <a:prstDash val="solid"/>
          </a:ln>
        </p:spPr>
      </p:sp>
      <p:sp>
        <p:nvSpPr>
          <p:cNvPr id="1041" name="Text 40"/>
          <p:cNvSpPr txBox="1"/>
          <p:nvPr/>
        </p:nvSpPr>
        <p:spPr>
          <a:xfrm>
            <a:off x="8659368" y="2331720"/>
            <a:ext cx="2798064" cy="182880"/>
          </a:xfrm>
          <a:prstGeom prst="rect">
            <a:avLst/>
          </a:prstGeom>
          <a:noFill/>
          <a:ln/>
        </p:spPr>
        <p:txBody>
          <a:bodyPr wrap="square" lIns="0" tIns="0" rIns="0" bIns="0" rtlCol="0" anchor="t"/>
          <a:lstStyle/>
          <a:p>
            <a:pPr algn="l" indent="0" marL="0">
              <a:buNone/>
            </a:pPr>
            <a:r>
              <a:rPr lang="en-US" sz="1200" b="1" dirty="0">
                <a:solidFill>
                  <a:srgbClr val="0B1F3A"/>
                </a:solidFill>
                <a:latin typeface="Calibri" pitchFamily="34" charset="0"/>
                <a:ea typeface="Calibri" pitchFamily="34" charset="-122"/>
                <a:cs typeface="Calibri" pitchFamily="34" charset="-120"/>
              </a:rPr>
              <a:t>Version drift</a:t>
            </a:r>
            <a:endParaRPr lang="en-US" sz="1200" dirty="0"/>
          </a:p>
        </p:txBody>
      </p:sp>
      <p:sp>
        <p:nvSpPr>
          <p:cNvPr id="1042" name="Text 41"/>
          <p:cNvSpPr txBox="1"/>
          <p:nvPr/>
        </p:nvSpPr>
        <p:spPr>
          <a:xfrm>
            <a:off x="8659368" y="2523744"/>
            <a:ext cx="2798064" cy="310896"/>
          </a:xfrm>
          <a:prstGeom prst="rect">
            <a:avLst/>
          </a:prstGeom>
          <a:noFill/>
          <a:ln/>
        </p:spPr>
        <p:txBody>
          <a:bodyPr wrap="square" lIns="0" tIns="0" rIns="0" bIns="0" rtlCol="0" anchor="t"/>
          <a:lstStyle/>
          <a:p>
            <a:pPr algn="l" indent="0" marL="0">
              <a:buNone/>
            </a:pPr>
            <a:r>
              <a:rPr lang="en-US" sz="1050" dirty="0">
                <a:solidFill>
                  <a:srgbClr val="2B2F36"/>
                </a:solidFill>
                <a:latin typeface="Calibri" pitchFamily="34" charset="0"/>
                <a:ea typeface="Calibri" pitchFamily="34" charset="-122"/>
                <a:cs typeface="Calibri" pitchFamily="34" charset="-120"/>
              </a:rPr>
              <a:t>30% say over half their project data is “bad”.</a:t>
            </a:r>
            <a:endParaRPr lang="en-US" sz="1050" dirty="0"/>
          </a:p>
        </p:txBody>
      </p:sp>
      <p:sp>
        <p:nvSpPr>
          <p:cNvPr id="1043" name="Shape 42"/>
          <p:cNvSpPr/>
          <p:nvPr/>
        </p:nvSpPr>
        <p:spPr>
          <a:xfrm>
            <a:off x="8458200" y="2926080"/>
            <a:ext cx="91440" cy="91440"/>
          </a:xfrm>
          <a:prstGeom prst="ellipse">
            <a:avLst/>
          </a:prstGeom>
          <a:solidFill>
            <a:srgbClr val="2F6FDB"/>
          </a:solidFill>
          <a:ln w="6350">
            <a:solidFill>
              <a:srgbClr val="2F6FDB"/>
            </a:solidFill>
            <a:prstDash val="solid"/>
          </a:ln>
        </p:spPr>
      </p:sp>
      <p:sp>
        <p:nvSpPr>
          <p:cNvPr id="1044" name="Text 43"/>
          <p:cNvSpPr txBox="1"/>
          <p:nvPr/>
        </p:nvSpPr>
        <p:spPr>
          <a:xfrm>
            <a:off x="8659368" y="2852928"/>
            <a:ext cx="2798064" cy="182880"/>
          </a:xfrm>
          <a:prstGeom prst="rect">
            <a:avLst/>
          </a:prstGeom>
          <a:noFill/>
          <a:ln/>
        </p:spPr>
        <p:txBody>
          <a:bodyPr wrap="square" lIns="0" tIns="0" rIns="0" bIns="0" rtlCol="0" anchor="t"/>
          <a:lstStyle/>
          <a:p>
            <a:pPr algn="l" indent="0" marL="0">
              <a:buNone/>
            </a:pPr>
            <a:r>
              <a:rPr lang="en-US" sz="1200" b="1" dirty="0">
                <a:solidFill>
                  <a:srgbClr val="0B1F3A"/>
                </a:solidFill>
                <a:latin typeface="Calibri" pitchFamily="34" charset="0"/>
                <a:ea typeface="Calibri" pitchFamily="34" charset="-122"/>
                <a:cs typeface="Calibri" pitchFamily="34" charset="-120"/>
              </a:rPr>
              <a:t>Manual cross-checks</a:t>
            </a:r>
            <a:endParaRPr lang="en-US" sz="1200" dirty="0"/>
          </a:p>
        </p:txBody>
      </p:sp>
      <p:sp>
        <p:nvSpPr>
          <p:cNvPr id="1045" name="Text 44"/>
          <p:cNvSpPr txBox="1"/>
          <p:nvPr/>
        </p:nvSpPr>
        <p:spPr>
          <a:xfrm>
            <a:off x="8659368" y="3044952"/>
            <a:ext cx="2798064" cy="310896"/>
          </a:xfrm>
          <a:prstGeom prst="rect">
            <a:avLst/>
          </a:prstGeom>
          <a:noFill/>
          <a:ln/>
        </p:spPr>
        <p:txBody>
          <a:bodyPr wrap="square" lIns="0" tIns="0" rIns="0" bIns="0" rtlCol="0" anchor="t"/>
          <a:lstStyle/>
          <a:p>
            <a:pPr algn="l" indent="0" marL="0">
              <a:buNone/>
            </a:pPr>
            <a:r>
              <a:rPr lang="en-US" sz="1050" dirty="0">
                <a:solidFill>
                  <a:srgbClr val="2B2F36"/>
                </a:solidFill>
                <a:latin typeface="Calibri" pitchFamily="34" charset="0"/>
                <a:ea typeface="Calibri" pitchFamily="34" charset="-122"/>
                <a:cs typeface="Calibri" pitchFamily="34" charset="-120"/>
              </a:rPr>
              <a:t>~800 RFIs per project; median reply 9.7 days.</a:t>
            </a:r>
            <a:endParaRPr lang="en-US" sz="1050" dirty="0"/>
          </a:p>
        </p:txBody>
      </p:sp>
      <p:sp>
        <p:nvSpPr>
          <p:cNvPr id="1046" name="Shape 45"/>
          <p:cNvSpPr/>
          <p:nvPr/>
        </p:nvSpPr>
        <p:spPr>
          <a:xfrm>
            <a:off x="8458200" y="3447288"/>
            <a:ext cx="91440" cy="91440"/>
          </a:xfrm>
          <a:prstGeom prst="ellipse">
            <a:avLst/>
          </a:prstGeom>
          <a:solidFill>
            <a:srgbClr val="2F6FDB"/>
          </a:solidFill>
          <a:ln w="6350">
            <a:solidFill>
              <a:srgbClr val="2F6FDB"/>
            </a:solidFill>
            <a:prstDash val="solid"/>
          </a:ln>
        </p:spPr>
      </p:sp>
      <p:sp>
        <p:nvSpPr>
          <p:cNvPr id="1047" name="Text 46"/>
          <p:cNvSpPr txBox="1"/>
          <p:nvPr/>
        </p:nvSpPr>
        <p:spPr>
          <a:xfrm>
            <a:off x="8659368" y="3374136"/>
            <a:ext cx="2798064" cy="182880"/>
          </a:xfrm>
          <a:prstGeom prst="rect">
            <a:avLst/>
          </a:prstGeom>
          <a:noFill/>
          <a:ln/>
        </p:spPr>
        <p:txBody>
          <a:bodyPr wrap="square" lIns="0" tIns="0" rIns="0" bIns="0" rtlCol="0" anchor="t"/>
          <a:lstStyle/>
          <a:p>
            <a:pPr algn="l" indent="0" marL="0">
              <a:buNone/>
            </a:pPr>
            <a:r>
              <a:rPr lang="en-US" sz="1200" b="1" dirty="0">
                <a:solidFill>
                  <a:srgbClr val="0B1F3A"/>
                </a:solidFill>
                <a:latin typeface="Calibri" pitchFamily="34" charset="0"/>
                <a:ea typeface="Calibri" pitchFamily="34" charset="-122"/>
                <a:cs typeface="Calibri" pitchFamily="34" charset="-120"/>
              </a:rPr>
              <a:t>Re-keying and duplication</a:t>
            </a:r>
            <a:endParaRPr lang="en-US" sz="1200" dirty="0"/>
          </a:p>
        </p:txBody>
      </p:sp>
      <p:sp>
        <p:nvSpPr>
          <p:cNvPr id="1048" name="Text 47"/>
          <p:cNvSpPr txBox="1"/>
          <p:nvPr/>
        </p:nvSpPr>
        <p:spPr>
          <a:xfrm>
            <a:off x="8659368" y="3566160"/>
            <a:ext cx="2798064" cy="310896"/>
          </a:xfrm>
          <a:prstGeom prst="rect">
            <a:avLst/>
          </a:prstGeom>
          <a:noFill/>
          <a:ln/>
        </p:spPr>
        <p:txBody>
          <a:bodyPr wrap="square" lIns="0" tIns="0" rIns="0" bIns="0" rtlCol="0" anchor="t"/>
          <a:lstStyle/>
          <a:p>
            <a:pPr algn="l" indent="0" marL="0">
              <a:buNone/>
            </a:pPr>
            <a:r>
              <a:rPr lang="en-US" sz="1050" dirty="0">
                <a:solidFill>
                  <a:srgbClr val="2B2F36"/>
                </a:solidFill>
                <a:latin typeface="Calibri" pitchFamily="34" charset="0"/>
                <a:ea typeface="Calibri" pitchFamily="34" charset="-122"/>
                <a:cs typeface="Calibri" pitchFamily="34" charset="-120"/>
              </a:rPr>
              <a:t>Incompatible tools force re-entry of the same data.</a:t>
            </a:r>
            <a:endParaRPr lang="en-US" sz="1050" dirty="0"/>
          </a:p>
        </p:txBody>
      </p:sp>
      <p:sp>
        <p:nvSpPr>
          <p:cNvPr id="1049" name="Text 48"/>
          <p:cNvSpPr txBox="1"/>
          <p:nvPr/>
        </p:nvSpPr>
        <p:spPr>
          <a:xfrm>
            <a:off x="548640" y="4069080"/>
            <a:ext cx="3657600" cy="201168"/>
          </a:xfrm>
          <a:prstGeom prst="rect">
            <a:avLst/>
          </a:prstGeom>
          <a:noFill/>
          <a:ln/>
        </p:spPr>
        <p:txBody>
          <a:bodyPr wrap="square" lIns="0" tIns="0" rIns="0" bIns="0" rtlCol="0" anchor="t"/>
          <a:lstStyle/>
          <a:p>
            <a:pPr algn="l" indent="0" marL="0">
              <a:buNone/>
            </a:pPr>
            <a:r>
              <a:rPr lang="en-US" sz="1050" b="1" spc="150" kern="0" dirty="0">
                <a:solidFill>
                  <a:srgbClr val="2F6FDB"/>
                </a:solidFill>
                <a:latin typeface="Calibri" pitchFamily="34" charset="0"/>
                <a:ea typeface="Calibri" pitchFamily="34" charset="-122"/>
                <a:cs typeface="Calibri" pitchFamily="34" charset="-120"/>
              </a:rPr>
              <a:t>WHAT IT COSTS</a:t>
            </a:r>
            <a:endParaRPr lang="en-US" sz="1050" dirty="0"/>
          </a:p>
        </p:txBody>
      </p:sp>
      <p:sp>
        <p:nvSpPr>
          <p:cNvPr id="1050" name="Shape 49"/>
          <p:cNvSpPr/>
          <p:nvPr/>
        </p:nvSpPr>
        <p:spPr>
          <a:xfrm>
            <a:off x="548640" y="4343400"/>
            <a:ext cx="1801368" cy="1389888"/>
          </a:xfrm>
          <a:prstGeom prst="roundRect">
            <a:avLst>
              <a:gd name="adj" fmla="val 4605"/>
            </a:avLst>
          </a:prstGeom>
          <a:solidFill>
            <a:srgbClr val="0B1F3A"/>
          </a:solidFill>
          <a:ln w="6350">
            <a:solidFill>
              <a:srgbClr val="0B1F3A"/>
            </a:solidFill>
            <a:prstDash val="solid"/>
          </a:ln>
        </p:spPr>
      </p:sp>
      <p:sp>
        <p:nvSpPr>
          <p:cNvPr id="1051" name="Text 50"/>
          <p:cNvSpPr txBox="1"/>
          <p:nvPr/>
        </p:nvSpPr>
        <p:spPr>
          <a:xfrm>
            <a:off x="685800" y="4434840"/>
            <a:ext cx="1527048" cy="411480"/>
          </a:xfrm>
          <a:prstGeom prst="rect">
            <a:avLst/>
          </a:prstGeom>
          <a:noFill/>
          <a:ln/>
        </p:spPr>
        <p:txBody>
          <a:bodyPr wrap="square" lIns="0" tIns="0" rIns="0" bIns="0" rtlCol="0" anchor="t"/>
          <a:lstStyle/>
          <a:p>
            <a:pPr algn="l" indent="0" marL="0">
              <a:buNone/>
            </a:pPr>
            <a:r>
              <a:rPr lang="en-US" sz="2600" b="1" dirty="0">
                <a:solidFill>
                  <a:srgbClr val="FFFFFF"/>
                </a:solidFill>
                <a:latin typeface="Calibri" pitchFamily="34" charset="0"/>
                <a:ea typeface="Calibri" pitchFamily="34" charset="-122"/>
                <a:cs typeface="Calibri" pitchFamily="34" charset="-120"/>
              </a:rPr>
              <a:t>≈5%</a:t>
            </a:r>
            <a:endParaRPr lang="en-US" sz="2600" dirty="0"/>
          </a:p>
        </p:txBody>
      </p:sp>
      <p:sp>
        <p:nvSpPr>
          <p:cNvPr id="1052" name="Text 51"/>
          <p:cNvSpPr txBox="1"/>
          <p:nvPr/>
        </p:nvSpPr>
        <p:spPr>
          <a:xfrm>
            <a:off x="685800" y="4873752"/>
            <a:ext cx="1527048" cy="658368"/>
          </a:xfrm>
          <a:prstGeom prst="rect">
            <a:avLst/>
          </a:prstGeom>
          <a:noFill/>
          <a:ln/>
        </p:spPr>
        <p:txBody>
          <a:bodyPr wrap="square" lIns="0" tIns="0" rIns="0" bIns="0" rtlCol="0" anchor="t"/>
          <a:lstStyle/>
          <a:p>
            <a:pPr algn="l" indent="0" marL="0">
              <a:buNone/>
            </a:pPr>
            <a:r>
              <a:rPr lang="en-US" sz="1000" dirty="0">
                <a:solidFill>
                  <a:srgbClr val="C9D9F5"/>
                </a:solidFill>
                <a:latin typeface="Calibri" pitchFamily="34" charset="0"/>
                <a:ea typeface="Calibri" pitchFamily="34" charset="-122"/>
                <a:cs typeface="Calibri" pitchFamily="34" charset="-120"/>
              </a:rPr>
              <a:t>of contract value is direct rework; indirect costs add roughly as much again</a:t>
            </a:r>
            <a:endParaRPr lang="en-US" sz="1000" dirty="0"/>
          </a:p>
        </p:txBody>
      </p:sp>
      <p:sp>
        <p:nvSpPr>
          <p:cNvPr id="1053" name="Text 52"/>
          <p:cNvSpPr txBox="1"/>
          <p:nvPr/>
        </p:nvSpPr>
        <p:spPr>
          <a:xfrm>
            <a:off x="685800" y="5532120"/>
            <a:ext cx="1527048" cy="146304"/>
          </a:xfrm>
          <a:prstGeom prst="rect">
            <a:avLst/>
          </a:prstGeom>
          <a:noFill/>
          <a:ln/>
        </p:spPr>
        <p:txBody>
          <a:bodyPr wrap="square" lIns="0" tIns="0" rIns="0" bIns="0" rtlCol="0" anchor="t"/>
          <a:lstStyle/>
          <a:p>
            <a:pPr algn="l" indent="0" marL="0">
              <a:buNone/>
            </a:pPr>
            <a:r>
              <a:rPr lang="en-US" sz="850" i="1" dirty="0">
                <a:solidFill>
                  <a:srgbClr val="9DB8E8"/>
                </a:solidFill>
                <a:latin typeface="Calibri" pitchFamily="34" charset="0"/>
                <a:ea typeface="Calibri" pitchFamily="34" charset="-122"/>
                <a:cs typeface="Calibri" pitchFamily="34" charset="-120"/>
              </a:rPr>
              <a:t>Rework studies, ASCC</a:t>
            </a:r>
            <a:endParaRPr lang="en-US" sz="850" dirty="0"/>
          </a:p>
        </p:txBody>
      </p:sp>
      <p:sp>
        <p:nvSpPr>
          <p:cNvPr id="1054" name="Shape 53"/>
          <p:cNvSpPr/>
          <p:nvPr/>
        </p:nvSpPr>
        <p:spPr>
          <a:xfrm>
            <a:off x="2462784" y="4343400"/>
            <a:ext cx="1801368" cy="1389888"/>
          </a:xfrm>
          <a:prstGeom prst="roundRect">
            <a:avLst>
              <a:gd name="adj" fmla="val 4605"/>
            </a:avLst>
          </a:prstGeom>
          <a:solidFill>
            <a:srgbClr val="0B1F3A"/>
          </a:solidFill>
          <a:ln w="6350">
            <a:solidFill>
              <a:srgbClr val="0B1F3A"/>
            </a:solidFill>
            <a:prstDash val="solid"/>
          </a:ln>
        </p:spPr>
      </p:sp>
      <p:sp>
        <p:nvSpPr>
          <p:cNvPr id="1055" name="Text 54"/>
          <p:cNvSpPr txBox="1"/>
          <p:nvPr/>
        </p:nvSpPr>
        <p:spPr>
          <a:xfrm>
            <a:off x="2599944" y="4434840"/>
            <a:ext cx="1527048" cy="411480"/>
          </a:xfrm>
          <a:prstGeom prst="rect">
            <a:avLst/>
          </a:prstGeom>
          <a:noFill/>
          <a:ln/>
        </p:spPr>
        <p:txBody>
          <a:bodyPr wrap="square" lIns="0" tIns="0" rIns="0" bIns="0" rtlCol="0" anchor="t"/>
          <a:lstStyle/>
          <a:p>
            <a:pPr algn="l" indent="0" marL="0">
              <a:buNone/>
            </a:pPr>
            <a:r>
              <a:rPr lang="en-US" sz="2600" b="1" dirty="0">
                <a:solidFill>
                  <a:srgbClr val="FFFFFF"/>
                </a:solidFill>
                <a:latin typeface="Calibri" pitchFamily="34" charset="0"/>
                <a:ea typeface="Calibri" pitchFamily="34" charset="-122"/>
                <a:cs typeface="Calibri" pitchFamily="34" charset="-120"/>
              </a:rPr>
              <a:t>$31.3B</a:t>
            </a:r>
            <a:endParaRPr lang="en-US" sz="2600" dirty="0"/>
          </a:p>
        </p:txBody>
      </p:sp>
      <p:sp>
        <p:nvSpPr>
          <p:cNvPr id="1056" name="Text 55"/>
          <p:cNvSpPr txBox="1"/>
          <p:nvPr/>
        </p:nvSpPr>
        <p:spPr>
          <a:xfrm>
            <a:off x="2599944" y="4873752"/>
            <a:ext cx="1527048" cy="658368"/>
          </a:xfrm>
          <a:prstGeom prst="rect">
            <a:avLst/>
          </a:prstGeom>
          <a:noFill/>
          <a:ln/>
        </p:spPr>
        <p:txBody>
          <a:bodyPr wrap="square" lIns="0" tIns="0" rIns="0" bIns="0" rtlCol="0" anchor="t"/>
          <a:lstStyle/>
          <a:p>
            <a:pPr algn="l" indent="0" marL="0">
              <a:buNone/>
            </a:pPr>
            <a:r>
              <a:rPr lang="en-US" sz="1000" dirty="0">
                <a:solidFill>
                  <a:srgbClr val="C9D9F5"/>
                </a:solidFill>
                <a:latin typeface="Calibri" pitchFamily="34" charset="0"/>
                <a:ea typeface="Calibri" pitchFamily="34" charset="-122"/>
                <a:cs typeface="Calibri" pitchFamily="34" charset="-120"/>
              </a:rPr>
              <a:t>of US rework a year traces to poor communication and project data (48% of all rework)</a:t>
            </a:r>
            <a:endParaRPr lang="en-US" sz="1000" dirty="0"/>
          </a:p>
        </p:txBody>
      </p:sp>
      <p:sp>
        <p:nvSpPr>
          <p:cNvPr id="1057" name="Text 56"/>
          <p:cNvSpPr txBox="1"/>
          <p:nvPr/>
        </p:nvSpPr>
        <p:spPr>
          <a:xfrm>
            <a:off x="2599944" y="5532120"/>
            <a:ext cx="1527048" cy="146304"/>
          </a:xfrm>
          <a:prstGeom prst="rect">
            <a:avLst/>
          </a:prstGeom>
          <a:noFill/>
          <a:ln/>
        </p:spPr>
        <p:txBody>
          <a:bodyPr wrap="square" lIns="0" tIns="0" rIns="0" bIns="0" rtlCol="0" anchor="t"/>
          <a:lstStyle/>
          <a:p>
            <a:pPr algn="l" indent="0" marL="0">
              <a:buNone/>
            </a:pPr>
            <a:r>
              <a:rPr lang="en-US" sz="850" i="1" dirty="0">
                <a:solidFill>
                  <a:srgbClr val="9DB8E8"/>
                </a:solidFill>
                <a:latin typeface="Calibri" pitchFamily="34" charset="0"/>
                <a:ea typeface="Calibri" pitchFamily="34" charset="-122"/>
                <a:cs typeface="Calibri" pitchFamily="34" charset="-120"/>
              </a:rPr>
              <a:t>FMI + PlanGrid, 2018</a:t>
            </a:r>
            <a:endParaRPr lang="en-US" sz="850" dirty="0"/>
          </a:p>
        </p:txBody>
      </p:sp>
      <p:sp>
        <p:nvSpPr>
          <p:cNvPr id="1058" name="Shape 57"/>
          <p:cNvSpPr/>
          <p:nvPr/>
        </p:nvSpPr>
        <p:spPr>
          <a:xfrm>
            <a:off x="4376928" y="4343400"/>
            <a:ext cx="1801368" cy="1389888"/>
          </a:xfrm>
          <a:prstGeom prst="roundRect">
            <a:avLst>
              <a:gd name="adj" fmla="val 4605"/>
            </a:avLst>
          </a:prstGeom>
          <a:solidFill>
            <a:srgbClr val="0B1F3A"/>
          </a:solidFill>
          <a:ln w="6350">
            <a:solidFill>
              <a:srgbClr val="0B1F3A"/>
            </a:solidFill>
            <a:prstDash val="solid"/>
          </a:ln>
        </p:spPr>
      </p:sp>
      <p:sp>
        <p:nvSpPr>
          <p:cNvPr id="1059" name="Text 58"/>
          <p:cNvSpPr txBox="1"/>
          <p:nvPr/>
        </p:nvSpPr>
        <p:spPr>
          <a:xfrm>
            <a:off x="4514088" y="4434840"/>
            <a:ext cx="1527048" cy="411480"/>
          </a:xfrm>
          <a:prstGeom prst="rect">
            <a:avLst/>
          </a:prstGeom>
          <a:noFill/>
          <a:ln/>
        </p:spPr>
        <p:txBody>
          <a:bodyPr wrap="square" lIns="0" tIns="0" rIns="0" bIns="0" rtlCol="0" anchor="t"/>
          <a:lstStyle/>
          <a:p>
            <a:pPr algn="l" indent="0" marL="0">
              <a:buNone/>
            </a:pPr>
            <a:r>
              <a:rPr lang="en-US" sz="2600" b="1" dirty="0">
                <a:solidFill>
                  <a:srgbClr val="FFFFFF"/>
                </a:solidFill>
                <a:latin typeface="Calibri" pitchFamily="34" charset="0"/>
                <a:ea typeface="Calibri" pitchFamily="34" charset="-122"/>
                <a:cs typeface="Calibri" pitchFamily="34" charset="-120"/>
              </a:rPr>
              <a:t>35%</a:t>
            </a:r>
            <a:endParaRPr lang="en-US" sz="2600" dirty="0"/>
          </a:p>
        </p:txBody>
      </p:sp>
      <p:sp>
        <p:nvSpPr>
          <p:cNvPr id="1060" name="Text 59"/>
          <p:cNvSpPr txBox="1"/>
          <p:nvPr/>
        </p:nvSpPr>
        <p:spPr>
          <a:xfrm>
            <a:off x="4514088" y="4873752"/>
            <a:ext cx="1527048" cy="658368"/>
          </a:xfrm>
          <a:prstGeom prst="rect">
            <a:avLst/>
          </a:prstGeom>
          <a:noFill/>
          <a:ln/>
        </p:spPr>
        <p:txBody>
          <a:bodyPr wrap="square" lIns="0" tIns="0" rIns="0" bIns="0" rtlCol="0" anchor="t"/>
          <a:lstStyle/>
          <a:p>
            <a:pPr algn="l" indent="0" marL="0">
              <a:buNone/>
            </a:pPr>
            <a:r>
              <a:rPr lang="en-US" sz="1000" dirty="0">
                <a:solidFill>
                  <a:srgbClr val="C9D9F5"/>
                </a:solidFill>
                <a:latin typeface="Calibri" pitchFamily="34" charset="0"/>
                <a:ea typeface="Calibri" pitchFamily="34" charset="-122"/>
                <a:cs typeface="Calibri" pitchFamily="34" charset="-120"/>
              </a:rPr>
              <a:t>of working time (14+ hrs a week) is non-productive, 5.5 hrs of it hunting for information</a:t>
            </a:r>
            <a:endParaRPr lang="en-US" sz="1000" dirty="0"/>
          </a:p>
        </p:txBody>
      </p:sp>
      <p:sp>
        <p:nvSpPr>
          <p:cNvPr id="1061" name="Text 60"/>
          <p:cNvSpPr txBox="1"/>
          <p:nvPr/>
        </p:nvSpPr>
        <p:spPr>
          <a:xfrm>
            <a:off x="4514088" y="5532120"/>
            <a:ext cx="1527048" cy="146304"/>
          </a:xfrm>
          <a:prstGeom prst="rect">
            <a:avLst/>
          </a:prstGeom>
          <a:noFill/>
          <a:ln/>
        </p:spPr>
        <p:txBody>
          <a:bodyPr wrap="square" lIns="0" tIns="0" rIns="0" bIns="0" rtlCol="0" anchor="t"/>
          <a:lstStyle/>
          <a:p>
            <a:pPr algn="l" indent="0" marL="0">
              <a:buNone/>
            </a:pPr>
            <a:r>
              <a:rPr lang="en-US" sz="850" i="1" dirty="0">
                <a:solidFill>
                  <a:srgbClr val="9DB8E8"/>
                </a:solidFill>
                <a:latin typeface="Calibri" pitchFamily="34" charset="0"/>
                <a:ea typeface="Calibri" pitchFamily="34" charset="-122"/>
                <a:cs typeface="Calibri" pitchFamily="34" charset="-120"/>
              </a:rPr>
              <a:t>FMI + PlanGrid, 2018</a:t>
            </a:r>
            <a:endParaRPr lang="en-US" sz="850" dirty="0"/>
          </a:p>
        </p:txBody>
      </p:sp>
      <p:sp>
        <p:nvSpPr>
          <p:cNvPr id="1062" name="Shape 61"/>
          <p:cNvSpPr/>
          <p:nvPr/>
        </p:nvSpPr>
        <p:spPr>
          <a:xfrm>
            <a:off x="6291072" y="4343400"/>
            <a:ext cx="1801368" cy="1389888"/>
          </a:xfrm>
          <a:prstGeom prst="roundRect">
            <a:avLst>
              <a:gd name="adj" fmla="val 4605"/>
            </a:avLst>
          </a:prstGeom>
          <a:solidFill>
            <a:srgbClr val="0B1F3A"/>
          </a:solidFill>
          <a:ln w="6350">
            <a:solidFill>
              <a:srgbClr val="0B1F3A"/>
            </a:solidFill>
            <a:prstDash val="solid"/>
          </a:ln>
        </p:spPr>
      </p:sp>
      <p:sp>
        <p:nvSpPr>
          <p:cNvPr id="1063" name="Text 62"/>
          <p:cNvSpPr txBox="1"/>
          <p:nvPr/>
        </p:nvSpPr>
        <p:spPr>
          <a:xfrm>
            <a:off x="6428232" y="4434840"/>
            <a:ext cx="1527048" cy="411480"/>
          </a:xfrm>
          <a:prstGeom prst="rect">
            <a:avLst/>
          </a:prstGeom>
          <a:noFill/>
          <a:ln/>
        </p:spPr>
        <p:txBody>
          <a:bodyPr wrap="square" lIns="0" tIns="0" rIns="0" bIns="0" rtlCol="0" anchor="t"/>
          <a:lstStyle/>
          <a:p>
            <a:pPr algn="l" indent="0" marL="0">
              <a:buNone/>
            </a:pPr>
            <a:r>
              <a:rPr lang="en-US" sz="2600" b="1" dirty="0">
                <a:solidFill>
                  <a:srgbClr val="FFFFFF"/>
                </a:solidFill>
                <a:latin typeface="Calibri" pitchFamily="34" charset="0"/>
                <a:ea typeface="Calibri" pitchFamily="34" charset="-122"/>
                <a:cs typeface="Calibri" pitchFamily="34" charset="-120"/>
              </a:rPr>
              <a:t>$860K</a:t>
            </a:r>
            <a:endParaRPr lang="en-US" sz="2600" dirty="0"/>
          </a:p>
        </p:txBody>
      </p:sp>
      <p:sp>
        <p:nvSpPr>
          <p:cNvPr id="1064" name="Text 63"/>
          <p:cNvSpPr txBox="1"/>
          <p:nvPr/>
        </p:nvSpPr>
        <p:spPr>
          <a:xfrm>
            <a:off x="6428232" y="4873752"/>
            <a:ext cx="1527048" cy="658368"/>
          </a:xfrm>
          <a:prstGeom prst="rect">
            <a:avLst/>
          </a:prstGeom>
          <a:noFill/>
          <a:ln/>
        </p:spPr>
        <p:txBody>
          <a:bodyPr wrap="square" lIns="0" tIns="0" rIns="0" bIns="0" rtlCol="0" anchor="t"/>
          <a:lstStyle/>
          <a:p>
            <a:pPr algn="l" indent="0" marL="0">
              <a:buNone/>
            </a:pPr>
            <a:r>
              <a:rPr lang="en-US" sz="1000" dirty="0">
                <a:solidFill>
                  <a:srgbClr val="C9D9F5"/>
                </a:solidFill>
                <a:latin typeface="Calibri" pitchFamily="34" charset="0"/>
                <a:ea typeface="Calibri" pitchFamily="34" charset="-122"/>
                <a:cs typeface="Calibri" pitchFamily="34" charset="-120"/>
              </a:rPr>
              <a:t>to process RFIs on an average major project (about 796 RFIs at $1,080 each)</a:t>
            </a:r>
            <a:endParaRPr lang="en-US" sz="1000" dirty="0"/>
          </a:p>
        </p:txBody>
      </p:sp>
      <p:sp>
        <p:nvSpPr>
          <p:cNvPr id="1065" name="Text 64"/>
          <p:cNvSpPr txBox="1"/>
          <p:nvPr/>
        </p:nvSpPr>
        <p:spPr>
          <a:xfrm>
            <a:off x="6428232" y="5532120"/>
            <a:ext cx="1527048" cy="146304"/>
          </a:xfrm>
          <a:prstGeom prst="rect">
            <a:avLst/>
          </a:prstGeom>
          <a:noFill/>
          <a:ln/>
        </p:spPr>
        <p:txBody>
          <a:bodyPr wrap="square" lIns="0" tIns="0" rIns="0" bIns="0" rtlCol="0" anchor="t"/>
          <a:lstStyle/>
          <a:p>
            <a:pPr algn="l" indent="0" marL="0">
              <a:buNone/>
            </a:pPr>
            <a:r>
              <a:rPr lang="en-US" sz="850" i="1" dirty="0">
                <a:solidFill>
                  <a:srgbClr val="9DB8E8"/>
                </a:solidFill>
                <a:latin typeface="Calibri" pitchFamily="34" charset="0"/>
                <a:ea typeface="Calibri" pitchFamily="34" charset="-122"/>
                <a:cs typeface="Calibri" pitchFamily="34" charset="-120"/>
              </a:rPr>
              <a:t>Navigant, 2013</a:t>
            </a:r>
            <a:endParaRPr lang="en-US" sz="850" dirty="0"/>
          </a:p>
        </p:txBody>
      </p:sp>
      <p:sp>
        <p:nvSpPr>
          <p:cNvPr id="1066" name="Shape 65"/>
          <p:cNvSpPr/>
          <p:nvPr/>
        </p:nvSpPr>
        <p:spPr>
          <a:xfrm>
            <a:off x="548640" y="5824728"/>
            <a:ext cx="3717036" cy="457200"/>
          </a:xfrm>
          <a:prstGeom prst="roundRect">
            <a:avLst>
              <a:gd name="adj" fmla="val 12000"/>
            </a:avLst>
          </a:prstGeom>
          <a:solidFill>
            <a:srgbClr val="E8EFFA"/>
          </a:solidFill>
          <a:ln w="9525">
            <a:solidFill>
              <a:srgbClr val="C9D9F5"/>
            </a:solidFill>
            <a:prstDash val="solid"/>
          </a:ln>
        </p:spPr>
      </p:sp>
      <p:sp>
        <p:nvSpPr>
          <p:cNvPr id="1067" name="Text 66"/>
          <p:cNvSpPr txBox="1"/>
          <p:nvPr/>
        </p:nvSpPr>
        <p:spPr>
          <a:xfrm>
            <a:off x="685800" y="5824728"/>
            <a:ext cx="914400" cy="457200"/>
          </a:xfrm>
          <a:prstGeom prst="rect">
            <a:avLst/>
          </a:prstGeom>
          <a:noFill/>
          <a:ln/>
        </p:spPr>
        <p:txBody>
          <a:bodyPr wrap="square" lIns="0" tIns="0" rIns="0" bIns="0" rtlCol="0" anchor="ctr"/>
          <a:lstStyle/>
          <a:p>
            <a:pPr algn="l" indent="0" marL="0">
              <a:buNone/>
            </a:pPr>
            <a:r>
              <a:rPr lang="en-US" sz="1600" b="1" dirty="0">
                <a:solidFill>
                  <a:srgbClr val="2F6FDB"/>
                </a:solidFill>
                <a:latin typeface="Calibri" pitchFamily="34" charset="0"/>
                <a:ea typeface="Calibri" pitchFamily="34" charset="-122"/>
                <a:cs typeface="Calibri" pitchFamily="34" charset="-120"/>
              </a:rPr>
              <a:t>$15.8B</a:t>
            </a:r>
            <a:endParaRPr lang="en-US" sz="1600" dirty="0"/>
          </a:p>
        </p:txBody>
      </p:sp>
      <p:sp>
        <p:nvSpPr>
          <p:cNvPr id="1068" name="Text 67"/>
          <p:cNvSpPr txBox="1"/>
          <p:nvPr/>
        </p:nvSpPr>
        <p:spPr>
          <a:xfrm>
            <a:off x="1600200" y="5824728"/>
            <a:ext cx="2528316" cy="457200"/>
          </a:xfrm>
          <a:prstGeom prst="rect">
            <a:avLst/>
          </a:prstGeom>
          <a:noFill/>
          <a:ln/>
        </p:spPr>
        <p:txBody>
          <a:bodyPr wrap="square" lIns="0" tIns="0" rIns="0" bIns="0" rtlCol="0" anchor="ctr"/>
          <a:lstStyle/>
          <a:p>
            <a:pPr algn="l" indent="0" marL="0">
              <a:buNone/>
            </a:pPr>
            <a:r>
              <a:rPr lang="en-US" sz="950" dirty="0">
                <a:solidFill>
                  <a:srgbClr val="2B2F36"/>
                </a:solidFill>
                <a:latin typeface="Calibri" pitchFamily="34" charset="0"/>
                <a:ea typeface="Calibri" pitchFamily="34" charset="-122"/>
                <a:cs typeface="Calibri" pitchFamily="34" charset="-120"/>
              </a:rPr>
              <a:t>a year lost to inadequate software interoperability in US capital facilities (NIST)</a:t>
            </a:r>
            <a:endParaRPr lang="en-US" sz="950" dirty="0"/>
          </a:p>
        </p:txBody>
      </p:sp>
      <p:sp>
        <p:nvSpPr>
          <p:cNvPr id="1069" name="Shape 68"/>
          <p:cNvSpPr/>
          <p:nvPr/>
        </p:nvSpPr>
        <p:spPr>
          <a:xfrm>
            <a:off x="4375404" y="5824728"/>
            <a:ext cx="3717036" cy="457200"/>
          </a:xfrm>
          <a:prstGeom prst="roundRect">
            <a:avLst>
              <a:gd name="adj" fmla="val 12000"/>
            </a:avLst>
          </a:prstGeom>
          <a:solidFill>
            <a:srgbClr val="E8EFFA"/>
          </a:solidFill>
          <a:ln w="9525">
            <a:solidFill>
              <a:srgbClr val="C9D9F5"/>
            </a:solidFill>
            <a:prstDash val="solid"/>
          </a:ln>
        </p:spPr>
      </p:sp>
      <p:sp>
        <p:nvSpPr>
          <p:cNvPr id="1070" name="Text 69"/>
          <p:cNvSpPr txBox="1"/>
          <p:nvPr/>
        </p:nvSpPr>
        <p:spPr>
          <a:xfrm>
            <a:off x="4512564" y="5824728"/>
            <a:ext cx="914400" cy="457200"/>
          </a:xfrm>
          <a:prstGeom prst="rect">
            <a:avLst/>
          </a:prstGeom>
          <a:noFill/>
          <a:ln/>
        </p:spPr>
        <p:txBody>
          <a:bodyPr wrap="square" lIns="0" tIns="0" rIns="0" bIns="0" rtlCol="0" anchor="ctr"/>
          <a:lstStyle/>
          <a:p>
            <a:pPr algn="l" indent="0" marL="0">
              <a:buNone/>
            </a:pPr>
            <a:r>
              <a:rPr lang="en-US" sz="1600" b="1" dirty="0">
                <a:solidFill>
                  <a:srgbClr val="2F6FDB"/>
                </a:solidFill>
                <a:latin typeface="Calibri" pitchFamily="34" charset="0"/>
                <a:ea typeface="Calibri" pitchFamily="34" charset="-122"/>
                <a:cs typeface="Calibri" pitchFamily="34" charset="-120"/>
              </a:rPr>
              <a:t>$1.85T</a:t>
            </a:r>
            <a:endParaRPr lang="en-US" sz="1600" dirty="0"/>
          </a:p>
        </p:txBody>
      </p:sp>
      <p:sp>
        <p:nvSpPr>
          <p:cNvPr id="1071" name="Text 70"/>
          <p:cNvSpPr txBox="1"/>
          <p:nvPr/>
        </p:nvSpPr>
        <p:spPr>
          <a:xfrm>
            <a:off x="5426964" y="5824728"/>
            <a:ext cx="2528316" cy="457200"/>
          </a:xfrm>
          <a:prstGeom prst="rect">
            <a:avLst/>
          </a:prstGeom>
          <a:noFill/>
          <a:ln/>
        </p:spPr>
        <p:txBody>
          <a:bodyPr wrap="square" lIns="0" tIns="0" rIns="0" bIns="0" rtlCol="0" anchor="ctr"/>
          <a:lstStyle/>
          <a:p>
            <a:pPr algn="l" indent="0" marL="0">
              <a:buNone/>
            </a:pPr>
            <a:r>
              <a:rPr lang="en-US" sz="950" dirty="0">
                <a:solidFill>
                  <a:srgbClr val="2B2F36"/>
                </a:solidFill>
                <a:latin typeface="Calibri" pitchFamily="34" charset="0"/>
                <a:ea typeface="Calibri" pitchFamily="34" charset="-122"/>
                <a:cs typeface="Calibri" pitchFamily="34" charset="-120"/>
              </a:rPr>
              <a:t>estimated global cost of “bad data” in construction in 2020 (Autodesk + FMI)</a:t>
            </a:r>
            <a:endParaRPr lang="en-US" sz="950" dirty="0"/>
          </a:p>
        </p:txBody>
      </p:sp>
      <p:sp>
        <p:nvSpPr>
          <p:cNvPr id="1072" name="Shape 71"/>
          <p:cNvSpPr/>
          <p:nvPr/>
        </p:nvSpPr>
        <p:spPr>
          <a:xfrm>
            <a:off x="8275320" y="4069080"/>
            <a:ext cx="3364992" cy="2194560"/>
          </a:xfrm>
          <a:prstGeom prst="roundRect">
            <a:avLst>
              <a:gd name="adj" fmla="val 2917"/>
            </a:avLst>
          </a:prstGeom>
          <a:solidFill>
            <a:srgbClr val="FFFFFF"/>
          </a:solidFill>
          <a:ln w="9525">
            <a:solidFill>
              <a:srgbClr val="D3D8E0"/>
            </a:solidFill>
            <a:prstDash val="solid"/>
          </a:ln>
        </p:spPr>
      </p:sp>
      <p:sp>
        <p:nvSpPr>
          <p:cNvPr id="1073" name="Text 72"/>
          <p:cNvSpPr txBox="1"/>
          <p:nvPr/>
        </p:nvSpPr>
        <p:spPr>
          <a:xfrm>
            <a:off x="8458200" y="4178808"/>
            <a:ext cx="2999232" cy="201168"/>
          </a:xfrm>
          <a:prstGeom prst="rect">
            <a:avLst/>
          </a:prstGeom>
          <a:noFill/>
          <a:ln/>
        </p:spPr>
        <p:txBody>
          <a:bodyPr wrap="square" lIns="0" tIns="0" rIns="0" bIns="0" rtlCol="0" anchor="t"/>
          <a:lstStyle/>
          <a:p>
            <a:pPr algn="l" indent="0" marL="0">
              <a:buNone/>
            </a:pPr>
            <a:r>
              <a:rPr lang="en-US" sz="1050" b="1" spc="150" kern="0" dirty="0">
                <a:solidFill>
                  <a:srgbClr val="2F6FDB"/>
                </a:solidFill>
                <a:latin typeface="Calibri" pitchFamily="34" charset="0"/>
                <a:ea typeface="Calibri" pitchFamily="34" charset="-122"/>
                <a:cs typeface="Calibri" pitchFamily="34" charset="-120"/>
              </a:rPr>
              <a:t>WHO IS AFFECTED</a:t>
            </a:r>
            <a:endParaRPr lang="en-US" sz="1050" dirty="0"/>
          </a:p>
        </p:txBody>
      </p:sp>
      <p:sp>
        <p:nvSpPr>
          <p:cNvPr id="1074" name="Shape 73"/>
          <p:cNvSpPr/>
          <p:nvPr/>
        </p:nvSpPr>
        <p:spPr>
          <a:xfrm>
            <a:off x="8458200" y="4507992"/>
            <a:ext cx="91440" cy="91440"/>
          </a:xfrm>
          <a:prstGeom prst="ellipse">
            <a:avLst/>
          </a:prstGeom>
          <a:solidFill>
            <a:srgbClr val="2F6FDB"/>
          </a:solidFill>
          <a:ln w="6350">
            <a:solidFill>
              <a:srgbClr val="2F6FDB"/>
            </a:solidFill>
            <a:prstDash val="solid"/>
          </a:ln>
        </p:spPr>
      </p:sp>
      <p:sp>
        <p:nvSpPr>
          <p:cNvPr id="1075" name="Text 74"/>
          <p:cNvSpPr txBox="1"/>
          <p:nvPr/>
        </p:nvSpPr>
        <p:spPr>
          <a:xfrm>
            <a:off x="8659368" y="4434840"/>
            <a:ext cx="2816352" cy="173736"/>
          </a:xfrm>
          <a:prstGeom prst="rect">
            <a:avLst/>
          </a:prstGeom>
          <a:noFill/>
          <a:ln/>
        </p:spPr>
        <p:txBody>
          <a:bodyPr wrap="square" lIns="0" tIns="0" rIns="0" bIns="0" rtlCol="0" anchor="t"/>
          <a:lstStyle/>
          <a:p>
            <a:pPr algn="l" indent="0" marL="0">
              <a:buNone/>
            </a:pPr>
            <a:r>
              <a:rPr lang="en-US" sz="1100" b="1" dirty="0">
                <a:solidFill>
                  <a:srgbClr val="0B1F3A"/>
                </a:solidFill>
                <a:latin typeface="Calibri" pitchFamily="34" charset="0"/>
                <a:ea typeface="Calibri" pitchFamily="34" charset="-122"/>
                <a:cs typeface="Calibri" pitchFamily="34" charset="-120"/>
              </a:rPr>
              <a:t>Architects and designers</a:t>
            </a:r>
            <a:endParaRPr lang="en-US" sz="1100" dirty="0"/>
          </a:p>
        </p:txBody>
      </p:sp>
      <p:sp>
        <p:nvSpPr>
          <p:cNvPr id="1076" name="Text 75"/>
          <p:cNvSpPr txBox="1"/>
          <p:nvPr/>
        </p:nvSpPr>
        <p:spPr>
          <a:xfrm>
            <a:off x="8659368" y="4599432"/>
            <a:ext cx="2816352" cy="155448"/>
          </a:xfrm>
          <a:prstGeom prst="rect">
            <a:avLst/>
          </a:prstGeom>
          <a:noFill/>
          <a:ln/>
        </p:spPr>
        <p:txBody>
          <a:bodyPr wrap="square" lIns="0" tIns="0" rIns="0" bIns="0" rtlCol="0" anchor="t"/>
          <a:lstStyle/>
          <a:p>
            <a:pPr algn="l" indent="0" marL="0">
              <a:buNone/>
            </a:pPr>
            <a:r>
              <a:rPr lang="en-US" sz="950" dirty="0">
                <a:solidFill>
                  <a:srgbClr val="6B7482"/>
                </a:solidFill>
                <a:latin typeface="Calibri" pitchFamily="34" charset="0"/>
                <a:ea typeface="Calibri" pitchFamily="34" charset="-122"/>
                <a:cs typeface="Calibri" pitchFamily="34" charset="-120"/>
              </a:rPr>
              <a:t>Redesign, rework and liability</a:t>
            </a:r>
            <a:endParaRPr lang="en-US" sz="950" dirty="0"/>
          </a:p>
        </p:txBody>
      </p:sp>
      <p:sp>
        <p:nvSpPr>
          <p:cNvPr id="1077" name="Shape 76"/>
          <p:cNvSpPr/>
          <p:nvPr/>
        </p:nvSpPr>
        <p:spPr>
          <a:xfrm>
            <a:off x="8458200" y="4860036"/>
            <a:ext cx="91440" cy="91440"/>
          </a:xfrm>
          <a:prstGeom prst="ellipse">
            <a:avLst/>
          </a:prstGeom>
          <a:solidFill>
            <a:srgbClr val="2F6FDB"/>
          </a:solidFill>
          <a:ln w="6350">
            <a:solidFill>
              <a:srgbClr val="2F6FDB"/>
            </a:solidFill>
            <a:prstDash val="solid"/>
          </a:ln>
        </p:spPr>
      </p:sp>
      <p:sp>
        <p:nvSpPr>
          <p:cNvPr id="1078" name="Text 77"/>
          <p:cNvSpPr txBox="1"/>
          <p:nvPr/>
        </p:nvSpPr>
        <p:spPr>
          <a:xfrm>
            <a:off x="8659368" y="4786884"/>
            <a:ext cx="2816352" cy="173736"/>
          </a:xfrm>
          <a:prstGeom prst="rect">
            <a:avLst/>
          </a:prstGeom>
          <a:noFill/>
          <a:ln/>
        </p:spPr>
        <p:txBody>
          <a:bodyPr wrap="square" lIns="0" tIns="0" rIns="0" bIns="0" rtlCol="0" anchor="t"/>
          <a:lstStyle/>
          <a:p>
            <a:pPr algn="l" indent="0" marL="0">
              <a:buNone/>
            </a:pPr>
            <a:r>
              <a:rPr lang="en-US" sz="1100" b="1" dirty="0">
                <a:solidFill>
                  <a:srgbClr val="0B1F3A"/>
                </a:solidFill>
                <a:latin typeface="Calibri" pitchFamily="34" charset="0"/>
                <a:ea typeface="Calibri" pitchFamily="34" charset="-122"/>
                <a:cs typeface="Calibri" pitchFamily="34" charset="-120"/>
              </a:rPr>
              <a:t>Structural and MEP engineers</a:t>
            </a:r>
            <a:endParaRPr lang="en-US" sz="1100" dirty="0"/>
          </a:p>
        </p:txBody>
      </p:sp>
      <p:sp>
        <p:nvSpPr>
          <p:cNvPr id="1079" name="Text 78"/>
          <p:cNvSpPr txBox="1"/>
          <p:nvPr/>
        </p:nvSpPr>
        <p:spPr>
          <a:xfrm>
            <a:off x="8659368" y="4951476"/>
            <a:ext cx="2816352" cy="155448"/>
          </a:xfrm>
          <a:prstGeom prst="rect">
            <a:avLst/>
          </a:prstGeom>
          <a:noFill/>
          <a:ln/>
        </p:spPr>
        <p:txBody>
          <a:bodyPr wrap="square" lIns="0" tIns="0" rIns="0" bIns="0" rtlCol="0" anchor="t"/>
          <a:lstStyle/>
          <a:p>
            <a:pPr algn="l" indent="0" marL="0">
              <a:buNone/>
            </a:pPr>
            <a:r>
              <a:rPr lang="en-US" sz="950" dirty="0">
                <a:solidFill>
                  <a:srgbClr val="6B7482"/>
                </a:solidFill>
                <a:latin typeface="Calibri" pitchFamily="34" charset="0"/>
                <a:ea typeface="Calibri" pitchFamily="34" charset="-122"/>
                <a:cs typeface="Calibri" pitchFamily="34" charset="-120"/>
              </a:rPr>
              <a:t>Clashes found late</a:t>
            </a:r>
            <a:endParaRPr lang="en-US" sz="950" dirty="0"/>
          </a:p>
        </p:txBody>
      </p:sp>
      <p:sp>
        <p:nvSpPr>
          <p:cNvPr id="1080" name="Shape 79"/>
          <p:cNvSpPr/>
          <p:nvPr/>
        </p:nvSpPr>
        <p:spPr>
          <a:xfrm>
            <a:off x="8458200" y="5212080"/>
            <a:ext cx="91440" cy="91440"/>
          </a:xfrm>
          <a:prstGeom prst="ellipse">
            <a:avLst/>
          </a:prstGeom>
          <a:solidFill>
            <a:srgbClr val="2F6FDB"/>
          </a:solidFill>
          <a:ln w="6350">
            <a:solidFill>
              <a:srgbClr val="2F6FDB"/>
            </a:solidFill>
            <a:prstDash val="solid"/>
          </a:ln>
        </p:spPr>
      </p:sp>
      <p:sp>
        <p:nvSpPr>
          <p:cNvPr id="1081" name="Text 80"/>
          <p:cNvSpPr txBox="1"/>
          <p:nvPr/>
        </p:nvSpPr>
        <p:spPr>
          <a:xfrm>
            <a:off x="8659368" y="5138928"/>
            <a:ext cx="2816352" cy="173736"/>
          </a:xfrm>
          <a:prstGeom prst="rect">
            <a:avLst/>
          </a:prstGeom>
          <a:noFill/>
          <a:ln/>
        </p:spPr>
        <p:txBody>
          <a:bodyPr wrap="square" lIns="0" tIns="0" rIns="0" bIns="0" rtlCol="0" anchor="t"/>
          <a:lstStyle/>
          <a:p>
            <a:pPr algn="l" indent="0" marL="0">
              <a:buNone/>
            </a:pPr>
            <a:r>
              <a:rPr lang="en-US" sz="1100" b="1" dirty="0">
                <a:solidFill>
                  <a:srgbClr val="0B1F3A"/>
                </a:solidFill>
                <a:latin typeface="Calibri" pitchFamily="34" charset="0"/>
                <a:ea typeface="Calibri" pitchFamily="34" charset="-122"/>
                <a:cs typeface="Calibri" pitchFamily="34" charset="-120"/>
              </a:rPr>
              <a:t>BIM coordinators</a:t>
            </a:r>
            <a:endParaRPr lang="en-US" sz="1100" dirty="0"/>
          </a:p>
        </p:txBody>
      </p:sp>
      <p:sp>
        <p:nvSpPr>
          <p:cNvPr id="1082" name="Text 81"/>
          <p:cNvSpPr txBox="1"/>
          <p:nvPr/>
        </p:nvSpPr>
        <p:spPr>
          <a:xfrm>
            <a:off x="8659368" y="5303520"/>
            <a:ext cx="2816352" cy="155448"/>
          </a:xfrm>
          <a:prstGeom prst="rect">
            <a:avLst/>
          </a:prstGeom>
          <a:noFill/>
          <a:ln/>
        </p:spPr>
        <p:txBody>
          <a:bodyPr wrap="square" lIns="0" tIns="0" rIns="0" bIns="0" rtlCol="0" anchor="t"/>
          <a:lstStyle/>
          <a:p>
            <a:pPr algn="l" indent="0" marL="0">
              <a:buNone/>
            </a:pPr>
            <a:r>
              <a:rPr lang="en-US" sz="950" dirty="0">
                <a:solidFill>
                  <a:srgbClr val="6B7482"/>
                </a:solidFill>
                <a:latin typeface="Calibri" pitchFamily="34" charset="0"/>
                <a:ea typeface="Calibri" pitchFamily="34" charset="-122"/>
                <a:cs typeface="Calibri" pitchFamily="34" charset="-120"/>
              </a:rPr>
              <a:t>Manual clash triage and tracing</a:t>
            </a:r>
            <a:endParaRPr lang="en-US" sz="950" dirty="0"/>
          </a:p>
        </p:txBody>
      </p:sp>
      <p:sp>
        <p:nvSpPr>
          <p:cNvPr id="1083" name="Shape 82"/>
          <p:cNvSpPr/>
          <p:nvPr/>
        </p:nvSpPr>
        <p:spPr>
          <a:xfrm>
            <a:off x="8458200" y="5564124"/>
            <a:ext cx="91440" cy="91440"/>
          </a:xfrm>
          <a:prstGeom prst="ellipse">
            <a:avLst/>
          </a:prstGeom>
          <a:solidFill>
            <a:srgbClr val="2F6FDB"/>
          </a:solidFill>
          <a:ln w="6350">
            <a:solidFill>
              <a:srgbClr val="2F6FDB"/>
            </a:solidFill>
            <a:prstDash val="solid"/>
          </a:ln>
        </p:spPr>
      </p:sp>
      <p:sp>
        <p:nvSpPr>
          <p:cNvPr id="1084" name="Text 83"/>
          <p:cNvSpPr txBox="1"/>
          <p:nvPr/>
        </p:nvSpPr>
        <p:spPr>
          <a:xfrm>
            <a:off x="8659368" y="5490972"/>
            <a:ext cx="2816352" cy="173736"/>
          </a:xfrm>
          <a:prstGeom prst="rect">
            <a:avLst/>
          </a:prstGeom>
          <a:noFill/>
          <a:ln/>
        </p:spPr>
        <p:txBody>
          <a:bodyPr wrap="square" lIns="0" tIns="0" rIns="0" bIns="0" rtlCol="0" anchor="t"/>
          <a:lstStyle/>
          <a:p>
            <a:pPr algn="l" indent="0" marL="0">
              <a:buNone/>
            </a:pPr>
            <a:r>
              <a:rPr lang="en-US" sz="1100" b="1" dirty="0">
                <a:solidFill>
                  <a:srgbClr val="0B1F3A"/>
                </a:solidFill>
                <a:latin typeface="Calibri" pitchFamily="34" charset="0"/>
                <a:ea typeface="Calibri" pitchFamily="34" charset="-122"/>
                <a:cs typeface="Calibri" pitchFamily="34" charset="-120"/>
              </a:rPr>
              <a:t>Contractors and trades</a:t>
            </a:r>
            <a:endParaRPr lang="en-US" sz="1100" dirty="0"/>
          </a:p>
        </p:txBody>
      </p:sp>
      <p:sp>
        <p:nvSpPr>
          <p:cNvPr id="1085" name="Text 84"/>
          <p:cNvSpPr txBox="1"/>
          <p:nvPr/>
        </p:nvSpPr>
        <p:spPr>
          <a:xfrm>
            <a:off x="8659368" y="5655564"/>
            <a:ext cx="2816352" cy="155448"/>
          </a:xfrm>
          <a:prstGeom prst="rect">
            <a:avLst/>
          </a:prstGeom>
          <a:noFill/>
          <a:ln/>
        </p:spPr>
        <p:txBody>
          <a:bodyPr wrap="square" lIns="0" tIns="0" rIns="0" bIns="0" rtlCol="0" anchor="t"/>
          <a:lstStyle/>
          <a:p>
            <a:pPr algn="l" indent="0" marL="0">
              <a:buNone/>
            </a:pPr>
            <a:r>
              <a:rPr lang="en-US" sz="950" dirty="0">
                <a:solidFill>
                  <a:srgbClr val="6B7482"/>
                </a:solidFill>
                <a:latin typeface="Calibri" pitchFamily="34" charset="0"/>
                <a:ea typeface="Calibri" pitchFamily="34" charset="-122"/>
                <a:cs typeface="Calibri" pitchFamily="34" charset="-120"/>
              </a:rPr>
              <a:t>RFIs, site rework, idle crews</a:t>
            </a:r>
            <a:endParaRPr lang="en-US" sz="950" dirty="0"/>
          </a:p>
        </p:txBody>
      </p:sp>
      <p:sp>
        <p:nvSpPr>
          <p:cNvPr id="1086" name="Shape 85"/>
          <p:cNvSpPr/>
          <p:nvPr/>
        </p:nvSpPr>
        <p:spPr>
          <a:xfrm>
            <a:off x="8458200" y="5916168"/>
            <a:ext cx="91440" cy="91440"/>
          </a:xfrm>
          <a:prstGeom prst="ellipse">
            <a:avLst/>
          </a:prstGeom>
          <a:solidFill>
            <a:srgbClr val="0B1F3A"/>
          </a:solidFill>
          <a:ln w="6350">
            <a:solidFill>
              <a:srgbClr val="0B1F3A"/>
            </a:solidFill>
            <a:prstDash val="solid"/>
          </a:ln>
        </p:spPr>
      </p:sp>
      <p:sp>
        <p:nvSpPr>
          <p:cNvPr id="1087" name="Text 86"/>
          <p:cNvSpPr txBox="1"/>
          <p:nvPr/>
        </p:nvSpPr>
        <p:spPr>
          <a:xfrm>
            <a:off x="8659368" y="5843016"/>
            <a:ext cx="2816352" cy="173736"/>
          </a:xfrm>
          <a:prstGeom prst="rect">
            <a:avLst/>
          </a:prstGeom>
          <a:noFill/>
          <a:ln/>
        </p:spPr>
        <p:txBody>
          <a:bodyPr wrap="square" lIns="0" tIns="0" rIns="0" bIns="0" rtlCol="0" anchor="t"/>
          <a:lstStyle/>
          <a:p>
            <a:pPr algn="l" indent="0" marL="0">
              <a:buNone/>
            </a:pPr>
            <a:r>
              <a:rPr lang="en-US" sz="1100" b="1" dirty="0">
                <a:solidFill>
                  <a:srgbClr val="0B1F3A"/>
                </a:solidFill>
                <a:latin typeface="Calibri" pitchFamily="34" charset="0"/>
                <a:ea typeface="Calibri" pitchFamily="34" charset="-122"/>
                <a:cs typeface="Calibri" pitchFamily="34" charset="-120"/>
              </a:rPr>
              <a:t>Owners and developers</a:t>
            </a:r>
            <a:endParaRPr lang="en-US" sz="1100" dirty="0"/>
          </a:p>
        </p:txBody>
      </p:sp>
      <p:sp>
        <p:nvSpPr>
          <p:cNvPr id="1088" name="Text 87"/>
          <p:cNvSpPr txBox="1"/>
          <p:nvPr/>
        </p:nvSpPr>
        <p:spPr>
          <a:xfrm>
            <a:off x="8659368" y="6007608"/>
            <a:ext cx="2816352" cy="155448"/>
          </a:xfrm>
          <a:prstGeom prst="rect">
            <a:avLst/>
          </a:prstGeom>
          <a:noFill/>
          <a:ln/>
        </p:spPr>
        <p:txBody>
          <a:bodyPr wrap="square" lIns="0" tIns="0" rIns="0" bIns="0" rtlCol="0" anchor="t"/>
          <a:lstStyle/>
          <a:p>
            <a:pPr algn="l" indent="0" marL="0">
              <a:buNone/>
            </a:pPr>
            <a:r>
              <a:rPr lang="en-US" sz="950" dirty="0">
                <a:solidFill>
                  <a:srgbClr val="6B7482"/>
                </a:solidFill>
                <a:latin typeface="Calibri" pitchFamily="34" charset="0"/>
                <a:ea typeface="Calibri" pitchFamily="34" charset="-122"/>
                <a:cs typeface="Calibri" pitchFamily="34" charset="-120"/>
              </a:rPr>
              <a:t>Overruns, delays, disputes; bear $10.6B of the $15.8B</a:t>
            </a:r>
            <a:endParaRPr lang="en-US" sz="950" dirty="0"/>
          </a:p>
        </p:txBody>
      </p:sp>
      <p:sp>
        <p:nvSpPr>
          <p:cNvPr id="1089" name="Text 88"/>
          <p:cNvSpPr txBox="1"/>
          <p:nvPr/>
        </p:nvSpPr>
        <p:spPr>
          <a:xfrm>
            <a:off x="548640" y="6382512"/>
            <a:ext cx="9601200" cy="182880"/>
          </a:xfrm>
          <a:prstGeom prst="rect">
            <a:avLst/>
          </a:prstGeom>
          <a:noFill/>
          <a:ln/>
        </p:spPr>
        <p:txBody>
          <a:bodyPr wrap="square" lIns="0" tIns="0" rIns="0" bIns="0" rtlCol="0" anchor="t"/>
          <a:lstStyle/>
          <a:p>
            <a:pPr algn="l" indent="0" marL="0">
              <a:buNone/>
            </a:pPr>
            <a:r>
              <a:rPr lang="en-US" sz="900" i="1" dirty="0">
                <a:solidFill>
                  <a:srgbClr val="6B7482"/>
                </a:solidFill>
                <a:latin typeface="Calibri" pitchFamily="34" charset="0"/>
                <a:ea typeface="Calibri" pitchFamily="34" charset="-122"/>
                <a:cs typeface="Calibri" pitchFamily="34" charset="-120"/>
              </a:rPr>
              <a:t>Industry-wide figures, not AERES results. Sources are listed in the speaker notes.</a:t>
            </a:r>
            <a:endParaRPr lang="en-US" sz="900" dirty="0"/>
          </a:p>
        </p:txBody>
      </p:sp>
      <p:sp>
        <p:nvSpPr>
          <p:cNvPr id="6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482"/>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60120"/>
          </a:xfrm>
          <a:prstGeom prst="rect">
            <a:avLst/>
          </a:prstGeom>
          <a:noFill/>
          <a:ln/>
        </p:spPr>
        <p:txBody>
          <a:bodyPr wrap="square" lIns="0" tIns="0" rIns="0" bIns="0" rtlCol="0" anchor="t"/>
          <a:lstStyle/>
          <a:p>
            <a:pPr marL="0" indent="0" algn="l">
              <a:buNone/>
            </a:pPr>
            <a:r>
              <a:rPr lang="en-US" sz="2800" b="1" dirty="0">
                <a:solidFill>
                  <a:srgbClr val="0B1F3A"/>
                </a:solidFill>
                <a:latin typeface="Calibri" pitchFamily="34" charset="0"/>
                <a:ea typeface="Calibri" pitchFamily="34" charset="-122"/>
                <a:cs typeface="Calibri" pitchFamily="34" charset="-120"/>
              </a:rPr>
              <a:t>AERES traces every change to its consequences before they reach site</a:t>
            </a:r>
            <a:endParaRPr lang="en-US" sz="2800" dirty="0"/>
          </a:p>
        </p:txBody>
      </p:sp>
      <p:sp>
        <p:nvSpPr>
          <p:cNvPr id="1001" name="Text 0"/>
          <p:cNvSpPr txBox="1"/>
          <p:nvPr/>
        </p:nvSpPr>
        <p:spPr>
          <a:xfrm>
            <a:off x="548640" y="1097280"/>
            <a:ext cx="5486400" cy="201168"/>
          </a:xfrm>
          <a:prstGeom prst="rect">
            <a:avLst/>
          </a:prstGeom>
          <a:noFill/>
          <a:ln/>
        </p:spPr>
        <p:txBody>
          <a:bodyPr wrap="square" lIns="0" tIns="0" rIns="0" bIns="0" rtlCol="0" anchor="t"/>
          <a:lstStyle/>
          <a:p>
            <a:pPr algn="l" indent="0" marL="0">
              <a:buNone/>
            </a:pPr>
            <a:r>
              <a:rPr lang="en-US" sz="1050" b="1" spc="150" kern="0" dirty="0">
                <a:solidFill>
                  <a:srgbClr val="2F6FDB"/>
                </a:solidFill>
                <a:latin typeface="Calibri" pitchFamily="34" charset="0"/>
                <a:ea typeface="Calibri" pitchFamily="34" charset="-122"/>
                <a:cs typeface="Calibri" pitchFamily="34" charset="-120"/>
              </a:rPr>
              <a:t>HOW AERES SOLVES IT</a:t>
            </a:r>
            <a:endParaRPr lang="en-US" sz="1050" dirty="0"/>
          </a:p>
        </p:txBody>
      </p:sp>
      <p:sp>
        <p:nvSpPr>
          <p:cNvPr id="1002" name="Shape 1"/>
          <p:cNvSpPr/>
          <p:nvPr/>
        </p:nvSpPr>
        <p:spPr>
          <a:xfrm>
            <a:off x="548640" y="1371600"/>
            <a:ext cx="2606040" cy="2286000"/>
          </a:xfrm>
          <a:prstGeom prst="roundRect">
            <a:avLst>
              <a:gd name="adj" fmla="val 2800"/>
            </a:avLst>
          </a:prstGeom>
          <a:solidFill>
            <a:srgbClr val="FFFFFF"/>
          </a:solidFill>
          <a:ln w="9525">
            <a:solidFill>
              <a:srgbClr val="D3D8E0"/>
            </a:solidFill>
            <a:prstDash val="solid"/>
          </a:ln>
        </p:spPr>
      </p:sp>
      <p:sp>
        <p:nvSpPr>
          <p:cNvPr id="1003" name="Text 2"/>
          <p:cNvSpPr/>
          <p:nvPr/>
        </p:nvSpPr>
        <p:spPr>
          <a:xfrm>
            <a:off x="731520" y="1536192"/>
            <a:ext cx="310896" cy="310896"/>
          </a:xfrm>
          <a:prstGeom prst="ellipse">
            <a:avLst/>
          </a:prstGeom>
          <a:solidFill>
            <a:srgbClr val="2F6FDB"/>
          </a:solidFill>
          <a:ln w="6350">
            <a:solidFill>
              <a:srgbClr val="2F6FD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04" name="Text 3"/>
          <p:cNvSpPr txBox="1"/>
          <p:nvPr/>
        </p:nvSpPr>
        <p:spPr>
          <a:xfrm>
            <a:off x="1143000" y="1536192"/>
            <a:ext cx="1828800" cy="310896"/>
          </a:xfrm>
          <a:prstGeom prst="rect">
            <a:avLst/>
          </a:prstGeom>
          <a:noFill/>
          <a:ln/>
        </p:spPr>
        <p:txBody>
          <a:bodyPr wrap="square" lIns="0" tIns="0" rIns="0" bIns="0" rtlCol="0" anchor="ctr"/>
          <a:lstStyle/>
          <a:p>
            <a:pPr algn="l" indent="0" marL="0">
              <a:buNone/>
            </a:pPr>
            <a:r>
              <a:rPr lang="en-US" sz="1050" b="1" spc="150" kern="0" dirty="0">
                <a:solidFill>
                  <a:srgbClr val="2F6FDB"/>
                </a:solidFill>
                <a:latin typeface="Calibri" pitchFamily="34" charset="0"/>
                <a:ea typeface="Calibri" pitchFamily="34" charset="-122"/>
                <a:cs typeface="Calibri" pitchFamily="34" charset="-120"/>
              </a:rPr>
              <a:t>UNDERSTAND</a:t>
            </a:r>
            <a:endParaRPr lang="en-US" sz="1050" dirty="0"/>
          </a:p>
        </p:txBody>
      </p:sp>
      <p:sp>
        <p:nvSpPr>
          <p:cNvPr id="1005" name="Text 4"/>
          <p:cNvSpPr txBox="1"/>
          <p:nvPr/>
        </p:nvSpPr>
        <p:spPr>
          <a:xfrm>
            <a:off x="731520" y="1993392"/>
            <a:ext cx="2240280" cy="274320"/>
          </a:xfrm>
          <a:prstGeom prst="rect">
            <a:avLst/>
          </a:prstGeom>
          <a:noFill/>
          <a:ln/>
        </p:spPr>
        <p:txBody>
          <a:bodyPr wrap="square" lIns="0" tIns="0" rIns="0" bIns="0" rtlCol="0" anchor="t"/>
          <a:lstStyle/>
          <a:p>
            <a:pPr algn="l" indent="0" marL="0">
              <a:buNone/>
            </a:pPr>
            <a:r>
              <a:rPr lang="en-US" sz="1500" b="1" dirty="0">
                <a:solidFill>
                  <a:srgbClr val="0B1F3A"/>
                </a:solidFill>
                <a:latin typeface="Calibri" pitchFamily="34" charset="0"/>
                <a:ea typeface="Calibri" pitchFamily="34" charset="-122"/>
                <a:cs typeface="Calibri" pitchFamily="34" charset="-120"/>
              </a:rPr>
              <a:t>Read every source</a:t>
            </a:r>
            <a:endParaRPr lang="en-US" sz="1500" dirty="0"/>
          </a:p>
        </p:txBody>
      </p:sp>
      <p:sp>
        <p:nvSpPr>
          <p:cNvPr id="1006" name="Text 5"/>
          <p:cNvSpPr txBox="1"/>
          <p:nvPr/>
        </p:nvSpPr>
        <p:spPr>
          <a:xfrm>
            <a:off x="731520" y="2331720"/>
            <a:ext cx="2240280" cy="868680"/>
          </a:xfrm>
          <a:prstGeom prst="rect">
            <a:avLst/>
          </a:prstGeom>
          <a:noFill/>
          <a:ln/>
        </p:spPr>
        <p:txBody>
          <a:bodyPr wrap="square" lIns="0" tIns="0" rIns="0" bIns="0" rtlCol="0" anchor="t"/>
          <a:lstStyle/>
          <a:p>
            <a:pPr algn="l" indent="0" marL="0">
              <a:buNone/>
            </a:pPr>
            <a:r>
              <a:rPr lang="en-US" sz="1100" dirty="0">
                <a:solidFill>
                  <a:srgbClr val="2B2F36"/>
                </a:solidFill>
                <a:latin typeface="Calibri" pitchFamily="34" charset="0"/>
                <a:ea typeface="Calibri" pitchFamily="34" charset="-122"/>
                <a:cs typeface="Calibri" pitchFamily="34" charset="-120"/>
              </a:rPr>
              <a:t>AI vision and language models read drawings, BIM/IFC, specs, codes and site data in their native formats.</a:t>
            </a:r>
            <a:endParaRPr lang="en-US" sz="1100" dirty="0"/>
          </a:p>
        </p:txBody>
      </p:sp>
      <p:sp>
        <p:nvSpPr>
          <p:cNvPr id="1007" name="Text 6"/>
          <p:cNvSpPr/>
          <p:nvPr/>
        </p:nvSpPr>
        <p:spPr>
          <a:xfrm>
            <a:off x="731520" y="3200400"/>
            <a:ext cx="2240280" cy="292608"/>
          </a:xfrm>
          <a:prstGeom prst="roundRect">
            <a:avLst>
              <a:gd name="adj" fmla="val 15625"/>
            </a:avLst>
          </a:prstGeom>
          <a:solidFill>
            <a:srgbClr val="E8EFFA"/>
          </a:solidFill>
          <a:ln w="6350">
            <a:solidFill>
              <a:srgbClr val="C9D9F5"/>
            </a:solid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Fixes: fragmented information</a:t>
            </a:r>
            <a:endParaRPr lang="en-US" sz="1000" dirty="0"/>
          </a:p>
        </p:txBody>
      </p:sp>
      <p:sp>
        <p:nvSpPr>
          <p:cNvPr id="1008" name="Shape 7"/>
          <p:cNvSpPr/>
          <p:nvPr/>
        </p:nvSpPr>
        <p:spPr>
          <a:xfrm>
            <a:off x="3191256" y="2395728"/>
            <a:ext cx="149352" cy="237744"/>
          </a:xfrm>
          <a:prstGeom prst="chevron">
            <a:avLst/>
          </a:prstGeom>
          <a:solidFill>
            <a:srgbClr val="9DB8E8"/>
          </a:solidFill>
          <a:ln w="6350">
            <a:solidFill>
              <a:srgbClr val="9DB8E8"/>
            </a:solidFill>
            <a:prstDash val="solid"/>
          </a:ln>
        </p:spPr>
      </p:sp>
      <p:sp>
        <p:nvSpPr>
          <p:cNvPr id="1009" name="Shape 8"/>
          <p:cNvSpPr/>
          <p:nvPr/>
        </p:nvSpPr>
        <p:spPr>
          <a:xfrm>
            <a:off x="3377184" y="1371600"/>
            <a:ext cx="2606040" cy="2286000"/>
          </a:xfrm>
          <a:prstGeom prst="roundRect">
            <a:avLst>
              <a:gd name="adj" fmla="val 2800"/>
            </a:avLst>
          </a:prstGeom>
          <a:solidFill>
            <a:srgbClr val="FFFFFF"/>
          </a:solidFill>
          <a:ln w="9525">
            <a:solidFill>
              <a:srgbClr val="D3D8E0"/>
            </a:solidFill>
            <a:prstDash val="solid"/>
          </a:ln>
        </p:spPr>
      </p:sp>
      <p:sp>
        <p:nvSpPr>
          <p:cNvPr id="1010" name="Text 9"/>
          <p:cNvSpPr/>
          <p:nvPr/>
        </p:nvSpPr>
        <p:spPr>
          <a:xfrm>
            <a:off x="3560064" y="1536192"/>
            <a:ext cx="310896" cy="310896"/>
          </a:xfrm>
          <a:prstGeom prst="ellipse">
            <a:avLst/>
          </a:prstGeom>
          <a:solidFill>
            <a:srgbClr val="2F6FDB"/>
          </a:solidFill>
          <a:ln w="6350">
            <a:solidFill>
              <a:srgbClr val="2F6FD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11" name="Text 10"/>
          <p:cNvSpPr txBox="1"/>
          <p:nvPr/>
        </p:nvSpPr>
        <p:spPr>
          <a:xfrm>
            <a:off x="3971544" y="1536192"/>
            <a:ext cx="1828800" cy="310896"/>
          </a:xfrm>
          <a:prstGeom prst="rect">
            <a:avLst/>
          </a:prstGeom>
          <a:noFill/>
          <a:ln/>
        </p:spPr>
        <p:txBody>
          <a:bodyPr wrap="square" lIns="0" tIns="0" rIns="0" bIns="0" rtlCol="0" anchor="ctr"/>
          <a:lstStyle/>
          <a:p>
            <a:pPr algn="l" indent="0" marL="0">
              <a:buNone/>
            </a:pPr>
            <a:r>
              <a:rPr lang="en-US" sz="1050" b="1" spc="150" kern="0" dirty="0">
                <a:solidFill>
                  <a:srgbClr val="2F6FDB"/>
                </a:solidFill>
                <a:latin typeface="Calibri" pitchFamily="34" charset="0"/>
                <a:ea typeface="Calibri" pitchFamily="34" charset="-122"/>
                <a:cs typeface="Calibri" pitchFamily="34" charset="-120"/>
              </a:rPr>
              <a:t>CONNECT</a:t>
            </a:r>
            <a:endParaRPr lang="en-US" sz="1050" dirty="0"/>
          </a:p>
        </p:txBody>
      </p:sp>
      <p:sp>
        <p:nvSpPr>
          <p:cNvPr id="1012" name="Text 11"/>
          <p:cNvSpPr txBox="1"/>
          <p:nvPr/>
        </p:nvSpPr>
        <p:spPr>
          <a:xfrm>
            <a:off x="3560064" y="1993392"/>
            <a:ext cx="2240280" cy="274320"/>
          </a:xfrm>
          <a:prstGeom prst="rect">
            <a:avLst/>
          </a:prstGeom>
          <a:noFill/>
          <a:ln/>
        </p:spPr>
        <p:txBody>
          <a:bodyPr wrap="square" lIns="0" tIns="0" rIns="0" bIns="0" rtlCol="0" anchor="t"/>
          <a:lstStyle/>
          <a:p>
            <a:pPr algn="l" indent="0" marL="0">
              <a:buNone/>
            </a:pPr>
            <a:r>
              <a:rPr lang="en-US" sz="1500" b="1" dirty="0">
                <a:solidFill>
                  <a:srgbClr val="0B1F3A"/>
                </a:solidFill>
                <a:latin typeface="Calibri" pitchFamily="34" charset="0"/>
                <a:ea typeface="Calibri" pitchFamily="34" charset="-122"/>
                <a:cs typeface="Calibri" pitchFamily="34" charset="-120"/>
              </a:rPr>
              <a:t>Build one linked model</a:t>
            </a:r>
            <a:endParaRPr lang="en-US" sz="1500" dirty="0"/>
          </a:p>
        </p:txBody>
      </p:sp>
      <p:sp>
        <p:nvSpPr>
          <p:cNvPr id="1013" name="Text 12"/>
          <p:cNvSpPr txBox="1"/>
          <p:nvPr/>
        </p:nvSpPr>
        <p:spPr>
          <a:xfrm>
            <a:off x="3560064" y="2331720"/>
            <a:ext cx="2240280" cy="868680"/>
          </a:xfrm>
          <a:prstGeom prst="rect">
            <a:avLst/>
          </a:prstGeom>
          <a:noFill/>
          <a:ln/>
        </p:spPr>
        <p:txBody>
          <a:bodyPr wrap="square" lIns="0" tIns="0" rIns="0" bIns="0" rtlCol="0" anchor="t"/>
          <a:lstStyle/>
          <a:p>
            <a:pPr algn="l" indent="0" marL="0">
              <a:buNone/>
            </a:pPr>
            <a:r>
              <a:rPr lang="en-US" sz="1100" dirty="0">
                <a:solidFill>
                  <a:srgbClr val="2B2F36"/>
                </a:solidFill>
                <a:latin typeface="Calibri" pitchFamily="34" charset="0"/>
                <a:ea typeface="Calibri" pitchFamily="34" charset="-122"/>
                <a:cs typeface="Calibri" pitchFamily="34" charset="-120"/>
              </a:rPr>
              <a:t>Elements, geometry, requirements and revisions become a graph of entities, links and cited evidence.</a:t>
            </a:r>
            <a:endParaRPr lang="en-US" sz="1100" dirty="0"/>
          </a:p>
        </p:txBody>
      </p:sp>
      <p:sp>
        <p:nvSpPr>
          <p:cNvPr id="1014" name="Text 13"/>
          <p:cNvSpPr/>
          <p:nvPr/>
        </p:nvSpPr>
        <p:spPr>
          <a:xfrm>
            <a:off x="3560064" y="3200400"/>
            <a:ext cx="2240280" cy="292608"/>
          </a:xfrm>
          <a:prstGeom prst="roundRect">
            <a:avLst>
              <a:gd name="adj" fmla="val 15625"/>
            </a:avLst>
          </a:prstGeom>
          <a:solidFill>
            <a:srgbClr val="E8EFFA"/>
          </a:solidFill>
          <a:ln w="6350">
            <a:solidFill>
              <a:srgbClr val="C9D9F5"/>
            </a:solid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Fixes: teams working in silos</a:t>
            </a:r>
            <a:endParaRPr lang="en-US" sz="1000" dirty="0"/>
          </a:p>
        </p:txBody>
      </p:sp>
      <p:sp>
        <p:nvSpPr>
          <p:cNvPr id="1015" name="Shape 14"/>
          <p:cNvSpPr/>
          <p:nvPr/>
        </p:nvSpPr>
        <p:spPr>
          <a:xfrm>
            <a:off x="6019800" y="2395728"/>
            <a:ext cx="149352" cy="237744"/>
          </a:xfrm>
          <a:prstGeom prst="chevron">
            <a:avLst/>
          </a:prstGeom>
          <a:solidFill>
            <a:srgbClr val="9DB8E8"/>
          </a:solidFill>
          <a:ln w="6350">
            <a:solidFill>
              <a:srgbClr val="9DB8E8"/>
            </a:solidFill>
            <a:prstDash val="solid"/>
          </a:ln>
        </p:spPr>
      </p:sp>
      <p:sp>
        <p:nvSpPr>
          <p:cNvPr id="1016" name="Shape 15"/>
          <p:cNvSpPr/>
          <p:nvPr/>
        </p:nvSpPr>
        <p:spPr>
          <a:xfrm>
            <a:off x="6205728" y="1371600"/>
            <a:ext cx="2606040" cy="2286000"/>
          </a:xfrm>
          <a:prstGeom prst="roundRect">
            <a:avLst>
              <a:gd name="adj" fmla="val 2800"/>
            </a:avLst>
          </a:prstGeom>
          <a:solidFill>
            <a:srgbClr val="FFFFFF"/>
          </a:solidFill>
          <a:ln w="9525">
            <a:solidFill>
              <a:srgbClr val="D3D8E0"/>
            </a:solidFill>
            <a:prstDash val="solid"/>
          </a:ln>
        </p:spPr>
      </p:sp>
      <p:sp>
        <p:nvSpPr>
          <p:cNvPr id="1017" name="Text 16"/>
          <p:cNvSpPr/>
          <p:nvPr/>
        </p:nvSpPr>
        <p:spPr>
          <a:xfrm>
            <a:off x="6388608" y="1536192"/>
            <a:ext cx="310896" cy="310896"/>
          </a:xfrm>
          <a:prstGeom prst="ellipse">
            <a:avLst/>
          </a:prstGeom>
          <a:solidFill>
            <a:srgbClr val="2F6FDB"/>
          </a:solidFill>
          <a:ln w="6350">
            <a:solidFill>
              <a:srgbClr val="2F6FD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018" name="Text 17"/>
          <p:cNvSpPr txBox="1"/>
          <p:nvPr/>
        </p:nvSpPr>
        <p:spPr>
          <a:xfrm>
            <a:off x="6800088" y="1536192"/>
            <a:ext cx="1828800" cy="310896"/>
          </a:xfrm>
          <a:prstGeom prst="rect">
            <a:avLst/>
          </a:prstGeom>
          <a:noFill/>
          <a:ln/>
        </p:spPr>
        <p:txBody>
          <a:bodyPr wrap="square" lIns="0" tIns="0" rIns="0" bIns="0" rtlCol="0" anchor="ctr"/>
          <a:lstStyle/>
          <a:p>
            <a:pPr algn="l" indent="0" marL="0">
              <a:buNone/>
            </a:pPr>
            <a:r>
              <a:rPr lang="en-US" sz="1050" b="1" spc="150" kern="0" dirty="0">
                <a:solidFill>
                  <a:srgbClr val="2F6FDB"/>
                </a:solidFill>
                <a:latin typeface="Calibri" pitchFamily="34" charset="0"/>
                <a:ea typeface="Calibri" pitchFamily="34" charset="-122"/>
                <a:cs typeface="Calibri" pitchFamily="34" charset="-120"/>
              </a:rPr>
              <a:t>REASON</a:t>
            </a:r>
            <a:endParaRPr lang="en-US" sz="1050" dirty="0"/>
          </a:p>
        </p:txBody>
      </p:sp>
      <p:sp>
        <p:nvSpPr>
          <p:cNvPr id="1019" name="Text 18"/>
          <p:cNvSpPr txBox="1"/>
          <p:nvPr/>
        </p:nvSpPr>
        <p:spPr>
          <a:xfrm>
            <a:off x="6388608" y="1993392"/>
            <a:ext cx="2240280" cy="274320"/>
          </a:xfrm>
          <a:prstGeom prst="rect">
            <a:avLst/>
          </a:prstGeom>
          <a:noFill/>
          <a:ln/>
        </p:spPr>
        <p:txBody>
          <a:bodyPr wrap="square" lIns="0" tIns="0" rIns="0" bIns="0" rtlCol="0" anchor="t"/>
          <a:lstStyle/>
          <a:p>
            <a:pPr algn="l" indent="0" marL="0">
              <a:buNone/>
            </a:pPr>
            <a:r>
              <a:rPr lang="en-US" sz="1500" b="1" dirty="0">
                <a:solidFill>
                  <a:srgbClr val="0B1F3A"/>
                </a:solidFill>
                <a:latin typeface="Calibri" pitchFamily="34" charset="0"/>
                <a:ea typeface="Calibri" pitchFamily="34" charset="-122"/>
                <a:cs typeface="Calibri" pitchFamily="34" charset="-120"/>
              </a:rPr>
              <a:t>Trace each change</a:t>
            </a:r>
            <a:endParaRPr lang="en-US" sz="1500" dirty="0"/>
          </a:p>
        </p:txBody>
      </p:sp>
      <p:sp>
        <p:nvSpPr>
          <p:cNvPr id="1020" name="Text 19"/>
          <p:cNvSpPr txBox="1"/>
          <p:nvPr/>
        </p:nvSpPr>
        <p:spPr>
          <a:xfrm>
            <a:off x="6388608" y="2331720"/>
            <a:ext cx="2240280" cy="868680"/>
          </a:xfrm>
          <a:prstGeom prst="rect">
            <a:avLst/>
          </a:prstGeom>
          <a:noFill/>
          <a:ln/>
        </p:spPr>
        <p:txBody>
          <a:bodyPr wrap="square" lIns="0" tIns="0" rIns="0" bIns="0" rtlCol="0" anchor="t"/>
          <a:lstStyle/>
          <a:p>
            <a:pPr algn="l" indent="0" marL="0">
              <a:buNone/>
            </a:pPr>
            <a:r>
              <a:rPr lang="en-US" sz="1100" dirty="0">
                <a:solidFill>
                  <a:srgbClr val="2B2F36"/>
                </a:solidFill>
                <a:latin typeface="Calibri" pitchFamily="34" charset="0"/>
                <a:ea typeface="Calibri" pitchFamily="34" charset="-122"/>
                <a:cs typeface="Calibri" pitchFamily="34" charset="-120"/>
              </a:rPr>
              <a:t>A revision walks the links; rules, geometry checks and solvers test every affected requirement.</a:t>
            </a:r>
            <a:endParaRPr lang="en-US" sz="1100" dirty="0"/>
          </a:p>
        </p:txBody>
      </p:sp>
      <p:sp>
        <p:nvSpPr>
          <p:cNvPr id="1021" name="Text 20"/>
          <p:cNvSpPr/>
          <p:nvPr/>
        </p:nvSpPr>
        <p:spPr>
          <a:xfrm>
            <a:off x="6388608" y="3200400"/>
            <a:ext cx="2240280" cy="292608"/>
          </a:xfrm>
          <a:prstGeom prst="roundRect">
            <a:avLst>
              <a:gd name="adj" fmla="val 15625"/>
            </a:avLst>
          </a:prstGeom>
          <a:solidFill>
            <a:srgbClr val="E8EFFA"/>
          </a:solidFill>
          <a:ln w="6350">
            <a:solidFill>
              <a:srgbClr val="C9D9F5"/>
            </a:solid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Fixes: links held in heads</a:t>
            </a:r>
            <a:endParaRPr lang="en-US" sz="1000" dirty="0"/>
          </a:p>
        </p:txBody>
      </p:sp>
      <p:sp>
        <p:nvSpPr>
          <p:cNvPr id="1022" name="Shape 21"/>
          <p:cNvSpPr/>
          <p:nvPr/>
        </p:nvSpPr>
        <p:spPr>
          <a:xfrm>
            <a:off x="8848344" y="2395728"/>
            <a:ext cx="149352" cy="237744"/>
          </a:xfrm>
          <a:prstGeom prst="chevron">
            <a:avLst/>
          </a:prstGeom>
          <a:solidFill>
            <a:srgbClr val="9DB8E8"/>
          </a:solidFill>
          <a:ln w="6350">
            <a:solidFill>
              <a:srgbClr val="9DB8E8"/>
            </a:solidFill>
            <a:prstDash val="solid"/>
          </a:ln>
        </p:spPr>
      </p:sp>
      <p:sp>
        <p:nvSpPr>
          <p:cNvPr id="1023" name="Shape 22"/>
          <p:cNvSpPr/>
          <p:nvPr/>
        </p:nvSpPr>
        <p:spPr>
          <a:xfrm>
            <a:off x="9034272" y="1371600"/>
            <a:ext cx="2606040" cy="2286000"/>
          </a:xfrm>
          <a:prstGeom prst="roundRect">
            <a:avLst>
              <a:gd name="adj" fmla="val 2800"/>
            </a:avLst>
          </a:prstGeom>
          <a:solidFill>
            <a:srgbClr val="FFFFFF"/>
          </a:solidFill>
          <a:ln w="9525">
            <a:solidFill>
              <a:srgbClr val="D3D8E0"/>
            </a:solidFill>
            <a:prstDash val="solid"/>
          </a:ln>
        </p:spPr>
      </p:sp>
      <p:sp>
        <p:nvSpPr>
          <p:cNvPr id="1024" name="Text 23"/>
          <p:cNvSpPr/>
          <p:nvPr/>
        </p:nvSpPr>
        <p:spPr>
          <a:xfrm>
            <a:off x="9217152" y="1536192"/>
            <a:ext cx="310896" cy="310896"/>
          </a:xfrm>
          <a:prstGeom prst="ellipse">
            <a:avLst/>
          </a:prstGeom>
          <a:solidFill>
            <a:srgbClr val="0B1F3A"/>
          </a:solidFill>
          <a:ln w="6350">
            <a:solidFill>
              <a:srgbClr val="0B1F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025" name="Text 24"/>
          <p:cNvSpPr txBox="1"/>
          <p:nvPr/>
        </p:nvSpPr>
        <p:spPr>
          <a:xfrm>
            <a:off x="9628632" y="1536192"/>
            <a:ext cx="1828800" cy="310896"/>
          </a:xfrm>
          <a:prstGeom prst="rect">
            <a:avLst/>
          </a:prstGeom>
          <a:noFill/>
          <a:ln/>
        </p:spPr>
        <p:txBody>
          <a:bodyPr wrap="square" lIns="0" tIns="0" rIns="0" bIns="0" rtlCol="0" anchor="ctr"/>
          <a:lstStyle/>
          <a:p>
            <a:pPr algn="l" indent="0" marL="0">
              <a:buNone/>
            </a:pPr>
            <a:r>
              <a:rPr lang="en-US" sz="1050" b="1" spc="150" kern="0" dirty="0">
                <a:solidFill>
                  <a:srgbClr val="2F6FDB"/>
                </a:solidFill>
                <a:latin typeface="Calibri" pitchFamily="34" charset="0"/>
                <a:ea typeface="Calibri" pitchFamily="34" charset="-122"/>
                <a:cs typeface="Calibri" pitchFamily="34" charset="-120"/>
              </a:rPr>
              <a:t>DECIDE</a:t>
            </a:r>
            <a:endParaRPr lang="en-US" sz="1050" dirty="0"/>
          </a:p>
        </p:txBody>
      </p:sp>
      <p:sp>
        <p:nvSpPr>
          <p:cNvPr id="1026" name="Text 25"/>
          <p:cNvSpPr txBox="1"/>
          <p:nvPr/>
        </p:nvSpPr>
        <p:spPr>
          <a:xfrm>
            <a:off x="9217152" y="1993392"/>
            <a:ext cx="2240280" cy="274320"/>
          </a:xfrm>
          <a:prstGeom prst="rect">
            <a:avLst/>
          </a:prstGeom>
          <a:noFill/>
          <a:ln/>
        </p:spPr>
        <p:txBody>
          <a:bodyPr wrap="square" lIns="0" tIns="0" rIns="0" bIns="0" rtlCol="0" anchor="t"/>
          <a:lstStyle/>
          <a:p>
            <a:pPr algn="l" indent="0" marL="0">
              <a:buNone/>
            </a:pPr>
            <a:r>
              <a:rPr lang="en-US" sz="1500" b="1" dirty="0">
                <a:solidFill>
                  <a:srgbClr val="0B1F3A"/>
                </a:solidFill>
                <a:latin typeface="Calibri" pitchFamily="34" charset="0"/>
                <a:ea typeface="Calibri" pitchFamily="34" charset="-122"/>
                <a:cs typeface="Calibri" pitchFamily="34" charset="-120"/>
              </a:rPr>
              <a:t>Flag with evidence</a:t>
            </a:r>
            <a:endParaRPr lang="en-US" sz="1500" dirty="0"/>
          </a:p>
        </p:txBody>
      </p:sp>
      <p:sp>
        <p:nvSpPr>
          <p:cNvPr id="1027" name="Text 26"/>
          <p:cNvSpPr txBox="1"/>
          <p:nvPr/>
        </p:nvSpPr>
        <p:spPr>
          <a:xfrm>
            <a:off x="9217152" y="2331720"/>
            <a:ext cx="2240280" cy="868680"/>
          </a:xfrm>
          <a:prstGeom prst="rect">
            <a:avLst/>
          </a:prstGeom>
          <a:noFill/>
          <a:ln/>
        </p:spPr>
        <p:txBody>
          <a:bodyPr wrap="square" lIns="0" tIns="0" rIns="0" bIns="0" rtlCol="0" anchor="t"/>
          <a:lstStyle/>
          <a:p>
            <a:pPr algn="l" indent="0" marL="0">
              <a:buNone/>
            </a:pPr>
            <a:r>
              <a:rPr lang="en-US" sz="1100" dirty="0">
                <a:solidFill>
                  <a:srgbClr val="2B2F36"/>
                </a:solidFill>
                <a:latin typeface="Calibri" pitchFamily="34" charset="0"/>
                <a:ea typeface="Calibri" pitchFamily="34" charset="-122"/>
                <a:cs typeface="Calibri" pitchFamily="34" charset="-120"/>
              </a:rPr>
              <a:t>Findings arrive with sources, affected elements and a next action. A professional decides; changes trigger reanalysis.</a:t>
            </a:r>
            <a:endParaRPr lang="en-US" sz="1100" dirty="0"/>
          </a:p>
        </p:txBody>
      </p:sp>
      <p:sp>
        <p:nvSpPr>
          <p:cNvPr id="1028" name="Text 27"/>
          <p:cNvSpPr/>
          <p:nvPr/>
        </p:nvSpPr>
        <p:spPr>
          <a:xfrm>
            <a:off x="9217152" y="3200400"/>
            <a:ext cx="2240280" cy="292608"/>
          </a:xfrm>
          <a:prstGeom prst="roundRect">
            <a:avLst>
              <a:gd name="adj" fmla="val 15625"/>
            </a:avLst>
          </a:prstGeom>
          <a:solidFill>
            <a:srgbClr val="E8EFFA"/>
          </a:solidFill>
          <a:ln w="6350">
            <a:solidFill>
              <a:srgbClr val="C9D9F5"/>
            </a:solid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Fixes: late discovery</a:t>
            </a:r>
            <a:endParaRPr lang="en-US" sz="1000" dirty="0"/>
          </a:p>
        </p:txBody>
      </p:sp>
      <p:sp>
        <p:nvSpPr>
          <p:cNvPr id="1029" name="Text 28"/>
          <p:cNvSpPr txBox="1"/>
          <p:nvPr/>
        </p:nvSpPr>
        <p:spPr>
          <a:xfrm>
            <a:off x="548640" y="3931920"/>
            <a:ext cx="5486400" cy="201168"/>
          </a:xfrm>
          <a:prstGeom prst="rect">
            <a:avLst/>
          </a:prstGeom>
          <a:noFill/>
          <a:ln/>
        </p:spPr>
        <p:txBody>
          <a:bodyPr wrap="square" lIns="0" tIns="0" rIns="0" bIns="0" rtlCol="0" anchor="t"/>
          <a:lstStyle/>
          <a:p>
            <a:pPr algn="l" indent="0" marL="0">
              <a:buNone/>
            </a:pPr>
            <a:r>
              <a:rPr lang="en-US" sz="1050" b="1" spc="150" kern="0" dirty="0">
                <a:solidFill>
                  <a:srgbClr val="2F6FDB"/>
                </a:solidFill>
                <a:latin typeface="Calibri" pitchFamily="34" charset="0"/>
                <a:ea typeface="Calibri" pitchFamily="34" charset="-122"/>
                <a:cs typeface="Calibri" pitchFamily="34" charset="-120"/>
              </a:rPr>
              <a:t>HOW WE BENEFIT</a:t>
            </a:r>
            <a:endParaRPr lang="en-US" sz="1050" dirty="0"/>
          </a:p>
        </p:txBody>
      </p:sp>
      <p:sp>
        <p:nvSpPr>
          <p:cNvPr id="1030" name="Shape 29"/>
          <p:cNvSpPr/>
          <p:nvPr/>
        </p:nvSpPr>
        <p:spPr>
          <a:xfrm>
            <a:off x="548640" y="4206240"/>
            <a:ext cx="2606040" cy="1965960"/>
          </a:xfrm>
          <a:prstGeom prst="roundRect">
            <a:avLst>
              <a:gd name="adj" fmla="val 3256"/>
            </a:avLst>
          </a:prstGeom>
          <a:solidFill>
            <a:srgbClr val="E8EFFA"/>
          </a:solidFill>
          <a:ln w="9525">
            <a:solidFill>
              <a:srgbClr val="C9D9F5"/>
            </a:solidFill>
            <a:prstDash val="solid"/>
          </a:ln>
        </p:spPr>
      </p:sp>
      <p:sp>
        <p:nvSpPr>
          <p:cNvPr id="1031" name="Text 30"/>
          <p:cNvSpPr txBox="1"/>
          <p:nvPr/>
        </p:nvSpPr>
        <p:spPr>
          <a:xfrm>
            <a:off x="731520" y="4315968"/>
            <a:ext cx="2240280" cy="457200"/>
          </a:xfrm>
          <a:prstGeom prst="rect">
            <a:avLst/>
          </a:prstGeom>
          <a:noFill/>
          <a:ln/>
        </p:spPr>
        <p:txBody>
          <a:bodyPr wrap="square" lIns="0" tIns="0" rIns="0" bIns="0" rtlCol="0" anchor="t"/>
          <a:lstStyle/>
          <a:p>
            <a:pPr algn="l" indent="0" marL="0">
              <a:buNone/>
            </a:pPr>
            <a:r>
              <a:rPr lang="en-US" sz="2800" b="1" dirty="0">
                <a:solidFill>
                  <a:srgbClr val="2F6FDB"/>
                </a:solidFill>
                <a:latin typeface="Calibri" pitchFamily="34" charset="0"/>
                <a:ea typeface="Calibri" pitchFamily="34" charset="-122"/>
                <a:cs typeface="Calibri" pitchFamily="34" charset="-120"/>
              </a:rPr>
              <a:t>Up to 10%</a:t>
            </a:r>
            <a:endParaRPr lang="en-US" sz="2800" dirty="0"/>
          </a:p>
        </p:txBody>
      </p:sp>
      <p:sp>
        <p:nvSpPr>
          <p:cNvPr id="1032" name="Text 31"/>
          <p:cNvSpPr txBox="1"/>
          <p:nvPr/>
        </p:nvSpPr>
        <p:spPr>
          <a:xfrm>
            <a:off x="731520" y="4818888"/>
            <a:ext cx="2240280" cy="237744"/>
          </a:xfrm>
          <a:prstGeom prst="rect">
            <a:avLst/>
          </a:prstGeom>
          <a:noFill/>
          <a:ln/>
        </p:spPr>
        <p:txBody>
          <a:bodyPr wrap="square" lIns="0" tIns="0" rIns="0" bIns="0" rtlCol="0" anchor="t"/>
          <a:lstStyle/>
          <a:p>
            <a:pPr algn="l" indent="0" marL="0">
              <a:buNone/>
            </a:pPr>
            <a:r>
              <a:rPr lang="en-US" sz="1300" b="1" dirty="0">
                <a:solidFill>
                  <a:srgbClr val="0B1F3A"/>
                </a:solidFill>
                <a:latin typeface="Calibri" pitchFamily="34" charset="0"/>
                <a:ea typeface="Calibri" pitchFamily="34" charset="-122"/>
                <a:cs typeface="Calibri" pitchFamily="34" charset="-120"/>
              </a:rPr>
              <a:t>Catch it earlier</a:t>
            </a:r>
            <a:endParaRPr lang="en-US" sz="1300" dirty="0"/>
          </a:p>
        </p:txBody>
      </p:sp>
      <p:sp>
        <p:nvSpPr>
          <p:cNvPr id="1033" name="Text 32"/>
          <p:cNvSpPr txBox="1"/>
          <p:nvPr/>
        </p:nvSpPr>
        <p:spPr>
          <a:xfrm>
            <a:off x="731520" y="5093208"/>
            <a:ext cx="2240280" cy="713232"/>
          </a:xfrm>
          <a:prstGeom prst="rect">
            <a:avLst/>
          </a:prstGeom>
          <a:noFill/>
          <a:ln/>
        </p:spPr>
        <p:txBody>
          <a:bodyPr wrap="square" lIns="0" tIns="0" rIns="0" bIns="0" rtlCol="0" anchor="t"/>
          <a:lstStyle/>
          <a:p>
            <a:pPr algn="l" indent="0" marL="0">
              <a:buNone/>
            </a:pPr>
            <a:r>
              <a:rPr lang="en-US" sz="1050" dirty="0">
                <a:solidFill>
                  <a:srgbClr val="2B2F36"/>
                </a:solidFill>
                <a:latin typeface="Calibri" pitchFamily="34" charset="0"/>
                <a:ea typeface="Calibri" pitchFamily="34" charset="-122"/>
                <a:cs typeface="Calibri" pitchFamily="34" charset="-120"/>
              </a:rPr>
              <a:t>of contract value saved by timely clash detection on BIM projects. AERES extends detection to specs, codes and cost.</a:t>
            </a:r>
            <a:endParaRPr lang="en-US" sz="1050" dirty="0"/>
          </a:p>
        </p:txBody>
      </p:sp>
      <p:sp>
        <p:nvSpPr>
          <p:cNvPr id="1034" name="Text 33"/>
          <p:cNvSpPr txBox="1"/>
          <p:nvPr/>
        </p:nvSpPr>
        <p:spPr>
          <a:xfrm>
            <a:off x="731520" y="5943600"/>
            <a:ext cx="2240280" cy="155448"/>
          </a:xfrm>
          <a:prstGeom prst="rect">
            <a:avLst/>
          </a:prstGeom>
          <a:noFill/>
          <a:ln/>
        </p:spPr>
        <p:txBody>
          <a:bodyPr wrap="square" lIns="0" tIns="0" rIns="0" bIns="0" rtlCol="0" anchor="t"/>
          <a:lstStyle/>
          <a:p>
            <a:pPr algn="l" indent="0" marL="0">
              <a:buNone/>
            </a:pPr>
            <a:r>
              <a:rPr lang="en-US" sz="850" i="1" dirty="0">
                <a:solidFill>
                  <a:srgbClr val="6B7482"/>
                </a:solidFill>
                <a:latin typeface="Calibri" pitchFamily="34" charset="0"/>
                <a:ea typeface="Calibri" pitchFamily="34" charset="-122"/>
                <a:cs typeface="Calibri" pitchFamily="34" charset="-120"/>
              </a:rPr>
              <a:t>Stanford CIFE, 32 projects</a:t>
            </a:r>
            <a:endParaRPr lang="en-US" sz="850" dirty="0"/>
          </a:p>
        </p:txBody>
      </p:sp>
      <p:sp>
        <p:nvSpPr>
          <p:cNvPr id="1035" name="Shape 34"/>
          <p:cNvSpPr/>
          <p:nvPr/>
        </p:nvSpPr>
        <p:spPr>
          <a:xfrm>
            <a:off x="3377184" y="4206240"/>
            <a:ext cx="2606040" cy="1965960"/>
          </a:xfrm>
          <a:prstGeom prst="roundRect">
            <a:avLst>
              <a:gd name="adj" fmla="val 3256"/>
            </a:avLst>
          </a:prstGeom>
          <a:solidFill>
            <a:srgbClr val="E8EFFA"/>
          </a:solidFill>
          <a:ln w="9525">
            <a:solidFill>
              <a:srgbClr val="C9D9F5"/>
            </a:solidFill>
            <a:prstDash val="solid"/>
          </a:ln>
        </p:spPr>
      </p:sp>
      <p:sp>
        <p:nvSpPr>
          <p:cNvPr id="1036" name="Text 35"/>
          <p:cNvSpPr txBox="1"/>
          <p:nvPr/>
        </p:nvSpPr>
        <p:spPr>
          <a:xfrm>
            <a:off x="3560064" y="4315968"/>
            <a:ext cx="2240280" cy="457200"/>
          </a:xfrm>
          <a:prstGeom prst="rect">
            <a:avLst/>
          </a:prstGeom>
          <a:noFill/>
          <a:ln/>
        </p:spPr>
        <p:txBody>
          <a:bodyPr wrap="square" lIns="0" tIns="0" rIns="0" bIns="0" rtlCol="0" anchor="t"/>
          <a:lstStyle/>
          <a:p>
            <a:pPr algn="l" indent="0" marL="0">
              <a:buNone/>
            </a:pPr>
            <a:r>
              <a:rPr lang="en-US" sz="2800" b="1" dirty="0">
                <a:solidFill>
                  <a:srgbClr val="2F6FDB"/>
                </a:solidFill>
                <a:latin typeface="Calibri" pitchFamily="34" charset="0"/>
                <a:ea typeface="Calibri" pitchFamily="34" charset="-122"/>
                <a:cs typeface="Calibri" pitchFamily="34" charset="-120"/>
              </a:rPr>
              <a:t>5.5 hrs</a:t>
            </a:r>
            <a:endParaRPr lang="en-US" sz="2800" dirty="0"/>
          </a:p>
        </p:txBody>
      </p:sp>
      <p:sp>
        <p:nvSpPr>
          <p:cNvPr id="1037" name="Text 36"/>
          <p:cNvSpPr txBox="1"/>
          <p:nvPr/>
        </p:nvSpPr>
        <p:spPr>
          <a:xfrm>
            <a:off x="3560064" y="4818888"/>
            <a:ext cx="2240280" cy="237744"/>
          </a:xfrm>
          <a:prstGeom prst="rect">
            <a:avLst/>
          </a:prstGeom>
          <a:noFill/>
          <a:ln/>
        </p:spPr>
        <p:txBody>
          <a:bodyPr wrap="square" lIns="0" tIns="0" rIns="0" bIns="0" rtlCol="0" anchor="t"/>
          <a:lstStyle/>
          <a:p>
            <a:pPr algn="l" indent="0" marL="0">
              <a:buNone/>
            </a:pPr>
            <a:r>
              <a:rPr lang="en-US" sz="1300" b="1" dirty="0">
                <a:solidFill>
                  <a:srgbClr val="0B1F3A"/>
                </a:solidFill>
                <a:latin typeface="Calibri" pitchFamily="34" charset="0"/>
                <a:ea typeface="Calibri" pitchFamily="34" charset="-122"/>
                <a:cs typeface="Calibri" pitchFamily="34" charset="-120"/>
              </a:rPr>
              <a:t>Save team time</a:t>
            </a:r>
            <a:endParaRPr lang="en-US" sz="1300" dirty="0"/>
          </a:p>
        </p:txBody>
      </p:sp>
      <p:sp>
        <p:nvSpPr>
          <p:cNvPr id="1038" name="Text 37"/>
          <p:cNvSpPr txBox="1"/>
          <p:nvPr/>
        </p:nvSpPr>
        <p:spPr>
          <a:xfrm>
            <a:off x="3560064" y="5093208"/>
            <a:ext cx="2240280" cy="713232"/>
          </a:xfrm>
          <a:prstGeom prst="rect">
            <a:avLst/>
          </a:prstGeom>
          <a:noFill/>
          <a:ln/>
        </p:spPr>
        <p:txBody>
          <a:bodyPr wrap="square" lIns="0" tIns="0" rIns="0" bIns="0" rtlCol="0" anchor="t"/>
          <a:lstStyle/>
          <a:p>
            <a:pPr algn="l" indent="0" marL="0">
              <a:buNone/>
            </a:pPr>
            <a:r>
              <a:rPr lang="en-US" sz="1050" dirty="0">
                <a:solidFill>
                  <a:srgbClr val="2B2F36"/>
                </a:solidFill>
                <a:latin typeface="Calibri" pitchFamily="34" charset="0"/>
                <a:ea typeface="Calibri" pitchFamily="34" charset="-122"/>
                <a:cs typeface="Calibri" pitchFamily="34" charset="-120"/>
              </a:rPr>
              <a:t>per person each week now goes to hunting for project information. One linked, cited model targets it.</a:t>
            </a:r>
            <a:endParaRPr lang="en-US" sz="1050" dirty="0"/>
          </a:p>
        </p:txBody>
      </p:sp>
      <p:sp>
        <p:nvSpPr>
          <p:cNvPr id="1039" name="Text 38"/>
          <p:cNvSpPr txBox="1"/>
          <p:nvPr/>
        </p:nvSpPr>
        <p:spPr>
          <a:xfrm>
            <a:off x="3560064" y="5943600"/>
            <a:ext cx="2240280" cy="155448"/>
          </a:xfrm>
          <a:prstGeom prst="rect">
            <a:avLst/>
          </a:prstGeom>
          <a:noFill/>
          <a:ln/>
        </p:spPr>
        <p:txBody>
          <a:bodyPr wrap="square" lIns="0" tIns="0" rIns="0" bIns="0" rtlCol="0" anchor="t"/>
          <a:lstStyle/>
          <a:p>
            <a:pPr algn="l" indent="0" marL="0">
              <a:buNone/>
            </a:pPr>
            <a:r>
              <a:rPr lang="en-US" sz="850" i="1" dirty="0">
                <a:solidFill>
                  <a:srgbClr val="6B7482"/>
                </a:solidFill>
                <a:latin typeface="Calibri" pitchFamily="34" charset="0"/>
                <a:ea typeface="Calibri" pitchFamily="34" charset="-122"/>
                <a:cs typeface="Calibri" pitchFamily="34" charset="-120"/>
              </a:rPr>
              <a:t>FMI + PlanGrid, 2018</a:t>
            </a:r>
            <a:endParaRPr lang="en-US" sz="850" dirty="0"/>
          </a:p>
        </p:txBody>
      </p:sp>
      <p:sp>
        <p:nvSpPr>
          <p:cNvPr id="1040" name="Shape 39"/>
          <p:cNvSpPr/>
          <p:nvPr/>
        </p:nvSpPr>
        <p:spPr>
          <a:xfrm>
            <a:off x="6205728" y="4206240"/>
            <a:ext cx="2606040" cy="1965960"/>
          </a:xfrm>
          <a:prstGeom prst="roundRect">
            <a:avLst>
              <a:gd name="adj" fmla="val 3256"/>
            </a:avLst>
          </a:prstGeom>
          <a:solidFill>
            <a:srgbClr val="E8EFFA"/>
          </a:solidFill>
          <a:ln w="9525">
            <a:solidFill>
              <a:srgbClr val="C9D9F5"/>
            </a:solidFill>
            <a:prstDash val="solid"/>
          </a:ln>
        </p:spPr>
      </p:sp>
      <p:sp>
        <p:nvSpPr>
          <p:cNvPr id="1041" name="Text 40"/>
          <p:cNvSpPr txBox="1"/>
          <p:nvPr/>
        </p:nvSpPr>
        <p:spPr>
          <a:xfrm>
            <a:off x="6388608" y="4315968"/>
            <a:ext cx="2240280" cy="457200"/>
          </a:xfrm>
          <a:prstGeom prst="rect">
            <a:avLst/>
          </a:prstGeom>
          <a:noFill/>
          <a:ln/>
        </p:spPr>
        <p:txBody>
          <a:bodyPr wrap="square" lIns="0" tIns="0" rIns="0" bIns="0" rtlCol="0" anchor="t"/>
          <a:lstStyle/>
          <a:p>
            <a:pPr algn="l" indent="0" marL="0">
              <a:buNone/>
            </a:pPr>
            <a:r>
              <a:rPr lang="en-US" sz="2800" b="1" dirty="0">
                <a:solidFill>
                  <a:srgbClr val="2F6FDB"/>
                </a:solidFill>
                <a:latin typeface="Calibri" pitchFamily="34" charset="0"/>
                <a:ea typeface="Calibri" pitchFamily="34" charset="-122"/>
                <a:cs typeface="Calibri" pitchFamily="34" charset="-120"/>
              </a:rPr>
              <a:t>$860K</a:t>
            </a:r>
            <a:endParaRPr lang="en-US" sz="2800" dirty="0"/>
          </a:p>
        </p:txBody>
      </p:sp>
      <p:sp>
        <p:nvSpPr>
          <p:cNvPr id="1042" name="Text 41"/>
          <p:cNvSpPr txBox="1"/>
          <p:nvPr/>
        </p:nvSpPr>
        <p:spPr>
          <a:xfrm>
            <a:off x="6388608" y="4818888"/>
            <a:ext cx="2240280" cy="237744"/>
          </a:xfrm>
          <a:prstGeom prst="rect">
            <a:avLst/>
          </a:prstGeom>
          <a:noFill/>
          <a:ln/>
        </p:spPr>
        <p:txBody>
          <a:bodyPr wrap="square" lIns="0" tIns="0" rIns="0" bIns="0" rtlCol="0" anchor="t"/>
          <a:lstStyle/>
          <a:p>
            <a:pPr algn="l" indent="0" marL="0">
              <a:buNone/>
            </a:pPr>
            <a:r>
              <a:rPr lang="en-US" sz="1300" b="1" dirty="0">
                <a:solidFill>
                  <a:srgbClr val="0B1F3A"/>
                </a:solidFill>
                <a:latin typeface="Calibri" pitchFamily="34" charset="0"/>
                <a:ea typeface="Calibri" pitchFamily="34" charset="-122"/>
                <a:cs typeface="Calibri" pitchFamily="34" charset="-120"/>
              </a:rPr>
              <a:t>Cut RFIs and rework</a:t>
            </a:r>
            <a:endParaRPr lang="en-US" sz="1300" dirty="0"/>
          </a:p>
        </p:txBody>
      </p:sp>
      <p:sp>
        <p:nvSpPr>
          <p:cNvPr id="1043" name="Text 42"/>
          <p:cNvSpPr txBox="1"/>
          <p:nvPr/>
        </p:nvSpPr>
        <p:spPr>
          <a:xfrm>
            <a:off x="6388608" y="5093208"/>
            <a:ext cx="2240280" cy="713232"/>
          </a:xfrm>
          <a:prstGeom prst="rect">
            <a:avLst/>
          </a:prstGeom>
          <a:noFill/>
          <a:ln/>
        </p:spPr>
        <p:txBody>
          <a:bodyPr wrap="square" lIns="0" tIns="0" rIns="0" bIns="0" rtlCol="0" anchor="t"/>
          <a:lstStyle/>
          <a:p>
            <a:pPr algn="l" indent="0" marL="0">
              <a:buNone/>
            </a:pPr>
            <a:r>
              <a:rPr lang="en-US" sz="1050" dirty="0">
                <a:solidFill>
                  <a:srgbClr val="2B2F36"/>
                </a:solidFill>
                <a:latin typeface="Calibri" pitchFamily="34" charset="0"/>
                <a:ea typeface="Calibri" pitchFamily="34" charset="-122"/>
                <a:cs typeface="Calibri" pitchFamily="34" charset="-120"/>
              </a:rPr>
              <a:t>to handle RFIs on an average project, plus 48% of rework tied to poor data. This is the pool AERES targets.</a:t>
            </a:r>
            <a:endParaRPr lang="en-US" sz="1050" dirty="0"/>
          </a:p>
        </p:txBody>
      </p:sp>
      <p:sp>
        <p:nvSpPr>
          <p:cNvPr id="1044" name="Text 43"/>
          <p:cNvSpPr txBox="1"/>
          <p:nvPr/>
        </p:nvSpPr>
        <p:spPr>
          <a:xfrm>
            <a:off x="6388608" y="5943600"/>
            <a:ext cx="2240280" cy="155448"/>
          </a:xfrm>
          <a:prstGeom prst="rect">
            <a:avLst/>
          </a:prstGeom>
          <a:noFill/>
          <a:ln/>
        </p:spPr>
        <p:txBody>
          <a:bodyPr wrap="square" lIns="0" tIns="0" rIns="0" bIns="0" rtlCol="0" anchor="t"/>
          <a:lstStyle/>
          <a:p>
            <a:pPr algn="l" indent="0" marL="0">
              <a:buNone/>
            </a:pPr>
            <a:r>
              <a:rPr lang="en-US" sz="850" i="1" dirty="0">
                <a:solidFill>
                  <a:srgbClr val="6B7482"/>
                </a:solidFill>
                <a:latin typeface="Calibri" pitchFamily="34" charset="0"/>
                <a:ea typeface="Calibri" pitchFamily="34" charset="-122"/>
                <a:cs typeface="Calibri" pitchFamily="34" charset="-120"/>
              </a:rPr>
              <a:t>Navigant, 2013; FMI + PlanGrid</a:t>
            </a:r>
            <a:endParaRPr lang="en-US" sz="850" dirty="0"/>
          </a:p>
        </p:txBody>
      </p:sp>
      <p:sp>
        <p:nvSpPr>
          <p:cNvPr id="1045" name="Shape 44"/>
          <p:cNvSpPr/>
          <p:nvPr/>
        </p:nvSpPr>
        <p:spPr>
          <a:xfrm>
            <a:off x="9034272" y="4206240"/>
            <a:ext cx="2606040" cy="1965960"/>
          </a:xfrm>
          <a:prstGeom prst="roundRect">
            <a:avLst>
              <a:gd name="adj" fmla="val 3256"/>
            </a:avLst>
          </a:prstGeom>
          <a:solidFill>
            <a:srgbClr val="E8EFFA"/>
          </a:solidFill>
          <a:ln w="9525">
            <a:solidFill>
              <a:srgbClr val="C9D9F5"/>
            </a:solidFill>
            <a:prstDash val="solid"/>
          </a:ln>
        </p:spPr>
      </p:sp>
      <p:sp>
        <p:nvSpPr>
          <p:cNvPr id="1046" name="Text 45"/>
          <p:cNvSpPr txBox="1"/>
          <p:nvPr/>
        </p:nvSpPr>
        <p:spPr>
          <a:xfrm>
            <a:off x="9217152" y="4315968"/>
            <a:ext cx="2240280" cy="457200"/>
          </a:xfrm>
          <a:prstGeom prst="rect">
            <a:avLst/>
          </a:prstGeom>
          <a:noFill/>
          <a:ln/>
        </p:spPr>
        <p:txBody>
          <a:bodyPr wrap="square" lIns="0" tIns="0" rIns="0" bIns="0" rtlCol="0" anchor="t"/>
          <a:lstStyle/>
          <a:p>
            <a:pPr algn="l" indent="0" marL="0">
              <a:buNone/>
            </a:pPr>
            <a:r>
              <a:rPr lang="en-US" sz="2800" b="1" dirty="0">
                <a:solidFill>
                  <a:srgbClr val="2F6FDB"/>
                </a:solidFill>
                <a:latin typeface="Calibri" pitchFamily="34" charset="0"/>
                <a:ea typeface="Calibri" pitchFamily="34" charset="-122"/>
                <a:cs typeface="Calibri" pitchFamily="34" charset="-120"/>
              </a:rPr>
              <a:t>Auditable</a:t>
            </a:r>
            <a:endParaRPr lang="en-US" sz="2800" dirty="0"/>
          </a:p>
        </p:txBody>
      </p:sp>
      <p:sp>
        <p:nvSpPr>
          <p:cNvPr id="1047" name="Text 46"/>
          <p:cNvSpPr txBox="1"/>
          <p:nvPr/>
        </p:nvSpPr>
        <p:spPr>
          <a:xfrm>
            <a:off x="9217152" y="4818888"/>
            <a:ext cx="2240280" cy="237744"/>
          </a:xfrm>
          <a:prstGeom prst="rect">
            <a:avLst/>
          </a:prstGeom>
          <a:noFill/>
          <a:ln/>
        </p:spPr>
        <p:txBody>
          <a:bodyPr wrap="square" lIns="0" tIns="0" rIns="0" bIns="0" rtlCol="0" anchor="t"/>
          <a:lstStyle/>
          <a:p>
            <a:pPr algn="l" indent="0" marL="0">
              <a:buNone/>
            </a:pPr>
            <a:r>
              <a:rPr lang="en-US" sz="1300" b="1" dirty="0">
                <a:solidFill>
                  <a:srgbClr val="0B1F3A"/>
                </a:solidFill>
                <a:latin typeface="Calibri" pitchFamily="34" charset="0"/>
                <a:ea typeface="Calibri" pitchFamily="34" charset="-122"/>
                <a:cs typeface="Calibri" pitchFamily="34" charset="-120"/>
              </a:rPr>
              <a:t>Decide with evidence</a:t>
            </a:r>
            <a:endParaRPr lang="en-US" sz="1300" dirty="0"/>
          </a:p>
        </p:txBody>
      </p:sp>
      <p:sp>
        <p:nvSpPr>
          <p:cNvPr id="1048" name="Text 47"/>
          <p:cNvSpPr txBox="1"/>
          <p:nvPr/>
        </p:nvSpPr>
        <p:spPr>
          <a:xfrm>
            <a:off x="9217152" y="5093208"/>
            <a:ext cx="2240280" cy="713232"/>
          </a:xfrm>
          <a:prstGeom prst="rect">
            <a:avLst/>
          </a:prstGeom>
          <a:noFill/>
          <a:ln/>
        </p:spPr>
        <p:txBody>
          <a:bodyPr wrap="square" lIns="0" tIns="0" rIns="0" bIns="0" rtlCol="0" anchor="t"/>
          <a:lstStyle/>
          <a:p>
            <a:pPr algn="l" indent="0" marL="0">
              <a:buNone/>
            </a:pPr>
            <a:r>
              <a:rPr lang="en-US" sz="1050" dirty="0">
                <a:solidFill>
                  <a:srgbClr val="2B2F36"/>
                </a:solidFill>
                <a:latin typeface="Calibri" pitchFamily="34" charset="0"/>
                <a:ea typeface="Calibri" pitchFamily="34" charset="-122"/>
                <a:cs typeface="Calibri" pitchFamily="34" charset="-120"/>
              </a:rPr>
              <a:t>Each finding carries sources, revisions and rationale, so professionals verify fast and defend decisions.</a:t>
            </a:r>
            <a:endParaRPr lang="en-US" sz="1050" dirty="0"/>
          </a:p>
        </p:txBody>
      </p:sp>
      <p:sp>
        <p:nvSpPr>
          <p:cNvPr id="1049" name="Text 48"/>
          <p:cNvSpPr txBox="1"/>
          <p:nvPr/>
        </p:nvSpPr>
        <p:spPr>
          <a:xfrm>
            <a:off x="9217152" y="5943600"/>
            <a:ext cx="2240280" cy="155448"/>
          </a:xfrm>
          <a:prstGeom prst="rect">
            <a:avLst/>
          </a:prstGeom>
          <a:noFill/>
          <a:ln/>
        </p:spPr>
        <p:txBody>
          <a:bodyPr wrap="square" lIns="0" tIns="0" rIns="0" bIns="0" rtlCol="0" anchor="t"/>
          <a:lstStyle/>
          <a:p>
            <a:pPr algn="l" indent="0" marL="0">
              <a:buNone/>
            </a:pPr>
            <a:r>
              <a:rPr lang="en-US" sz="850" i="1" dirty="0">
                <a:solidFill>
                  <a:srgbClr val="6B7482"/>
                </a:solidFill>
                <a:latin typeface="Calibri" pitchFamily="34" charset="0"/>
                <a:ea typeface="Calibri" pitchFamily="34" charset="-122"/>
                <a:cs typeface="Calibri" pitchFamily="34" charset="-120"/>
              </a:rPr>
              <a:t>AERES design principle</a:t>
            </a:r>
            <a:endParaRPr lang="en-US" sz="850" dirty="0"/>
          </a:p>
        </p:txBody>
      </p:sp>
      <p:sp>
        <p:nvSpPr>
          <p:cNvPr id="1050" name="Text 49"/>
          <p:cNvSpPr txBox="1"/>
          <p:nvPr/>
        </p:nvSpPr>
        <p:spPr>
          <a:xfrm>
            <a:off x="548640" y="6373368"/>
            <a:ext cx="9875520" cy="182880"/>
          </a:xfrm>
          <a:prstGeom prst="rect">
            <a:avLst/>
          </a:prstGeom>
          <a:noFill/>
          <a:ln/>
        </p:spPr>
        <p:txBody>
          <a:bodyPr wrap="square" lIns="0" tIns="0" rIns="0" bIns="0" rtlCol="0" anchor="t"/>
          <a:lstStyle/>
          <a:p>
            <a:pPr algn="l" indent="0" marL="0">
              <a:buNone/>
            </a:pPr>
            <a:r>
              <a:rPr lang="en-US" sz="900" i="1" dirty="0">
                <a:solidFill>
                  <a:srgbClr val="6B7482"/>
                </a:solidFill>
                <a:latin typeface="Calibri" pitchFamily="34" charset="0"/>
                <a:ea typeface="Calibri" pitchFamily="34" charset="-122"/>
                <a:cs typeface="Calibri" pitchFamily="34" charset="-120"/>
              </a:rPr>
              <a:t>Benchmarks size the prize from BIM and industry studies; they are not AERES results. AERES’s own gains are hypotheses to prove in pilots.</a:t>
            </a:r>
            <a:endParaRPr lang="en-US" sz="900" dirty="0"/>
          </a:p>
        </p:txBody>
      </p:sp>
      <p:sp>
        <p:nvSpPr>
          <p:cNvPr id="62"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482"/>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60120"/>
          </a:xfrm>
          <a:prstGeom prst="rect">
            <a:avLst/>
          </a:prstGeom>
          <a:noFill/>
          <a:ln/>
        </p:spPr>
        <p:txBody>
          <a:bodyPr wrap="square" lIns="0" tIns="0" rIns="0" bIns="0" rtlCol="0" anchor="t"/>
          <a:lstStyle/>
          <a:p>
            <a:pPr marL="0" indent="0" algn="l">
              <a:buNone/>
            </a:pPr>
            <a:r>
              <a:rPr lang="en-US" sz="3000" b="1" dirty="0">
                <a:solidFill>
                  <a:srgbClr val="0B1F3A"/>
                </a:solidFill>
                <a:latin typeface="Calibri" pitchFamily="34" charset="0"/>
                <a:ea typeface="Calibri" pitchFamily="34" charset="-122"/>
                <a:cs typeface="Calibri" pitchFamily="34" charset="-120"/>
              </a:rPr>
              <a:t>Process flow and system design</a:t>
            </a:r>
            <a:endParaRPr lang="en-US" sz="3000" dirty="0"/>
          </a:p>
        </p:txBody>
      </p:sp>
      <p:sp>
        <p:nvSpPr>
          <p:cNvPr id="101" name="Text 0"/>
          <p:cNvSpPr txBox="1"/>
          <p:nvPr/>
        </p:nvSpPr>
        <p:spPr>
          <a:xfrm>
            <a:off x="548640" y="896112"/>
            <a:ext cx="11064240" cy="457200"/>
          </a:xfrm>
          <a:prstGeom prst="rect">
            <a:avLst/>
          </a:prstGeom>
          <a:noFill/>
          <a:ln/>
        </p:spPr>
        <p:txBody>
          <a:bodyPr wrap="square" lIns="0" tIns="0" rIns="0" bIns="0" rtlCol="0" anchor="t"/>
          <a:lstStyle/>
          <a:p>
            <a:pPr marL="0" indent="0">
              <a:buNone/>
            </a:pPr>
            <a:r>
              <a:rPr lang="en-US" sz="1500" dirty="0">
                <a:solidFill>
                  <a:srgbClr val="6B7482"/>
                </a:solidFill>
                <a:latin typeface="Calibri" pitchFamily="34" charset="0"/>
                <a:ea typeface="Calibri" pitchFamily="34" charset="-122"/>
                <a:cs typeface="Calibri" pitchFamily="34" charset="-120"/>
              </a:rPr>
              <a:t>AI interprets, deterministic engines validate, and a qualified professional decides.</a:t>
            </a:r>
            <a:endParaRPr lang="en-US" sz="1500" dirty="0"/>
          </a:p>
        </p:txBody>
      </p:sp>
      <p:sp>
        <p:nvSpPr>
          <p:cNvPr id="6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482"/>
                </a:solidFill>
                <a:latin typeface="Calibri"/>
                <a:ea typeface="Calibri"/>
                <a:cs typeface="Calibri"/>
              </a:defRPr>
            </a:lvl1pPr>
          </a:lstStyle>
          <a:p>
            <a:pPr algn="r"/>
            <a:fld id="{F7021451-1387-4CA6-816F-3879F97B5CBC}" type="slidenum">
              <a:rPr lang="en-US" b="0"/>
              <a:t>4</a:t>
            </a:fld>
            <a:endParaRPr lang="en-US"/>
          </a:p>
        </p:txBody>
      </p:sp>
      <p:sp>
        <p:nvSpPr>
          <p:cNvPr id="102" name="Pentagon 101"/>
          <p:cNvSpPr/>
          <p:nvPr/>
        </p:nvSpPr>
        <p:spPr>
          <a:xfrm>
            <a:off x="548640" y="1325880"/>
            <a:ext cx="2715768" cy="365760"/>
          </a:xfrm>
          <a:prstGeom prst="homePlat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0" rIns="0" bIns="0" rtlCol="0" anchor="ctr"/>
          <a:lstStyle/>
          <a:p>
            <a:pPr algn="l"/>
            <a:r>
              <a:rPr sz="1150" b="1" i="0">
                <a:solidFill>
                  <a:srgbClr val="FFFFFF"/>
                </a:solidFill>
                <a:latin typeface="Calibri"/>
              </a:rPr>
              <a:t>UNDERSTAND   </a:t>
            </a:r>
            <a:r>
              <a:rPr sz="950" b="0" i="0">
                <a:solidFill>
                  <a:srgbClr val="C9D9F5"/>
                </a:solidFill>
                <a:latin typeface="Calibri"/>
              </a:rPr>
              <a:t>Ingest and interpret</a:t>
            </a:r>
          </a:p>
        </p:txBody>
      </p:sp>
      <p:sp>
        <p:nvSpPr>
          <p:cNvPr id="103" name="Pentagon 102"/>
          <p:cNvSpPr/>
          <p:nvPr/>
        </p:nvSpPr>
        <p:spPr>
          <a:xfrm>
            <a:off x="3355848" y="1325880"/>
            <a:ext cx="2715768" cy="365760"/>
          </a:xfrm>
          <a:prstGeom prst="homePlat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0" rIns="0" bIns="0" rtlCol="0" anchor="ctr"/>
          <a:lstStyle/>
          <a:p>
            <a:pPr algn="l"/>
            <a:r>
              <a:rPr sz="1150" b="1" i="0">
                <a:solidFill>
                  <a:srgbClr val="FFFFFF"/>
                </a:solidFill>
                <a:latin typeface="Calibri"/>
              </a:rPr>
              <a:t>CONNECT   </a:t>
            </a:r>
            <a:r>
              <a:rPr sz="950" b="0" i="0">
                <a:solidFill>
                  <a:srgbClr val="C9D9F5"/>
                </a:solidFill>
                <a:latin typeface="Calibri"/>
              </a:rPr>
              <a:t>Structure and link</a:t>
            </a:r>
          </a:p>
        </p:txBody>
      </p:sp>
      <p:sp>
        <p:nvSpPr>
          <p:cNvPr id="104" name="Pentagon 103"/>
          <p:cNvSpPr/>
          <p:nvPr/>
        </p:nvSpPr>
        <p:spPr>
          <a:xfrm>
            <a:off x="6163055" y="1325880"/>
            <a:ext cx="2715768" cy="365760"/>
          </a:xfrm>
          <a:prstGeom prst="homePlat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0" rIns="0" bIns="0" rtlCol="0" anchor="ctr"/>
          <a:lstStyle/>
          <a:p>
            <a:pPr algn="l"/>
            <a:r>
              <a:rPr sz="1150" b="1" i="0">
                <a:solidFill>
                  <a:srgbClr val="FFFFFF"/>
                </a:solidFill>
                <a:latin typeface="Calibri"/>
              </a:rPr>
              <a:t>REASON   </a:t>
            </a:r>
            <a:r>
              <a:rPr sz="950" b="0" i="0">
                <a:solidFill>
                  <a:srgbClr val="C9D9F5"/>
                </a:solidFill>
                <a:latin typeface="Calibri"/>
              </a:rPr>
              <a:t>Evaluate and flag</a:t>
            </a:r>
          </a:p>
        </p:txBody>
      </p:sp>
      <p:sp>
        <p:nvSpPr>
          <p:cNvPr id="105" name="Pentagon 104"/>
          <p:cNvSpPr/>
          <p:nvPr/>
        </p:nvSpPr>
        <p:spPr>
          <a:xfrm>
            <a:off x="8970263" y="1325880"/>
            <a:ext cx="2715768" cy="365760"/>
          </a:xfrm>
          <a:prstGeom prst="homePlate">
            <a:avLst/>
          </a:prstGeom>
          <a:solidFill>
            <a:srgbClr val="2F6FD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0" rIns="0" bIns="0" rtlCol="0" anchor="ctr"/>
          <a:lstStyle/>
          <a:p>
            <a:pPr algn="l"/>
            <a:r>
              <a:rPr sz="1150" b="1" i="0">
                <a:solidFill>
                  <a:srgbClr val="FFFFFF"/>
                </a:solidFill>
                <a:latin typeface="Calibri"/>
              </a:rPr>
              <a:t>DECIDE   </a:t>
            </a:r>
            <a:r>
              <a:rPr sz="950" b="0" i="0">
                <a:solidFill>
                  <a:srgbClr val="C9D9F5"/>
                </a:solidFill>
                <a:latin typeface="Calibri"/>
              </a:rPr>
              <a:t>Professional authority</a:t>
            </a:r>
          </a:p>
        </p:txBody>
      </p:sp>
      <p:sp>
        <p:nvSpPr>
          <p:cNvPr id="106" name="Rectangle 105"/>
          <p:cNvSpPr/>
          <p:nvPr/>
        </p:nvSpPr>
        <p:spPr>
          <a:xfrm>
            <a:off x="548640" y="1828800"/>
            <a:ext cx="1220724" cy="2103120"/>
          </a:xfrm>
          <a:prstGeom prst="rect">
            <a:avLst/>
          </a:prstGeom>
          <a:solidFill>
            <a:srgbClr val="FFFFFF"/>
          </a:solidFill>
          <a:ln w="9525">
            <a:solidFill>
              <a:srgbClr val="D3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658368" y="1938528"/>
            <a:ext cx="457200" cy="457200"/>
          </a:xfrm>
          <a:prstGeom prst="ellipse">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8" name="Picture 107" descr="image.png"/>
          <p:cNvPicPr>
            <a:picLocks noChangeAspect="1"/>
          </p:cNvPicPr>
          <p:nvPr/>
        </p:nvPicPr>
        <p:blipFill>
          <a:blip r:embed="rId3"/>
          <a:stretch>
            <a:fillRect/>
          </a:stretch>
        </p:blipFill>
        <p:spPr>
          <a:xfrm>
            <a:off x="758952" y="2039112"/>
            <a:ext cx="256032" cy="256032"/>
          </a:xfrm>
          <a:prstGeom prst="rect">
            <a:avLst/>
          </a:prstGeom>
        </p:spPr>
      </p:pic>
      <p:sp>
        <p:nvSpPr>
          <p:cNvPr id="109" name="TextBox 108"/>
          <p:cNvSpPr txBox="1"/>
          <p:nvPr/>
        </p:nvSpPr>
        <p:spPr>
          <a:xfrm>
            <a:off x="1403604" y="1920240"/>
            <a:ext cx="274320" cy="182880"/>
          </a:xfrm>
          <a:prstGeom prst="rect">
            <a:avLst/>
          </a:prstGeom>
          <a:noFill/>
        </p:spPr>
        <p:txBody>
          <a:bodyPr wrap="square" lIns="0" tIns="0" rIns="0" bIns="0" anchor="t">
            <a:spAutoFit/>
          </a:bodyPr>
          <a:lstStyle/>
          <a:p>
            <a:pPr algn="r"/>
            <a:r>
              <a:rPr sz="1000" b="1" i="0">
                <a:solidFill>
                  <a:srgbClr val="6B7482"/>
                </a:solidFill>
                <a:latin typeface="Calibri"/>
              </a:rPr>
              <a:t>1</a:t>
            </a:r>
          </a:p>
        </p:txBody>
      </p:sp>
      <p:sp>
        <p:nvSpPr>
          <p:cNvPr id="110" name="TextBox 109"/>
          <p:cNvSpPr txBox="1"/>
          <p:nvPr/>
        </p:nvSpPr>
        <p:spPr>
          <a:xfrm>
            <a:off x="658368" y="2487168"/>
            <a:ext cx="1037844" cy="502920"/>
          </a:xfrm>
          <a:prstGeom prst="rect">
            <a:avLst/>
          </a:prstGeom>
          <a:noFill/>
        </p:spPr>
        <p:txBody>
          <a:bodyPr wrap="square" lIns="0" tIns="0" rIns="0" bIns="0" anchor="t">
            <a:spAutoFit/>
          </a:bodyPr>
          <a:lstStyle/>
          <a:p>
            <a:pPr algn="l"/>
            <a:r>
              <a:rPr sz="1100" b="1" i="0">
                <a:solidFill>
                  <a:srgbClr val="0B1F3A"/>
                </a:solidFill>
                <a:latin typeface="Calibri"/>
              </a:rPr>
              <a:t>Data ingestion</a:t>
            </a:r>
          </a:p>
        </p:txBody>
      </p:sp>
      <p:sp>
        <p:nvSpPr>
          <p:cNvPr id="111" name="TextBox 110"/>
          <p:cNvSpPr txBox="1"/>
          <p:nvPr/>
        </p:nvSpPr>
        <p:spPr>
          <a:xfrm>
            <a:off x="658368" y="3090672"/>
            <a:ext cx="1037844" cy="530352"/>
          </a:xfrm>
          <a:prstGeom prst="rect">
            <a:avLst/>
          </a:prstGeom>
          <a:noFill/>
        </p:spPr>
        <p:txBody>
          <a:bodyPr wrap="square" lIns="0" tIns="0" rIns="0" bIns="0" anchor="t">
            <a:spAutoFit/>
          </a:bodyPr>
          <a:lstStyle/>
          <a:p>
            <a:pPr algn="l"/>
            <a:r>
              <a:rPr sz="900" b="0" i="0">
                <a:solidFill>
                  <a:srgbClr val="6B7482"/>
                </a:solidFill>
                <a:latin typeface="Calibri"/>
              </a:rPr>
              <a:t>Accepts PDF, CAD, BIM/IFC, specs and site data</a:t>
            </a:r>
          </a:p>
        </p:txBody>
      </p:sp>
      <p:sp>
        <p:nvSpPr>
          <p:cNvPr id="112" name="Rectangle 111"/>
          <p:cNvSpPr/>
          <p:nvPr/>
        </p:nvSpPr>
        <p:spPr>
          <a:xfrm>
            <a:off x="640080" y="3639312"/>
            <a:ext cx="1037844" cy="201168"/>
          </a:xfrm>
          <a:prstGeom prst="rect">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i="0" spc="60">
                <a:solidFill>
                  <a:srgbClr val="2F6FDB"/>
                </a:solidFill>
                <a:latin typeface="Calibri"/>
              </a:rPr>
              <a:t>INPUT</a:t>
            </a:r>
          </a:p>
        </p:txBody>
      </p:sp>
      <p:cxnSp>
        <p:nvCxnSpPr>
          <p:cNvPr id="113" name="Connector 112"/>
          <p:cNvCxnSpPr/>
          <p:nvPr/>
        </p:nvCxnSpPr>
        <p:spPr>
          <a:xfrm>
            <a:off x="1159002" y="3931920"/>
            <a:ext cx="0" cy="91440"/>
          </a:xfrm>
          <a:prstGeom prst="line">
            <a:avLst/>
          </a:prstGeom>
          <a:ln w="952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4" name="Rectangle 113"/>
          <p:cNvSpPr/>
          <p:nvPr/>
        </p:nvSpPr>
        <p:spPr>
          <a:xfrm>
            <a:off x="548640" y="4023360"/>
            <a:ext cx="1220724" cy="274320"/>
          </a:xfrm>
          <a:prstGeom prst="rect">
            <a:avLst/>
          </a:prstGeom>
          <a:noFill/>
          <a:ln w="9525">
            <a:solidFill>
              <a:srgbClr val="2F6FDB"/>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2F6FDB"/>
                </a:solidFill>
                <a:latin typeface="Calibri"/>
              </a:rPr>
              <a:t>Raw project files</a:t>
            </a:r>
          </a:p>
        </p:txBody>
      </p:sp>
      <p:cxnSp>
        <p:nvCxnSpPr>
          <p:cNvPr id="115" name="Connector 114"/>
          <p:cNvCxnSpPr/>
          <p:nvPr/>
        </p:nvCxnSpPr>
        <p:spPr>
          <a:xfrm>
            <a:off x="1787652" y="2167128"/>
            <a:ext cx="146304" cy="0"/>
          </a:xfrm>
          <a:prstGeom prst="line">
            <a:avLst/>
          </a:prstGeom>
          <a:ln w="1587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6" name="Rectangle 115"/>
          <p:cNvSpPr/>
          <p:nvPr/>
        </p:nvSpPr>
        <p:spPr>
          <a:xfrm>
            <a:off x="1952243" y="1828800"/>
            <a:ext cx="1220724" cy="2103120"/>
          </a:xfrm>
          <a:prstGeom prst="rect">
            <a:avLst/>
          </a:prstGeom>
          <a:solidFill>
            <a:srgbClr val="FFFFFF"/>
          </a:solidFill>
          <a:ln w="9525">
            <a:solidFill>
              <a:srgbClr val="D3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2061972" y="1938528"/>
            <a:ext cx="457200" cy="457200"/>
          </a:xfrm>
          <a:prstGeom prst="ellipse">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8" name="Picture 117" descr="image.png"/>
          <p:cNvPicPr>
            <a:picLocks noChangeAspect="1"/>
          </p:cNvPicPr>
          <p:nvPr/>
        </p:nvPicPr>
        <p:blipFill>
          <a:blip r:embed="rId4"/>
          <a:stretch>
            <a:fillRect/>
          </a:stretch>
        </p:blipFill>
        <p:spPr>
          <a:xfrm>
            <a:off x="2162556" y="2039112"/>
            <a:ext cx="256032" cy="256032"/>
          </a:xfrm>
          <a:prstGeom prst="rect">
            <a:avLst/>
          </a:prstGeom>
        </p:spPr>
      </p:pic>
      <p:sp>
        <p:nvSpPr>
          <p:cNvPr id="119" name="TextBox 118"/>
          <p:cNvSpPr txBox="1"/>
          <p:nvPr/>
        </p:nvSpPr>
        <p:spPr>
          <a:xfrm>
            <a:off x="2807208" y="1920240"/>
            <a:ext cx="274320" cy="182880"/>
          </a:xfrm>
          <a:prstGeom prst="rect">
            <a:avLst/>
          </a:prstGeom>
          <a:noFill/>
        </p:spPr>
        <p:txBody>
          <a:bodyPr wrap="square" lIns="0" tIns="0" rIns="0" bIns="0" anchor="t">
            <a:spAutoFit/>
          </a:bodyPr>
          <a:lstStyle/>
          <a:p>
            <a:pPr algn="r"/>
            <a:r>
              <a:rPr sz="1000" b="1" i="0">
                <a:solidFill>
                  <a:srgbClr val="6B7482"/>
                </a:solidFill>
                <a:latin typeface="Calibri"/>
              </a:rPr>
              <a:t>2</a:t>
            </a:r>
          </a:p>
        </p:txBody>
      </p:sp>
      <p:sp>
        <p:nvSpPr>
          <p:cNvPr id="120" name="TextBox 119"/>
          <p:cNvSpPr txBox="1"/>
          <p:nvPr/>
        </p:nvSpPr>
        <p:spPr>
          <a:xfrm>
            <a:off x="2061972" y="2487168"/>
            <a:ext cx="1037844" cy="502920"/>
          </a:xfrm>
          <a:prstGeom prst="rect">
            <a:avLst/>
          </a:prstGeom>
          <a:noFill/>
        </p:spPr>
        <p:txBody>
          <a:bodyPr wrap="square" lIns="0" tIns="0" rIns="0" bIns="0" anchor="t">
            <a:spAutoFit/>
          </a:bodyPr>
          <a:lstStyle/>
          <a:p>
            <a:pPr algn="l"/>
            <a:r>
              <a:rPr sz="1100" b="1" i="0">
                <a:solidFill>
                  <a:srgbClr val="0B1F3A"/>
                </a:solidFill>
                <a:latin typeface="Calibri"/>
              </a:rPr>
              <a:t>Document and model understanding</a:t>
            </a:r>
          </a:p>
        </p:txBody>
      </p:sp>
      <p:sp>
        <p:nvSpPr>
          <p:cNvPr id="121" name="TextBox 120"/>
          <p:cNvSpPr txBox="1"/>
          <p:nvPr/>
        </p:nvSpPr>
        <p:spPr>
          <a:xfrm>
            <a:off x="2061972" y="3090672"/>
            <a:ext cx="1037844" cy="530352"/>
          </a:xfrm>
          <a:prstGeom prst="rect">
            <a:avLst/>
          </a:prstGeom>
          <a:noFill/>
        </p:spPr>
        <p:txBody>
          <a:bodyPr wrap="square" lIns="0" tIns="0" rIns="0" bIns="0" anchor="t">
            <a:spAutoFit/>
          </a:bodyPr>
          <a:lstStyle/>
          <a:p>
            <a:pPr algn="l"/>
            <a:r>
              <a:rPr sz="900" b="0" i="0">
                <a:solidFill>
                  <a:srgbClr val="6B7482"/>
                </a:solidFill>
                <a:latin typeface="Calibri"/>
              </a:rPr>
              <a:t>AI reads drawings, text and tables</a:t>
            </a:r>
          </a:p>
        </p:txBody>
      </p:sp>
      <p:sp>
        <p:nvSpPr>
          <p:cNvPr id="122" name="Rectangle 121"/>
          <p:cNvSpPr/>
          <p:nvPr/>
        </p:nvSpPr>
        <p:spPr>
          <a:xfrm>
            <a:off x="2043684" y="3639312"/>
            <a:ext cx="1037844" cy="201168"/>
          </a:xfrm>
          <a:prstGeom prst="rect">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i="0" spc="60">
                <a:solidFill>
                  <a:srgbClr val="2F6FDB"/>
                </a:solidFill>
                <a:latin typeface="Calibri"/>
              </a:rPr>
              <a:t>AI</a:t>
            </a:r>
          </a:p>
        </p:txBody>
      </p:sp>
      <p:cxnSp>
        <p:nvCxnSpPr>
          <p:cNvPr id="123" name="Connector 122"/>
          <p:cNvCxnSpPr/>
          <p:nvPr/>
        </p:nvCxnSpPr>
        <p:spPr>
          <a:xfrm>
            <a:off x="2562606" y="3931920"/>
            <a:ext cx="0" cy="91440"/>
          </a:xfrm>
          <a:prstGeom prst="line">
            <a:avLst/>
          </a:prstGeom>
          <a:ln w="952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4" name="Rectangle 123"/>
          <p:cNvSpPr/>
          <p:nvPr/>
        </p:nvSpPr>
        <p:spPr>
          <a:xfrm>
            <a:off x="1952243" y="4023360"/>
            <a:ext cx="1220724" cy="274320"/>
          </a:xfrm>
          <a:prstGeom prst="rect">
            <a:avLst/>
          </a:prstGeom>
          <a:noFill/>
          <a:ln w="9525">
            <a:solidFill>
              <a:srgbClr val="2F6FDB"/>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2F6FDB"/>
                </a:solidFill>
                <a:latin typeface="Calibri"/>
              </a:rPr>
              <a:t>Text, tables, symbols</a:t>
            </a:r>
          </a:p>
        </p:txBody>
      </p:sp>
      <p:cxnSp>
        <p:nvCxnSpPr>
          <p:cNvPr id="125" name="Connector 124"/>
          <p:cNvCxnSpPr/>
          <p:nvPr/>
        </p:nvCxnSpPr>
        <p:spPr>
          <a:xfrm>
            <a:off x="3191256" y="2167128"/>
            <a:ext cx="146304" cy="0"/>
          </a:xfrm>
          <a:prstGeom prst="line">
            <a:avLst/>
          </a:prstGeom>
          <a:ln w="1587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3355848" y="1828800"/>
            <a:ext cx="1220724" cy="2103120"/>
          </a:xfrm>
          <a:prstGeom prst="rect">
            <a:avLst/>
          </a:prstGeom>
          <a:solidFill>
            <a:srgbClr val="FFFFFF"/>
          </a:solidFill>
          <a:ln w="9525">
            <a:solidFill>
              <a:srgbClr val="D3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3465576" y="1938528"/>
            <a:ext cx="457200" cy="457200"/>
          </a:xfrm>
          <a:prstGeom prst="ellipse">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8" name="Picture 127" descr="image.png"/>
          <p:cNvPicPr>
            <a:picLocks noChangeAspect="1"/>
          </p:cNvPicPr>
          <p:nvPr/>
        </p:nvPicPr>
        <p:blipFill>
          <a:blip r:embed="rId5"/>
          <a:stretch>
            <a:fillRect/>
          </a:stretch>
        </p:blipFill>
        <p:spPr>
          <a:xfrm>
            <a:off x="3566160" y="2039112"/>
            <a:ext cx="256032" cy="256032"/>
          </a:xfrm>
          <a:prstGeom prst="rect">
            <a:avLst/>
          </a:prstGeom>
        </p:spPr>
      </p:pic>
      <p:sp>
        <p:nvSpPr>
          <p:cNvPr id="129" name="TextBox 128"/>
          <p:cNvSpPr txBox="1"/>
          <p:nvPr/>
        </p:nvSpPr>
        <p:spPr>
          <a:xfrm>
            <a:off x="4210812" y="1920240"/>
            <a:ext cx="274320" cy="182880"/>
          </a:xfrm>
          <a:prstGeom prst="rect">
            <a:avLst/>
          </a:prstGeom>
          <a:noFill/>
        </p:spPr>
        <p:txBody>
          <a:bodyPr wrap="square" lIns="0" tIns="0" rIns="0" bIns="0" anchor="t">
            <a:spAutoFit/>
          </a:bodyPr>
          <a:lstStyle/>
          <a:p>
            <a:pPr algn="r"/>
            <a:r>
              <a:rPr sz="1000" b="1" i="0">
                <a:solidFill>
                  <a:srgbClr val="6B7482"/>
                </a:solidFill>
                <a:latin typeface="Calibri"/>
              </a:rPr>
              <a:t>3</a:t>
            </a:r>
          </a:p>
        </p:txBody>
      </p:sp>
      <p:sp>
        <p:nvSpPr>
          <p:cNvPr id="130" name="TextBox 129"/>
          <p:cNvSpPr txBox="1"/>
          <p:nvPr/>
        </p:nvSpPr>
        <p:spPr>
          <a:xfrm>
            <a:off x="3465576" y="2487168"/>
            <a:ext cx="1037844" cy="502920"/>
          </a:xfrm>
          <a:prstGeom prst="rect">
            <a:avLst/>
          </a:prstGeom>
          <a:noFill/>
        </p:spPr>
        <p:txBody>
          <a:bodyPr wrap="square" lIns="0" tIns="0" rIns="0" bIns="0" anchor="t">
            <a:spAutoFit/>
          </a:bodyPr>
          <a:lstStyle/>
          <a:p>
            <a:pPr algn="l"/>
            <a:r>
              <a:rPr sz="1100" b="1" i="0">
                <a:solidFill>
                  <a:srgbClr val="0B1F3A"/>
                </a:solidFill>
                <a:latin typeface="Calibri"/>
              </a:rPr>
              <a:t>Entity, geometry and relationship extraction</a:t>
            </a:r>
          </a:p>
        </p:txBody>
      </p:sp>
      <p:sp>
        <p:nvSpPr>
          <p:cNvPr id="131" name="TextBox 130"/>
          <p:cNvSpPr txBox="1"/>
          <p:nvPr/>
        </p:nvSpPr>
        <p:spPr>
          <a:xfrm>
            <a:off x="3465576" y="3090672"/>
            <a:ext cx="1037844" cy="530352"/>
          </a:xfrm>
          <a:prstGeom prst="rect">
            <a:avLst/>
          </a:prstGeom>
          <a:noFill/>
        </p:spPr>
        <p:txBody>
          <a:bodyPr wrap="square" lIns="0" tIns="0" rIns="0" bIns="0" anchor="t">
            <a:spAutoFit/>
          </a:bodyPr>
          <a:lstStyle/>
          <a:p>
            <a:pPr algn="l"/>
            <a:r>
              <a:rPr sz="900" b="0" i="0">
                <a:solidFill>
                  <a:srgbClr val="6B7482"/>
                </a:solidFill>
                <a:latin typeface="Calibri"/>
              </a:rPr>
              <a:t>Pulls out entities, geometry and relationships</a:t>
            </a:r>
          </a:p>
        </p:txBody>
      </p:sp>
      <p:sp>
        <p:nvSpPr>
          <p:cNvPr id="132" name="Rectangle 131"/>
          <p:cNvSpPr/>
          <p:nvPr/>
        </p:nvSpPr>
        <p:spPr>
          <a:xfrm>
            <a:off x="3447288" y="3639312"/>
            <a:ext cx="1037844" cy="201168"/>
          </a:xfrm>
          <a:prstGeom prst="rect">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i="0" spc="60">
                <a:solidFill>
                  <a:srgbClr val="2F6FDB"/>
                </a:solidFill>
                <a:latin typeface="Calibri"/>
              </a:rPr>
              <a:t>AI</a:t>
            </a:r>
          </a:p>
        </p:txBody>
      </p:sp>
      <p:cxnSp>
        <p:nvCxnSpPr>
          <p:cNvPr id="133" name="Connector 132"/>
          <p:cNvCxnSpPr/>
          <p:nvPr/>
        </p:nvCxnSpPr>
        <p:spPr>
          <a:xfrm>
            <a:off x="3966210" y="3931920"/>
            <a:ext cx="0" cy="91440"/>
          </a:xfrm>
          <a:prstGeom prst="line">
            <a:avLst/>
          </a:prstGeom>
          <a:ln w="952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4" name="Rectangle 133"/>
          <p:cNvSpPr/>
          <p:nvPr/>
        </p:nvSpPr>
        <p:spPr>
          <a:xfrm>
            <a:off x="3355848" y="4023360"/>
            <a:ext cx="1220724" cy="274320"/>
          </a:xfrm>
          <a:prstGeom prst="rect">
            <a:avLst/>
          </a:prstGeom>
          <a:noFill/>
          <a:ln w="9525">
            <a:solidFill>
              <a:srgbClr val="2F6FDB"/>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2F6FDB"/>
                </a:solidFill>
                <a:latin typeface="Calibri"/>
              </a:rPr>
              <a:t>Entities + geometry</a:t>
            </a:r>
          </a:p>
        </p:txBody>
      </p:sp>
      <p:cxnSp>
        <p:nvCxnSpPr>
          <p:cNvPr id="135" name="Connector 134"/>
          <p:cNvCxnSpPr/>
          <p:nvPr/>
        </p:nvCxnSpPr>
        <p:spPr>
          <a:xfrm>
            <a:off x="4594859" y="2167128"/>
            <a:ext cx="146305" cy="0"/>
          </a:xfrm>
          <a:prstGeom prst="line">
            <a:avLst/>
          </a:prstGeom>
          <a:ln w="1587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 name="Rectangle 135"/>
          <p:cNvSpPr/>
          <p:nvPr/>
        </p:nvSpPr>
        <p:spPr>
          <a:xfrm>
            <a:off x="4759451" y="1828800"/>
            <a:ext cx="1220724" cy="2103120"/>
          </a:xfrm>
          <a:prstGeom prst="rect">
            <a:avLst/>
          </a:prstGeom>
          <a:solidFill>
            <a:srgbClr val="FFFFFF"/>
          </a:solidFill>
          <a:ln w="9525">
            <a:solidFill>
              <a:srgbClr val="D3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4869179" y="1938528"/>
            <a:ext cx="457200" cy="457200"/>
          </a:xfrm>
          <a:prstGeom prst="ellipse">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8" name="Picture 137" descr="image.png"/>
          <p:cNvPicPr>
            <a:picLocks noChangeAspect="1"/>
          </p:cNvPicPr>
          <p:nvPr/>
        </p:nvPicPr>
        <p:blipFill>
          <a:blip r:embed="rId6"/>
          <a:stretch>
            <a:fillRect/>
          </a:stretch>
        </p:blipFill>
        <p:spPr>
          <a:xfrm>
            <a:off x="4969764" y="2039112"/>
            <a:ext cx="256032" cy="256032"/>
          </a:xfrm>
          <a:prstGeom prst="rect">
            <a:avLst/>
          </a:prstGeom>
        </p:spPr>
      </p:pic>
      <p:sp>
        <p:nvSpPr>
          <p:cNvPr id="139" name="TextBox 138"/>
          <p:cNvSpPr txBox="1"/>
          <p:nvPr/>
        </p:nvSpPr>
        <p:spPr>
          <a:xfrm>
            <a:off x="5614415" y="1920240"/>
            <a:ext cx="274320" cy="182880"/>
          </a:xfrm>
          <a:prstGeom prst="rect">
            <a:avLst/>
          </a:prstGeom>
          <a:noFill/>
        </p:spPr>
        <p:txBody>
          <a:bodyPr wrap="square" lIns="0" tIns="0" rIns="0" bIns="0" anchor="t">
            <a:spAutoFit/>
          </a:bodyPr>
          <a:lstStyle/>
          <a:p>
            <a:pPr algn="r"/>
            <a:r>
              <a:rPr sz="1000" b="1" i="0">
                <a:solidFill>
                  <a:srgbClr val="6B7482"/>
                </a:solidFill>
                <a:latin typeface="Calibri"/>
              </a:rPr>
              <a:t>4</a:t>
            </a:r>
          </a:p>
        </p:txBody>
      </p:sp>
      <p:sp>
        <p:nvSpPr>
          <p:cNvPr id="140" name="TextBox 139"/>
          <p:cNvSpPr txBox="1"/>
          <p:nvPr/>
        </p:nvSpPr>
        <p:spPr>
          <a:xfrm>
            <a:off x="4869179" y="2487168"/>
            <a:ext cx="1037844" cy="502920"/>
          </a:xfrm>
          <a:prstGeom prst="rect">
            <a:avLst/>
          </a:prstGeom>
          <a:noFill/>
        </p:spPr>
        <p:txBody>
          <a:bodyPr wrap="square" lIns="0" tIns="0" rIns="0" bIns="0" anchor="t">
            <a:spAutoFit/>
          </a:bodyPr>
          <a:lstStyle/>
          <a:p>
            <a:pPr algn="l"/>
            <a:r>
              <a:rPr sz="1100" b="1" i="0">
                <a:solidFill>
                  <a:srgbClr val="0B1F3A"/>
                </a:solidFill>
                <a:latin typeface="Calibri"/>
              </a:rPr>
              <a:t>Structured project representation</a:t>
            </a:r>
          </a:p>
        </p:txBody>
      </p:sp>
      <p:sp>
        <p:nvSpPr>
          <p:cNvPr id="141" name="TextBox 140"/>
          <p:cNvSpPr txBox="1"/>
          <p:nvPr/>
        </p:nvSpPr>
        <p:spPr>
          <a:xfrm>
            <a:off x="4869179" y="3090672"/>
            <a:ext cx="1037844" cy="530352"/>
          </a:xfrm>
          <a:prstGeom prst="rect">
            <a:avLst/>
          </a:prstGeom>
          <a:noFill/>
        </p:spPr>
        <p:txBody>
          <a:bodyPr wrap="square" lIns="0" tIns="0" rIns="0" bIns="0" anchor="t">
            <a:spAutoFit/>
          </a:bodyPr>
          <a:lstStyle/>
          <a:p>
            <a:pPr algn="l"/>
            <a:r>
              <a:rPr sz="900" b="0" i="0">
                <a:solidFill>
                  <a:srgbClr val="6B7482"/>
                </a:solidFill>
                <a:latin typeface="Calibri"/>
              </a:rPr>
              <a:t>One linked model with spatial links and revisions</a:t>
            </a:r>
          </a:p>
        </p:txBody>
      </p:sp>
      <p:sp>
        <p:nvSpPr>
          <p:cNvPr id="142" name="Rectangle 141"/>
          <p:cNvSpPr/>
          <p:nvPr/>
        </p:nvSpPr>
        <p:spPr>
          <a:xfrm>
            <a:off x="4850891" y="3639312"/>
            <a:ext cx="1037844" cy="201168"/>
          </a:xfrm>
          <a:prstGeom prst="rect">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i="0" spc="60">
                <a:solidFill>
                  <a:srgbClr val="2F6FDB"/>
                </a:solidFill>
                <a:latin typeface="Calibri"/>
              </a:rPr>
              <a:t>DATA</a:t>
            </a:r>
          </a:p>
        </p:txBody>
      </p:sp>
      <p:cxnSp>
        <p:nvCxnSpPr>
          <p:cNvPr id="143" name="Connector 142"/>
          <p:cNvCxnSpPr/>
          <p:nvPr/>
        </p:nvCxnSpPr>
        <p:spPr>
          <a:xfrm>
            <a:off x="5369813" y="3931920"/>
            <a:ext cx="0" cy="91440"/>
          </a:xfrm>
          <a:prstGeom prst="line">
            <a:avLst/>
          </a:prstGeom>
          <a:ln w="952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4" name="Rectangle 143"/>
          <p:cNvSpPr/>
          <p:nvPr/>
        </p:nvSpPr>
        <p:spPr>
          <a:xfrm>
            <a:off x="4759451" y="4023360"/>
            <a:ext cx="1220724" cy="274320"/>
          </a:xfrm>
          <a:prstGeom prst="rect">
            <a:avLst/>
          </a:prstGeom>
          <a:noFill/>
          <a:ln w="9525">
            <a:solidFill>
              <a:srgbClr val="2F6FDB"/>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2F6FDB"/>
                </a:solidFill>
                <a:latin typeface="Calibri"/>
              </a:rPr>
              <a:t>Project model</a:t>
            </a:r>
          </a:p>
        </p:txBody>
      </p:sp>
      <p:cxnSp>
        <p:nvCxnSpPr>
          <p:cNvPr id="145" name="Connector 144"/>
          <p:cNvCxnSpPr/>
          <p:nvPr/>
        </p:nvCxnSpPr>
        <p:spPr>
          <a:xfrm>
            <a:off x="5998463" y="2167128"/>
            <a:ext cx="146305" cy="0"/>
          </a:xfrm>
          <a:prstGeom prst="line">
            <a:avLst/>
          </a:prstGeom>
          <a:ln w="1587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6" name="Rectangle 145"/>
          <p:cNvSpPr/>
          <p:nvPr/>
        </p:nvSpPr>
        <p:spPr>
          <a:xfrm>
            <a:off x="6163055" y="1828800"/>
            <a:ext cx="1220724" cy="2103120"/>
          </a:xfrm>
          <a:prstGeom prst="rect">
            <a:avLst/>
          </a:prstGeom>
          <a:solidFill>
            <a:srgbClr val="FFFFFF"/>
          </a:solidFill>
          <a:ln w="9525">
            <a:solidFill>
              <a:srgbClr val="D3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6272783" y="1938528"/>
            <a:ext cx="457200" cy="457200"/>
          </a:xfrm>
          <a:prstGeom prst="ellipse">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8" name="Picture 147" descr="image.png"/>
          <p:cNvPicPr>
            <a:picLocks noChangeAspect="1"/>
          </p:cNvPicPr>
          <p:nvPr/>
        </p:nvPicPr>
        <p:blipFill>
          <a:blip r:embed="rId7"/>
          <a:stretch>
            <a:fillRect/>
          </a:stretch>
        </p:blipFill>
        <p:spPr>
          <a:xfrm>
            <a:off x="6373368" y="2039112"/>
            <a:ext cx="256032" cy="256032"/>
          </a:xfrm>
          <a:prstGeom prst="rect">
            <a:avLst/>
          </a:prstGeom>
        </p:spPr>
      </p:pic>
      <p:sp>
        <p:nvSpPr>
          <p:cNvPr id="149" name="TextBox 148"/>
          <p:cNvSpPr txBox="1"/>
          <p:nvPr/>
        </p:nvSpPr>
        <p:spPr>
          <a:xfrm>
            <a:off x="7018019" y="1920240"/>
            <a:ext cx="274320" cy="182880"/>
          </a:xfrm>
          <a:prstGeom prst="rect">
            <a:avLst/>
          </a:prstGeom>
          <a:noFill/>
        </p:spPr>
        <p:txBody>
          <a:bodyPr wrap="square" lIns="0" tIns="0" rIns="0" bIns="0" anchor="t">
            <a:spAutoFit/>
          </a:bodyPr>
          <a:lstStyle/>
          <a:p>
            <a:pPr algn="r"/>
            <a:r>
              <a:rPr sz="1000" b="1" i="0">
                <a:solidFill>
                  <a:srgbClr val="6B7482"/>
                </a:solidFill>
                <a:latin typeface="Calibri"/>
              </a:rPr>
              <a:t>5</a:t>
            </a:r>
          </a:p>
        </p:txBody>
      </p:sp>
      <p:sp>
        <p:nvSpPr>
          <p:cNvPr id="150" name="TextBox 149"/>
          <p:cNvSpPr txBox="1"/>
          <p:nvPr/>
        </p:nvSpPr>
        <p:spPr>
          <a:xfrm>
            <a:off x="6272783" y="2487168"/>
            <a:ext cx="1037844" cy="502920"/>
          </a:xfrm>
          <a:prstGeom prst="rect">
            <a:avLst/>
          </a:prstGeom>
          <a:noFill/>
        </p:spPr>
        <p:txBody>
          <a:bodyPr wrap="square" lIns="0" tIns="0" rIns="0" bIns="0" anchor="t">
            <a:spAutoFit/>
          </a:bodyPr>
          <a:lstStyle/>
          <a:p>
            <a:pPr algn="l"/>
            <a:r>
              <a:rPr sz="1100" b="1" i="0">
                <a:solidFill>
                  <a:srgbClr val="0B1F3A"/>
                </a:solidFill>
                <a:latin typeface="Calibri"/>
              </a:rPr>
              <a:t>Evidence and constraint management</a:t>
            </a:r>
          </a:p>
        </p:txBody>
      </p:sp>
      <p:sp>
        <p:nvSpPr>
          <p:cNvPr id="151" name="TextBox 150"/>
          <p:cNvSpPr txBox="1"/>
          <p:nvPr/>
        </p:nvSpPr>
        <p:spPr>
          <a:xfrm>
            <a:off x="6272783" y="3090672"/>
            <a:ext cx="1037844" cy="530352"/>
          </a:xfrm>
          <a:prstGeom prst="rect">
            <a:avLst/>
          </a:prstGeom>
          <a:noFill/>
        </p:spPr>
        <p:txBody>
          <a:bodyPr wrap="square" lIns="0" tIns="0" rIns="0" bIns="0" anchor="t">
            <a:spAutoFit/>
          </a:bodyPr>
          <a:lstStyle/>
          <a:p>
            <a:pPr algn="l"/>
            <a:r>
              <a:rPr sz="900" b="0" i="0">
                <a:solidFill>
                  <a:srgbClr val="6B7482"/>
                </a:solidFill>
                <a:latin typeface="Calibri"/>
              </a:rPr>
              <a:t>Attaches sources, rules and requirements</a:t>
            </a:r>
          </a:p>
        </p:txBody>
      </p:sp>
      <p:sp>
        <p:nvSpPr>
          <p:cNvPr id="152" name="Rectangle 151"/>
          <p:cNvSpPr/>
          <p:nvPr/>
        </p:nvSpPr>
        <p:spPr>
          <a:xfrm>
            <a:off x="6254495" y="3639312"/>
            <a:ext cx="1037844" cy="201168"/>
          </a:xfrm>
          <a:prstGeom prst="rect">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i="0" spc="60">
                <a:solidFill>
                  <a:srgbClr val="2F6FDB"/>
                </a:solidFill>
                <a:latin typeface="Calibri"/>
              </a:rPr>
              <a:t>RULES</a:t>
            </a:r>
          </a:p>
        </p:txBody>
      </p:sp>
      <p:cxnSp>
        <p:nvCxnSpPr>
          <p:cNvPr id="153" name="Connector 152"/>
          <p:cNvCxnSpPr/>
          <p:nvPr/>
        </p:nvCxnSpPr>
        <p:spPr>
          <a:xfrm>
            <a:off x="6773417" y="3931920"/>
            <a:ext cx="0" cy="91440"/>
          </a:xfrm>
          <a:prstGeom prst="line">
            <a:avLst/>
          </a:prstGeom>
          <a:ln w="952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4" name="Rectangle 153"/>
          <p:cNvSpPr/>
          <p:nvPr/>
        </p:nvSpPr>
        <p:spPr>
          <a:xfrm>
            <a:off x="6163055" y="4023360"/>
            <a:ext cx="1220724" cy="274320"/>
          </a:xfrm>
          <a:prstGeom prst="rect">
            <a:avLst/>
          </a:prstGeom>
          <a:noFill/>
          <a:ln w="9525">
            <a:solidFill>
              <a:srgbClr val="2F6FDB"/>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2F6FDB"/>
                </a:solidFill>
                <a:latin typeface="Calibri"/>
              </a:rPr>
              <a:t>Linked evidence</a:t>
            </a:r>
          </a:p>
        </p:txBody>
      </p:sp>
      <p:cxnSp>
        <p:nvCxnSpPr>
          <p:cNvPr id="155" name="Connector 154"/>
          <p:cNvCxnSpPr/>
          <p:nvPr/>
        </p:nvCxnSpPr>
        <p:spPr>
          <a:xfrm>
            <a:off x="7402067" y="2167128"/>
            <a:ext cx="146304" cy="0"/>
          </a:xfrm>
          <a:prstGeom prst="line">
            <a:avLst/>
          </a:prstGeom>
          <a:ln w="1587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6" name="Rectangle 155"/>
          <p:cNvSpPr/>
          <p:nvPr/>
        </p:nvSpPr>
        <p:spPr>
          <a:xfrm>
            <a:off x="7566660" y="1828800"/>
            <a:ext cx="1220724" cy="2103120"/>
          </a:xfrm>
          <a:prstGeom prst="rect">
            <a:avLst/>
          </a:prstGeom>
          <a:solidFill>
            <a:srgbClr val="FFFFFF"/>
          </a:solidFill>
          <a:ln w="9525">
            <a:solidFill>
              <a:srgbClr val="D3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7676388" y="1938528"/>
            <a:ext cx="457200" cy="457200"/>
          </a:xfrm>
          <a:prstGeom prst="ellipse">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8" name="Picture 157" descr="image.png"/>
          <p:cNvPicPr>
            <a:picLocks noChangeAspect="1"/>
          </p:cNvPicPr>
          <p:nvPr/>
        </p:nvPicPr>
        <p:blipFill>
          <a:blip r:embed="rId8"/>
          <a:stretch>
            <a:fillRect/>
          </a:stretch>
        </p:blipFill>
        <p:spPr>
          <a:xfrm>
            <a:off x="7776972" y="2039112"/>
            <a:ext cx="256032" cy="256032"/>
          </a:xfrm>
          <a:prstGeom prst="rect">
            <a:avLst/>
          </a:prstGeom>
        </p:spPr>
      </p:pic>
      <p:sp>
        <p:nvSpPr>
          <p:cNvPr id="159" name="TextBox 158"/>
          <p:cNvSpPr txBox="1"/>
          <p:nvPr/>
        </p:nvSpPr>
        <p:spPr>
          <a:xfrm>
            <a:off x="8421624" y="1920240"/>
            <a:ext cx="274320" cy="182880"/>
          </a:xfrm>
          <a:prstGeom prst="rect">
            <a:avLst/>
          </a:prstGeom>
          <a:noFill/>
        </p:spPr>
        <p:txBody>
          <a:bodyPr wrap="square" lIns="0" tIns="0" rIns="0" bIns="0" anchor="t">
            <a:spAutoFit/>
          </a:bodyPr>
          <a:lstStyle/>
          <a:p>
            <a:pPr algn="r"/>
            <a:r>
              <a:rPr sz="1000" b="1" i="0">
                <a:solidFill>
                  <a:srgbClr val="6B7482"/>
                </a:solidFill>
                <a:latin typeface="Calibri"/>
              </a:rPr>
              <a:t>6</a:t>
            </a:r>
          </a:p>
        </p:txBody>
      </p:sp>
      <p:sp>
        <p:nvSpPr>
          <p:cNvPr id="160" name="TextBox 159"/>
          <p:cNvSpPr txBox="1"/>
          <p:nvPr/>
        </p:nvSpPr>
        <p:spPr>
          <a:xfrm>
            <a:off x="7676388" y="2487168"/>
            <a:ext cx="1037844" cy="502920"/>
          </a:xfrm>
          <a:prstGeom prst="rect">
            <a:avLst/>
          </a:prstGeom>
          <a:noFill/>
        </p:spPr>
        <p:txBody>
          <a:bodyPr wrap="square" lIns="0" tIns="0" rIns="0" bIns="0" anchor="t">
            <a:spAutoFit/>
          </a:bodyPr>
          <a:lstStyle/>
          <a:p>
            <a:pPr algn="l"/>
            <a:r>
              <a:rPr sz="1100" b="1" i="0">
                <a:solidFill>
                  <a:srgbClr val="0B1F3A"/>
                </a:solidFill>
                <a:latin typeface="Calibri"/>
              </a:rPr>
              <a:t>Hybrid reasoning and validation</a:t>
            </a:r>
          </a:p>
        </p:txBody>
      </p:sp>
      <p:sp>
        <p:nvSpPr>
          <p:cNvPr id="161" name="TextBox 160"/>
          <p:cNvSpPr txBox="1"/>
          <p:nvPr/>
        </p:nvSpPr>
        <p:spPr>
          <a:xfrm>
            <a:off x="7676388" y="3090672"/>
            <a:ext cx="1037844" cy="530352"/>
          </a:xfrm>
          <a:prstGeom prst="rect">
            <a:avLst/>
          </a:prstGeom>
          <a:noFill/>
        </p:spPr>
        <p:txBody>
          <a:bodyPr wrap="square" lIns="0" tIns="0" rIns="0" bIns="0" anchor="t">
            <a:spAutoFit/>
          </a:bodyPr>
          <a:lstStyle/>
          <a:p>
            <a:pPr algn="l"/>
            <a:r>
              <a:rPr sz="900" b="0" i="0">
                <a:solidFill>
                  <a:srgbClr val="6B7482"/>
                </a:solidFill>
                <a:latin typeface="Calibri"/>
              </a:rPr>
              <a:t>Geometry checks, rules and specialist solvers</a:t>
            </a:r>
          </a:p>
        </p:txBody>
      </p:sp>
      <p:sp>
        <p:nvSpPr>
          <p:cNvPr id="162" name="Rectangle 161"/>
          <p:cNvSpPr/>
          <p:nvPr/>
        </p:nvSpPr>
        <p:spPr>
          <a:xfrm>
            <a:off x="7658100" y="3639312"/>
            <a:ext cx="1037844" cy="201168"/>
          </a:xfrm>
          <a:prstGeom prst="rect">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i="0" spc="60">
                <a:solidFill>
                  <a:srgbClr val="2F6FDB"/>
                </a:solidFill>
                <a:latin typeface="Calibri"/>
              </a:rPr>
              <a:t>VALIDATE</a:t>
            </a:r>
          </a:p>
        </p:txBody>
      </p:sp>
      <p:cxnSp>
        <p:nvCxnSpPr>
          <p:cNvPr id="163" name="Connector 162"/>
          <p:cNvCxnSpPr/>
          <p:nvPr/>
        </p:nvCxnSpPr>
        <p:spPr>
          <a:xfrm>
            <a:off x="8177022" y="3931920"/>
            <a:ext cx="0" cy="91440"/>
          </a:xfrm>
          <a:prstGeom prst="line">
            <a:avLst/>
          </a:prstGeom>
          <a:ln w="952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4" name="Rectangle 163"/>
          <p:cNvSpPr/>
          <p:nvPr/>
        </p:nvSpPr>
        <p:spPr>
          <a:xfrm>
            <a:off x="7566660" y="4023360"/>
            <a:ext cx="1220724" cy="274320"/>
          </a:xfrm>
          <a:prstGeom prst="rect">
            <a:avLst/>
          </a:prstGeom>
          <a:noFill/>
          <a:ln w="9525">
            <a:solidFill>
              <a:srgbClr val="2F6FDB"/>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2F6FDB"/>
                </a:solidFill>
                <a:latin typeface="Calibri"/>
              </a:rPr>
              <a:t>Validated findings</a:t>
            </a:r>
          </a:p>
        </p:txBody>
      </p:sp>
      <p:cxnSp>
        <p:nvCxnSpPr>
          <p:cNvPr id="165" name="Connector 164"/>
          <p:cNvCxnSpPr/>
          <p:nvPr/>
        </p:nvCxnSpPr>
        <p:spPr>
          <a:xfrm>
            <a:off x="8805672" y="2167128"/>
            <a:ext cx="146304" cy="0"/>
          </a:xfrm>
          <a:prstGeom prst="line">
            <a:avLst/>
          </a:prstGeom>
          <a:ln w="1587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6" name="Rectangle 165"/>
          <p:cNvSpPr/>
          <p:nvPr/>
        </p:nvSpPr>
        <p:spPr>
          <a:xfrm>
            <a:off x="8970263" y="1828800"/>
            <a:ext cx="1220724" cy="2103120"/>
          </a:xfrm>
          <a:prstGeom prst="rect">
            <a:avLst/>
          </a:prstGeom>
          <a:solidFill>
            <a:srgbClr val="FFFFFF"/>
          </a:solidFill>
          <a:ln w="9525">
            <a:solidFill>
              <a:srgbClr val="D3D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9079991" y="1938528"/>
            <a:ext cx="457200" cy="457200"/>
          </a:xfrm>
          <a:prstGeom prst="ellipse">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8" name="Picture 167" descr="image.png"/>
          <p:cNvPicPr>
            <a:picLocks noChangeAspect="1"/>
          </p:cNvPicPr>
          <p:nvPr/>
        </p:nvPicPr>
        <p:blipFill>
          <a:blip r:embed="rId9"/>
          <a:stretch>
            <a:fillRect/>
          </a:stretch>
        </p:blipFill>
        <p:spPr>
          <a:xfrm>
            <a:off x="9180576" y="2039112"/>
            <a:ext cx="256032" cy="256032"/>
          </a:xfrm>
          <a:prstGeom prst="rect">
            <a:avLst/>
          </a:prstGeom>
        </p:spPr>
      </p:pic>
      <p:sp>
        <p:nvSpPr>
          <p:cNvPr id="169" name="TextBox 168"/>
          <p:cNvSpPr txBox="1"/>
          <p:nvPr/>
        </p:nvSpPr>
        <p:spPr>
          <a:xfrm>
            <a:off x="9825228" y="1920240"/>
            <a:ext cx="274320" cy="182880"/>
          </a:xfrm>
          <a:prstGeom prst="rect">
            <a:avLst/>
          </a:prstGeom>
          <a:noFill/>
        </p:spPr>
        <p:txBody>
          <a:bodyPr wrap="square" lIns="0" tIns="0" rIns="0" bIns="0" anchor="t">
            <a:spAutoFit/>
          </a:bodyPr>
          <a:lstStyle/>
          <a:p>
            <a:pPr algn="r"/>
            <a:r>
              <a:rPr sz="1000" b="1" i="0">
                <a:solidFill>
                  <a:srgbClr val="6B7482"/>
                </a:solidFill>
                <a:latin typeface="Calibri"/>
              </a:rPr>
              <a:t>7</a:t>
            </a:r>
          </a:p>
        </p:txBody>
      </p:sp>
      <p:sp>
        <p:nvSpPr>
          <p:cNvPr id="170" name="TextBox 169"/>
          <p:cNvSpPr txBox="1"/>
          <p:nvPr/>
        </p:nvSpPr>
        <p:spPr>
          <a:xfrm>
            <a:off x="9079991" y="2487168"/>
            <a:ext cx="1037844" cy="502920"/>
          </a:xfrm>
          <a:prstGeom prst="rect">
            <a:avLst/>
          </a:prstGeom>
          <a:noFill/>
        </p:spPr>
        <p:txBody>
          <a:bodyPr wrap="square" lIns="0" tIns="0" rIns="0" bIns="0" anchor="t">
            <a:spAutoFit/>
          </a:bodyPr>
          <a:lstStyle/>
          <a:p>
            <a:pPr algn="l"/>
            <a:r>
              <a:rPr sz="1100" b="1" i="0">
                <a:solidFill>
                  <a:srgbClr val="0B1F3A"/>
                </a:solidFill>
                <a:latin typeface="Calibri"/>
              </a:rPr>
              <a:t>Issue and decision objects</a:t>
            </a:r>
          </a:p>
        </p:txBody>
      </p:sp>
      <p:sp>
        <p:nvSpPr>
          <p:cNvPr id="171" name="TextBox 170"/>
          <p:cNvSpPr txBox="1"/>
          <p:nvPr/>
        </p:nvSpPr>
        <p:spPr>
          <a:xfrm>
            <a:off x="9079991" y="3090672"/>
            <a:ext cx="1037844" cy="530352"/>
          </a:xfrm>
          <a:prstGeom prst="rect">
            <a:avLst/>
          </a:prstGeom>
          <a:noFill/>
        </p:spPr>
        <p:txBody>
          <a:bodyPr wrap="square" lIns="0" tIns="0" rIns="0" bIns="0" anchor="t">
            <a:spAutoFit/>
          </a:bodyPr>
          <a:lstStyle/>
          <a:p>
            <a:pPr algn="l"/>
            <a:r>
              <a:rPr sz="900" b="0" i="0">
                <a:solidFill>
                  <a:srgbClr val="6B7482"/>
                </a:solidFill>
                <a:latin typeface="Calibri"/>
              </a:rPr>
              <a:t>Finding, evidence, status and next action</a:t>
            </a:r>
          </a:p>
        </p:txBody>
      </p:sp>
      <p:sp>
        <p:nvSpPr>
          <p:cNvPr id="172" name="Rectangle 171"/>
          <p:cNvSpPr/>
          <p:nvPr/>
        </p:nvSpPr>
        <p:spPr>
          <a:xfrm>
            <a:off x="9061703" y="3639312"/>
            <a:ext cx="1037844" cy="201168"/>
          </a:xfrm>
          <a:prstGeom prst="rect">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i="0" spc="60">
                <a:solidFill>
                  <a:srgbClr val="2F6FDB"/>
                </a:solidFill>
                <a:latin typeface="Calibri"/>
              </a:rPr>
              <a:t>OUTPUT</a:t>
            </a:r>
          </a:p>
        </p:txBody>
      </p:sp>
      <p:cxnSp>
        <p:nvCxnSpPr>
          <p:cNvPr id="173" name="Connector 172"/>
          <p:cNvCxnSpPr/>
          <p:nvPr/>
        </p:nvCxnSpPr>
        <p:spPr>
          <a:xfrm>
            <a:off x="9580626" y="3931920"/>
            <a:ext cx="0" cy="91440"/>
          </a:xfrm>
          <a:prstGeom prst="line">
            <a:avLst/>
          </a:prstGeom>
          <a:ln w="952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 name="Rectangle 173"/>
          <p:cNvSpPr/>
          <p:nvPr/>
        </p:nvSpPr>
        <p:spPr>
          <a:xfrm>
            <a:off x="8970263" y="4023360"/>
            <a:ext cx="1220724" cy="274320"/>
          </a:xfrm>
          <a:prstGeom prst="rect">
            <a:avLst/>
          </a:prstGeom>
          <a:noFill/>
          <a:ln w="9525">
            <a:solidFill>
              <a:srgbClr val="2F6FDB"/>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2F6FDB"/>
                </a:solidFill>
                <a:latin typeface="Calibri"/>
              </a:rPr>
              <a:t>Issue objects</a:t>
            </a:r>
          </a:p>
        </p:txBody>
      </p:sp>
      <p:cxnSp>
        <p:nvCxnSpPr>
          <p:cNvPr id="175" name="Connector 174"/>
          <p:cNvCxnSpPr/>
          <p:nvPr/>
        </p:nvCxnSpPr>
        <p:spPr>
          <a:xfrm>
            <a:off x="10209276" y="2167128"/>
            <a:ext cx="146304" cy="0"/>
          </a:xfrm>
          <a:prstGeom prst="line">
            <a:avLst/>
          </a:prstGeom>
          <a:ln w="1587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6" name="Rectangle 175"/>
          <p:cNvSpPr/>
          <p:nvPr/>
        </p:nvSpPr>
        <p:spPr>
          <a:xfrm>
            <a:off x="10373867" y="1828800"/>
            <a:ext cx="1220724" cy="2103120"/>
          </a:xfrm>
          <a:prstGeom prst="rect">
            <a:avLst/>
          </a:prstGeom>
          <a:solidFill>
            <a:srgbClr val="FFFFFF"/>
          </a:solidFill>
          <a:ln w="19050">
            <a:solidFill>
              <a:srgbClr val="2F6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176"/>
          <p:cNvSpPr/>
          <p:nvPr/>
        </p:nvSpPr>
        <p:spPr>
          <a:xfrm>
            <a:off x="10483595" y="1938528"/>
            <a:ext cx="457200" cy="457200"/>
          </a:xfrm>
          <a:prstGeom prst="ellipse">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8" name="Picture 177" descr="image.png"/>
          <p:cNvPicPr>
            <a:picLocks noChangeAspect="1"/>
          </p:cNvPicPr>
          <p:nvPr/>
        </p:nvPicPr>
        <p:blipFill>
          <a:blip r:embed="rId10"/>
          <a:stretch>
            <a:fillRect/>
          </a:stretch>
        </p:blipFill>
        <p:spPr>
          <a:xfrm>
            <a:off x="10584180" y="2039112"/>
            <a:ext cx="256032" cy="256032"/>
          </a:xfrm>
          <a:prstGeom prst="rect">
            <a:avLst/>
          </a:prstGeom>
        </p:spPr>
      </p:pic>
      <p:sp>
        <p:nvSpPr>
          <p:cNvPr id="179" name="TextBox 178"/>
          <p:cNvSpPr txBox="1"/>
          <p:nvPr/>
        </p:nvSpPr>
        <p:spPr>
          <a:xfrm>
            <a:off x="11228832" y="1920240"/>
            <a:ext cx="274320" cy="182880"/>
          </a:xfrm>
          <a:prstGeom prst="rect">
            <a:avLst/>
          </a:prstGeom>
          <a:noFill/>
        </p:spPr>
        <p:txBody>
          <a:bodyPr wrap="square" lIns="0" tIns="0" rIns="0" bIns="0" anchor="t">
            <a:spAutoFit/>
          </a:bodyPr>
          <a:lstStyle/>
          <a:p>
            <a:pPr algn="r"/>
            <a:r>
              <a:rPr sz="1000" b="1" i="0">
                <a:solidFill>
                  <a:srgbClr val="6B7482"/>
                </a:solidFill>
                <a:latin typeface="Calibri"/>
              </a:rPr>
              <a:t>8</a:t>
            </a:r>
          </a:p>
        </p:txBody>
      </p:sp>
      <p:sp>
        <p:nvSpPr>
          <p:cNvPr id="180" name="TextBox 179"/>
          <p:cNvSpPr txBox="1"/>
          <p:nvPr/>
        </p:nvSpPr>
        <p:spPr>
          <a:xfrm>
            <a:off x="10483595" y="2487168"/>
            <a:ext cx="1037844" cy="502920"/>
          </a:xfrm>
          <a:prstGeom prst="rect">
            <a:avLst/>
          </a:prstGeom>
          <a:noFill/>
        </p:spPr>
        <p:txBody>
          <a:bodyPr wrap="square" lIns="0" tIns="0" rIns="0" bIns="0" anchor="t">
            <a:spAutoFit/>
          </a:bodyPr>
          <a:lstStyle/>
          <a:p>
            <a:pPr algn="l"/>
            <a:r>
              <a:rPr sz="1100" b="1" i="0">
                <a:solidFill>
                  <a:srgbClr val="0B1F3A"/>
                </a:solidFill>
                <a:latin typeface="Calibri"/>
              </a:rPr>
              <a:t>Professional review and reanalysis</a:t>
            </a:r>
          </a:p>
        </p:txBody>
      </p:sp>
      <p:sp>
        <p:nvSpPr>
          <p:cNvPr id="181" name="TextBox 180"/>
          <p:cNvSpPr txBox="1"/>
          <p:nvPr/>
        </p:nvSpPr>
        <p:spPr>
          <a:xfrm>
            <a:off x="10483595" y="3090672"/>
            <a:ext cx="1037844" cy="530352"/>
          </a:xfrm>
          <a:prstGeom prst="rect">
            <a:avLst/>
          </a:prstGeom>
          <a:noFill/>
        </p:spPr>
        <p:txBody>
          <a:bodyPr wrap="square" lIns="0" tIns="0" rIns="0" bIns="0" anchor="t">
            <a:spAutoFit/>
          </a:bodyPr>
          <a:lstStyle/>
          <a:p>
            <a:pPr algn="l"/>
            <a:r>
              <a:rPr sz="900" b="0" i="0">
                <a:solidFill>
                  <a:srgbClr val="6B7482"/>
                </a:solidFill>
                <a:latin typeface="Calibri"/>
              </a:rPr>
              <a:t>A qualified professional decides</a:t>
            </a:r>
          </a:p>
        </p:txBody>
      </p:sp>
      <p:sp>
        <p:nvSpPr>
          <p:cNvPr id="182" name="Rectangle 181"/>
          <p:cNvSpPr/>
          <p:nvPr/>
        </p:nvSpPr>
        <p:spPr>
          <a:xfrm>
            <a:off x="10465307" y="3639312"/>
            <a:ext cx="1037844" cy="201168"/>
          </a:xfrm>
          <a:prstGeom prst="rect">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i="0" spc="60">
                <a:solidFill>
                  <a:srgbClr val="2F6FDB"/>
                </a:solidFill>
                <a:latin typeface="Calibri"/>
              </a:rPr>
              <a:t>HUMAN</a:t>
            </a:r>
          </a:p>
        </p:txBody>
      </p:sp>
      <p:cxnSp>
        <p:nvCxnSpPr>
          <p:cNvPr id="183" name="Connector 182"/>
          <p:cNvCxnSpPr/>
          <p:nvPr/>
        </p:nvCxnSpPr>
        <p:spPr>
          <a:xfrm>
            <a:off x="10984230" y="3931920"/>
            <a:ext cx="0" cy="91440"/>
          </a:xfrm>
          <a:prstGeom prst="line">
            <a:avLst/>
          </a:prstGeom>
          <a:ln w="9525">
            <a:solidFill>
              <a:srgbClr val="2F6F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4" name="Rectangle 183"/>
          <p:cNvSpPr/>
          <p:nvPr/>
        </p:nvSpPr>
        <p:spPr>
          <a:xfrm>
            <a:off x="10373867" y="4023360"/>
            <a:ext cx="1220724" cy="274320"/>
          </a:xfrm>
          <a:prstGeom prst="rect">
            <a:avLst/>
          </a:prstGeom>
          <a:noFill/>
          <a:ln w="9525">
            <a:solidFill>
              <a:srgbClr val="2F6FDB"/>
            </a:solidFill>
            <a:prstDash val="dash"/>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2F6FDB"/>
                </a:solidFill>
                <a:latin typeface="Calibri"/>
              </a:rPr>
              <a:t>Decision + reanalysis</a:t>
            </a:r>
          </a:p>
        </p:txBody>
      </p:sp>
      <p:sp>
        <p:nvSpPr>
          <p:cNvPr id="185" name="Rectangle 184"/>
          <p:cNvSpPr/>
          <p:nvPr/>
        </p:nvSpPr>
        <p:spPr>
          <a:xfrm>
            <a:off x="548640" y="4480560"/>
            <a:ext cx="11045952" cy="411480"/>
          </a:xfrm>
          <a:prstGeom prst="rect">
            <a:avLst/>
          </a:prstGeom>
          <a:solidFill>
            <a:srgbClr val="E8EFFA"/>
          </a:solidFill>
          <a:ln w="9525">
            <a:solidFill>
              <a:srgbClr val="C9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6" name="Picture 185" descr="image.png"/>
          <p:cNvPicPr>
            <a:picLocks noChangeAspect="1"/>
          </p:cNvPicPr>
          <p:nvPr/>
        </p:nvPicPr>
        <p:blipFill>
          <a:blip r:embed="rId11"/>
          <a:stretch>
            <a:fillRect/>
          </a:stretch>
        </p:blipFill>
        <p:spPr>
          <a:xfrm>
            <a:off x="713232" y="4562856"/>
            <a:ext cx="237744" cy="237744"/>
          </a:xfrm>
          <a:prstGeom prst="rect">
            <a:avLst/>
          </a:prstGeom>
        </p:spPr>
      </p:pic>
      <p:sp>
        <p:nvSpPr>
          <p:cNvPr id="187" name="TextBox 186"/>
          <p:cNvSpPr txBox="1"/>
          <p:nvPr/>
        </p:nvSpPr>
        <p:spPr>
          <a:xfrm>
            <a:off x="1051560" y="4480560"/>
            <a:ext cx="5303520" cy="411480"/>
          </a:xfrm>
          <a:prstGeom prst="rect">
            <a:avLst/>
          </a:prstGeom>
          <a:noFill/>
        </p:spPr>
        <p:txBody>
          <a:bodyPr wrap="square" lIns="0" tIns="0" rIns="0" bIns="0" anchor="ctr">
            <a:spAutoFit/>
          </a:bodyPr>
          <a:lstStyle/>
          <a:p>
            <a:pPr algn="l"/>
            <a:r>
              <a:rPr sz="1150" b="1" i="0">
                <a:solidFill>
                  <a:srgbClr val="0B1F3A"/>
                </a:solidFill>
                <a:latin typeface="Calibri"/>
              </a:rPr>
              <a:t>Evidence, provenance and revision history carried through every step</a:t>
            </a:r>
          </a:p>
        </p:txBody>
      </p:sp>
      <p:pic>
        <p:nvPicPr>
          <p:cNvPr id="188" name="Picture 187" descr="image.png"/>
          <p:cNvPicPr>
            <a:picLocks noChangeAspect="1"/>
          </p:cNvPicPr>
          <p:nvPr/>
        </p:nvPicPr>
        <p:blipFill>
          <a:blip r:embed="rId12"/>
          <a:stretch>
            <a:fillRect/>
          </a:stretch>
        </p:blipFill>
        <p:spPr>
          <a:xfrm>
            <a:off x="6583680" y="4562856"/>
            <a:ext cx="237744" cy="237744"/>
          </a:xfrm>
          <a:prstGeom prst="rect">
            <a:avLst/>
          </a:prstGeom>
        </p:spPr>
      </p:pic>
      <p:sp>
        <p:nvSpPr>
          <p:cNvPr id="189" name="TextBox 188"/>
          <p:cNvSpPr txBox="1"/>
          <p:nvPr/>
        </p:nvSpPr>
        <p:spPr>
          <a:xfrm>
            <a:off x="6922008" y="4480560"/>
            <a:ext cx="4572000" cy="411480"/>
          </a:xfrm>
          <a:prstGeom prst="rect">
            <a:avLst/>
          </a:prstGeom>
          <a:noFill/>
        </p:spPr>
        <p:txBody>
          <a:bodyPr wrap="square" lIns="0" tIns="0" rIns="0" bIns="0" anchor="ctr">
            <a:spAutoFit/>
          </a:bodyPr>
          <a:lstStyle/>
          <a:p>
            <a:pPr algn="l"/>
            <a:r>
              <a:rPr sz="1150" b="1" i="0">
                <a:solidFill>
                  <a:srgbClr val="0B1F3A"/>
                </a:solidFill>
                <a:latin typeface="Calibri"/>
              </a:rPr>
              <a:t>Decisions and project changes trigger reanalysis</a:t>
            </a:r>
          </a:p>
        </p:txBody>
      </p:sp>
      <p:sp>
        <p:nvSpPr>
          <p:cNvPr id="190" name="TextBox 189"/>
          <p:cNvSpPr txBox="1"/>
          <p:nvPr/>
        </p:nvSpPr>
        <p:spPr>
          <a:xfrm>
            <a:off x="548640" y="5029200"/>
            <a:ext cx="4572000" cy="182880"/>
          </a:xfrm>
          <a:prstGeom prst="rect">
            <a:avLst/>
          </a:prstGeom>
          <a:noFill/>
        </p:spPr>
        <p:txBody>
          <a:bodyPr wrap="square" lIns="0" tIns="0" rIns="0" bIns="0" anchor="t">
            <a:spAutoFit/>
          </a:bodyPr>
          <a:lstStyle/>
          <a:p>
            <a:pPr algn="l"/>
            <a:r>
              <a:rPr sz="850" b="1" i="0" spc="150">
                <a:solidFill>
                  <a:srgbClr val="2F6FDB"/>
                </a:solidFill>
                <a:latin typeface="Calibri"/>
              </a:rPr>
              <a:t>MINIMAL TECH STACK</a:t>
            </a:r>
          </a:p>
        </p:txBody>
      </p:sp>
      <p:sp>
        <p:nvSpPr>
          <p:cNvPr id="203" name="TextBox 202"/>
          <p:cNvSpPr txBox="1"/>
          <p:nvPr/>
        </p:nvSpPr>
        <p:spPr>
          <a:xfrm>
            <a:off x="548640" y="6172200"/>
            <a:ext cx="11064240" cy="182880"/>
          </a:xfrm>
          <a:prstGeom prst="rect">
            <a:avLst/>
          </a:prstGeom>
          <a:noFill/>
        </p:spPr>
        <p:txBody>
          <a:bodyPr wrap="square" lIns="0" tIns="0" rIns="0" bIns="0" anchor="t">
            <a:spAutoFit/>
          </a:bodyPr>
          <a:lstStyle/>
          <a:p>
            <a:pPr algn="l"/>
            <a:r>
              <a:rPr sz="900" b="0" i="1">
                <a:solidFill>
                  <a:srgbClr val="6B7482"/>
                </a:solidFill>
                <a:latin typeface="Calibri"/>
              </a:rPr>
              <a:t>Illustrative stack; final choices follow validation. Rules, geometry and calculations stay in deterministic and specialist tools, not an LLM alone.</a:t>
            </a:r>
          </a:p>
        </p:txBody>
      </p:sp>
      <p:sp>
        <p:nvSpPr>
          <p:cNvPr id="204" name="Rectangle 203"/>
          <p:cNvSpPr/>
          <p:nvPr/>
        </p:nvSpPr>
        <p:spPr>
          <a:xfrm>
            <a:off x="548640" y="5230368"/>
            <a:ext cx="2624328" cy="886968"/>
          </a:xfrm>
          <a:prstGeom prst="rect">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4"/>
          <p:cNvSpPr txBox="1"/>
          <p:nvPr/>
        </p:nvSpPr>
        <p:spPr>
          <a:xfrm>
            <a:off x="640080" y="5285231"/>
            <a:ext cx="2377440" cy="137160"/>
          </a:xfrm>
          <a:prstGeom prst="rect">
            <a:avLst/>
          </a:prstGeom>
          <a:noFill/>
        </p:spPr>
        <p:txBody>
          <a:bodyPr wrap="square" lIns="0" tIns="0" rIns="0" bIns="0">
            <a:spAutoFit/>
          </a:bodyPr>
          <a:lstStyle/>
          <a:p>
            <a:pPr algn="l"/>
            <a:r>
              <a:rPr sz="800" b="1" spc="60">
                <a:solidFill>
                  <a:srgbClr val="2F6FDB"/>
                </a:solidFill>
                <a:latin typeface="Calibri"/>
              </a:rPr>
              <a:t>AI &amp; VISION</a:t>
            </a:r>
          </a:p>
        </p:txBody>
      </p:sp>
      <p:sp>
        <p:nvSpPr>
          <p:cNvPr id="206" name="Rectangle 205"/>
          <p:cNvSpPr/>
          <p:nvPr/>
        </p:nvSpPr>
        <p:spPr>
          <a:xfrm>
            <a:off x="640080" y="5468112"/>
            <a:ext cx="75895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7" name="Picture 206" descr="image11.png"/>
          <p:cNvPicPr>
            <a:picLocks noChangeAspect="1"/>
          </p:cNvPicPr>
          <p:nvPr/>
        </p:nvPicPr>
        <p:blipFill>
          <a:blip r:embed="rId13"/>
          <a:stretch>
            <a:fillRect/>
          </a:stretch>
        </p:blipFill>
        <p:spPr>
          <a:xfrm>
            <a:off x="900684" y="5513831"/>
            <a:ext cx="237744" cy="237744"/>
          </a:xfrm>
          <a:prstGeom prst="rect">
            <a:avLst/>
          </a:prstGeom>
        </p:spPr>
      </p:pic>
      <p:sp>
        <p:nvSpPr>
          <p:cNvPr id="208" name="TextBox 207"/>
          <p:cNvSpPr txBox="1"/>
          <p:nvPr/>
        </p:nvSpPr>
        <p:spPr>
          <a:xfrm>
            <a:off x="640080" y="5769864"/>
            <a:ext cx="758952" cy="128016"/>
          </a:xfrm>
          <a:prstGeom prst="rect">
            <a:avLst/>
          </a:prstGeom>
          <a:noFill/>
        </p:spPr>
        <p:txBody>
          <a:bodyPr wrap="square" lIns="0" tIns="0" rIns="0" bIns="0">
            <a:spAutoFit/>
          </a:bodyPr>
          <a:lstStyle/>
          <a:p>
            <a:pPr algn="ctr"/>
            <a:r>
              <a:rPr sz="900" b="1">
                <a:solidFill>
                  <a:srgbClr val="0B1F3A"/>
                </a:solidFill>
                <a:latin typeface="Calibri"/>
              </a:rPr>
              <a:t>OpenCV</a:t>
            </a:r>
          </a:p>
        </p:txBody>
      </p:sp>
      <p:sp>
        <p:nvSpPr>
          <p:cNvPr id="209" name="TextBox 208"/>
          <p:cNvSpPr txBox="1"/>
          <p:nvPr/>
        </p:nvSpPr>
        <p:spPr>
          <a:xfrm>
            <a:off x="640080" y="5897879"/>
            <a:ext cx="758952" cy="118872"/>
          </a:xfrm>
          <a:prstGeom prst="rect">
            <a:avLst/>
          </a:prstGeom>
          <a:noFill/>
        </p:spPr>
        <p:txBody>
          <a:bodyPr wrap="square" lIns="0" tIns="0" rIns="0" bIns="0">
            <a:spAutoFit/>
          </a:bodyPr>
          <a:lstStyle/>
          <a:p>
            <a:pPr algn="ctr"/>
            <a:r>
              <a:rPr sz="800" b="0">
                <a:solidFill>
                  <a:srgbClr val="6B7482"/>
                </a:solidFill>
                <a:latin typeface="Calibri"/>
              </a:rPr>
              <a:t>Plan parsing</a:t>
            </a:r>
          </a:p>
        </p:txBody>
      </p:sp>
      <p:sp>
        <p:nvSpPr>
          <p:cNvPr id="210" name="Rectangle 209"/>
          <p:cNvSpPr/>
          <p:nvPr/>
        </p:nvSpPr>
        <p:spPr>
          <a:xfrm>
            <a:off x="1481328" y="5468112"/>
            <a:ext cx="75895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1" name="Picture 210" descr="image12.png"/>
          <p:cNvPicPr>
            <a:picLocks noChangeAspect="1"/>
          </p:cNvPicPr>
          <p:nvPr/>
        </p:nvPicPr>
        <p:blipFill>
          <a:blip r:embed="rId14"/>
          <a:stretch>
            <a:fillRect/>
          </a:stretch>
        </p:blipFill>
        <p:spPr>
          <a:xfrm>
            <a:off x="1741932" y="5513831"/>
            <a:ext cx="237744" cy="237744"/>
          </a:xfrm>
          <a:prstGeom prst="rect">
            <a:avLst/>
          </a:prstGeom>
        </p:spPr>
      </p:pic>
      <p:sp>
        <p:nvSpPr>
          <p:cNvPr id="212" name="TextBox 211"/>
          <p:cNvSpPr txBox="1"/>
          <p:nvPr/>
        </p:nvSpPr>
        <p:spPr>
          <a:xfrm>
            <a:off x="1481328" y="5769864"/>
            <a:ext cx="758952" cy="128016"/>
          </a:xfrm>
          <a:prstGeom prst="rect">
            <a:avLst/>
          </a:prstGeom>
          <a:noFill/>
        </p:spPr>
        <p:txBody>
          <a:bodyPr wrap="square" lIns="0" tIns="0" rIns="0" bIns="0">
            <a:spAutoFit/>
          </a:bodyPr>
          <a:lstStyle/>
          <a:p>
            <a:pPr algn="ctr"/>
            <a:r>
              <a:rPr sz="900" b="1">
                <a:solidFill>
                  <a:srgbClr val="0B1F3A"/>
                </a:solidFill>
                <a:latin typeface="Calibri"/>
              </a:rPr>
              <a:t>PyTorch</a:t>
            </a:r>
          </a:p>
        </p:txBody>
      </p:sp>
      <p:sp>
        <p:nvSpPr>
          <p:cNvPr id="213" name="TextBox 212"/>
          <p:cNvSpPr txBox="1"/>
          <p:nvPr/>
        </p:nvSpPr>
        <p:spPr>
          <a:xfrm>
            <a:off x="1481328" y="5897879"/>
            <a:ext cx="758952" cy="118872"/>
          </a:xfrm>
          <a:prstGeom prst="rect">
            <a:avLst/>
          </a:prstGeom>
          <a:noFill/>
        </p:spPr>
        <p:txBody>
          <a:bodyPr wrap="square" lIns="0" tIns="0" rIns="0" bIns="0">
            <a:spAutoFit/>
          </a:bodyPr>
          <a:lstStyle/>
          <a:p>
            <a:pPr algn="ctr"/>
            <a:r>
              <a:rPr sz="800" b="0">
                <a:solidFill>
                  <a:srgbClr val="6B7482"/>
                </a:solidFill>
                <a:latin typeface="Calibri"/>
              </a:rPr>
              <a:t>Vision models</a:t>
            </a:r>
          </a:p>
        </p:txBody>
      </p:sp>
      <p:sp>
        <p:nvSpPr>
          <p:cNvPr id="214" name="Rectangle 213"/>
          <p:cNvSpPr/>
          <p:nvPr/>
        </p:nvSpPr>
        <p:spPr>
          <a:xfrm>
            <a:off x="2322576" y="5468112"/>
            <a:ext cx="75895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5" name="Picture 214" descr="image13.png"/>
          <p:cNvPicPr>
            <a:picLocks noChangeAspect="1"/>
          </p:cNvPicPr>
          <p:nvPr/>
        </p:nvPicPr>
        <p:blipFill>
          <a:blip r:embed="rId15"/>
          <a:stretch>
            <a:fillRect/>
          </a:stretch>
        </p:blipFill>
        <p:spPr>
          <a:xfrm>
            <a:off x="2583180" y="5513831"/>
            <a:ext cx="237744" cy="237744"/>
          </a:xfrm>
          <a:prstGeom prst="rect">
            <a:avLst/>
          </a:prstGeom>
        </p:spPr>
      </p:pic>
      <p:sp>
        <p:nvSpPr>
          <p:cNvPr id="216" name="TextBox 215"/>
          <p:cNvSpPr txBox="1"/>
          <p:nvPr/>
        </p:nvSpPr>
        <p:spPr>
          <a:xfrm>
            <a:off x="2322576" y="5769864"/>
            <a:ext cx="758952" cy="128016"/>
          </a:xfrm>
          <a:prstGeom prst="rect">
            <a:avLst/>
          </a:prstGeom>
          <a:noFill/>
        </p:spPr>
        <p:txBody>
          <a:bodyPr wrap="square" lIns="0" tIns="0" rIns="0" bIns="0">
            <a:spAutoFit/>
          </a:bodyPr>
          <a:lstStyle/>
          <a:p>
            <a:pPr algn="ctr"/>
            <a:r>
              <a:rPr sz="900" b="1">
                <a:solidFill>
                  <a:srgbClr val="0B1F3A"/>
                </a:solidFill>
                <a:latin typeface="Calibri"/>
              </a:rPr>
              <a:t>Claude API</a:t>
            </a:r>
          </a:p>
        </p:txBody>
      </p:sp>
      <p:sp>
        <p:nvSpPr>
          <p:cNvPr id="217" name="TextBox 216"/>
          <p:cNvSpPr txBox="1"/>
          <p:nvPr/>
        </p:nvSpPr>
        <p:spPr>
          <a:xfrm>
            <a:off x="2322576" y="5897879"/>
            <a:ext cx="758952" cy="118872"/>
          </a:xfrm>
          <a:prstGeom prst="rect">
            <a:avLst/>
          </a:prstGeom>
          <a:noFill/>
        </p:spPr>
        <p:txBody>
          <a:bodyPr wrap="square" lIns="0" tIns="0" rIns="0" bIns="0">
            <a:spAutoFit/>
          </a:bodyPr>
          <a:lstStyle/>
          <a:p>
            <a:pPr algn="ctr"/>
            <a:r>
              <a:rPr sz="800" b="0">
                <a:solidFill>
                  <a:srgbClr val="6B7482"/>
                </a:solidFill>
                <a:latin typeface="Calibri"/>
              </a:rPr>
              <a:t>Vision + LLM</a:t>
            </a:r>
          </a:p>
        </p:txBody>
      </p:sp>
      <p:sp>
        <p:nvSpPr>
          <p:cNvPr id="218" name="Rectangle 217"/>
          <p:cNvSpPr/>
          <p:nvPr/>
        </p:nvSpPr>
        <p:spPr>
          <a:xfrm>
            <a:off x="3355848" y="5230368"/>
            <a:ext cx="2624328" cy="886968"/>
          </a:xfrm>
          <a:prstGeom prst="rect">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TextBox 218"/>
          <p:cNvSpPr txBox="1"/>
          <p:nvPr/>
        </p:nvSpPr>
        <p:spPr>
          <a:xfrm>
            <a:off x="3447288" y="5285231"/>
            <a:ext cx="2377440" cy="137160"/>
          </a:xfrm>
          <a:prstGeom prst="rect">
            <a:avLst/>
          </a:prstGeom>
          <a:noFill/>
        </p:spPr>
        <p:txBody>
          <a:bodyPr wrap="square" lIns="0" tIns="0" rIns="0" bIns="0">
            <a:spAutoFit/>
          </a:bodyPr>
          <a:lstStyle/>
          <a:p>
            <a:pPr algn="l"/>
            <a:r>
              <a:rPr sz="800" b="1" spc="60">
                <a:solidFill>
                  <a:srgbClr val="2F6FDB"/>
                </a:solidFill>
                <a:latin typeface="Calibri"/>
              </a:rPr>
              <a:t>DATA &amp; SERVICES</a:t>
            </a:r>
          </a:p>
        </p:txBody>
      </p:sp>
      <p:sp>
        <p:nvSpPr>
          <p:cNvPr id="220" name="Rectangle 219"/>
          <p:cNvSpPr/>
          <p:nvPr/>
        </p:nvSpPr>
        <p:spPr>
          <a:xfrm>
            <a:off x="3447288" y="5468112"/>
            <a:ext cx="75895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1" name="Picture 220" descr="image14.png"/>
          <p:cNvPicPr>
            <a:picLocks noChangeAspect="1"/>
          </p:cNvPicPr>
          <p:nvPr/>
        </p:nvPicPr>
        <p:blipFill>
          <a:blip r:embed="rId16"/>
          <a:stretch>
            <a:fillRect/>
          </a:stretch>
        </p:blipFill>
        <p:spPr>
          <a:xfrm>
            <a:off x="3707891" y="5513831"/>
            <a:ext cx="237744" cy="237744"/>
          </a:xfrm>
          <a:prstGeom prst="rect">
            <a:avLst/>
          </a:prstGeom>
        </p:spPr>
      </p:pic>
      <p:sp>
        <p:nvSpPr>
          <p:cNvPr id="222" name="TextBox 221"/>
          <p:cNvSpPr txBox="1"/>
          <p:nvPr/>
        </p:nvSpPr>
        <p:spPr>
          <a:xfrm>
            <a:off x="3447288" y="5769864"/>
            <a:ext cx="758952" cy="128016"/>
          </a:xfrm>
          <a:prstGeom prst="rect">
            <a:avLst/>
          </a:prstGeom>
          <a:noFill/>
        </p:spPr>
        <p:txBody>
          <a:bodyPr wrap="square" lIns="0" tIns="0" rIns="0" bIns="0">
            <a:spAutoFit/>
          </a:bodyPr>
          <a:lstStyle/>
          <a:p>
            <a:pPr algn="ctr"/>
            <a:r>
              <a:rPr sz="900" b="1">
                <a:solidFill>
                  <a:srgbClr val="0B1F3A"/>
                </a:solidFill>
                <a:latin typeface="Calibri"/>
              </a:rPr>
              <a:t>PostgreSQL</a:t>
            </a:r>
          </a:p>
        </p:txBody>
      </p:sp>
      <p:sp>
        <p:nvSpPr>
          <p:cNvPr id="223" name="TextBox 222"/>
          <p:cNvSpPr txBox="1"/>
          <p:nvPr/>
        </p:nvSpPr>
        <p:spPr>
          <a:xfrm>
            <a:off x="3447288" y="5897879"/>
            <a:ext cx="758952" cy="118872"/>
          </a:xfrm>
          <a:prstGeom prst="rect">
            <a:avLst/>
          </a:prstGeom>
          <a:noFill/>
        </p:spPr>
        <p:txBody>
          <a:bodyPr wrap="square" lIns="0" tIns="0" rIns="0" bIns="0">
            <a:spAutoFit/>
          </a:bodyPr>
          <a:lstStyle/>
          <a:p>
            <a:pPr algn="ctr"/>
            <a:r>
              <a:rPr sz="800" b="0">
                <a:solidFill>
                  <a:srgbClr val="6B7482"/>
                </a:solidFill>
                <a:latin typeface="Calibri"/>
              </a:rPr>
              <a:t>Spatial data</a:t>
            </a:r>
          </a:p>
        </p:txBody>
      </p:sp>
      <p:sp>
        <p:nvSpPr>
          <p:cNvPr id="224" name="Rectangle 223"/>
          <p:cNvSpPr/>
          <p:nvPr/>
        </p:nvSpPr>
        <p:spPr>
          <a:xfrm>
            <a:off x="4288536" y="5468112"/>
            <a:ext cx="75895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5" name="Picture 224" descr="image15.png"/>
          <p:cNvPicPr>
            <a:picLocks noChangeAspect="1"/>
          </p:cNvPicPr>
          <p:nvPr/>
        </p:nvPicPr>
        <p:blipFill>
          <a:blip r:embed="rId17"/>
          <a:stretch>
            <a:fillRect/>
          </a:stretch>
        </p:blipFill>
        <p:spPr>
          <a:xfrm>
            <a:off x="4549140" y="5513831"/>
            <a:ext cx="237744" cy="237744"/>
          </a:xfrm>
          <a:prstGeom prst="rect">
            <a:avLst/>
          </a:prstGeom>
        </p:spPr>
      </p:pic>
      <p:sp>
        <p:nvSpPr>
          <p:cNvPr id="226" name="TextBox 225"/>
          <p:cNvSpPr txBox="1"/>
          <p:nvPr/>
        </p:nvSpPr>
        <p:spPr>
          <a:xfrm>
            <a:off x="4288536" y="5769864"/>
            <a:ext cx="758952" cy="128016"/>
          </a:xfrm>
          <a:prstGeom prst="rect">
            <a:avLst/>
          </a:prstGeom>
          <a:noFill/>
        </p:spPr>
        <p:txBody>
          <a:bodyPr wrap="square" lIns="0" tIns="0" rIns="0" bIns="0">
            <a:spAutoFit/>
          </a:bodyPr>
          <a:lstStyle/>
          <a:p>
            <a:pPr algn="ctr"/>
            <a:r>
              <a:rPr sz="900" b="1">
                <a:solidFill>
                  <a:srgbClr val="0B1F3A"/>
                </a:solidFill>
                <a:latin typeface="Calibri"/>
              </a:rPr>
              <a:t>Neo4j</a:t>
            </a:r>
          </a:p>
        </p:txBody>
      </p:sp>
      <p:sp>
        <p:nvSpPr>
          <p:cNvPr id="227" name="TextBox 226"/>
          <p:cNvSpPr txBox="1"/>
          <p:nvPr/>
        </p:nvSpPr>
        <p:spPr>
          <a:xfrm>
            <a:off x="4288536" y="5897879"/>
            <a:ext cx="758952" cy="118872"/>
          </a:xfrm>
          <a:prstGeom prst="rect">
            <a:avLst/>
          </a:prstGeom>
          <a:noFill/>
        </p:spPr>
        <p:txBody>
          <a:bodyPr wrap="square" lIns="0" tIns="0" rIns="0" bIns="0">
            <a:spAutoFit/>
          </a:bodyPr>
          <a:lstStyle/>
          <a:p>
            <a:pPr algn="ctr"/>
            <a:r>
              <a:rPr sz="800" b="0">
                <a:solidFill>
                  <a:srgbClr val="6B7482"/>
                </a:solidFill>
                <a:latin typeface="Calibri"/>
              </a:rPr>
              <a:t>Entity graph</a:t>
            </a:r>
          </a:p>
        </p:txBody>
      </p:sp>
      <p:sp>
        <p:nvSpPr>
          <p:cNvPr id="228" name="Rectangle 227"/>
          <p:cNvSpPr/>
          <p:nvPr/>
        </p:nvSpPr>
        <p:spPr>
          <a:xfrm>
            <a:off x="5129784" y="5468112"/>
            <a:ext cx="75895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9" name="Picture 228" descr="image16.png"/>
          <p:cNvPicPr>
            <a:picLocks noChangeAspect="1"/>
          </p:cNvPicPr>
          <p:nvPr/>
        </p:nvPicPr>
        <p:blipFill>
          <a:blip r:embed="rId18"/>
          <a:stretch>
            <a:fillRect/>
          </a:stretch>
        </p:blipFill>
        <p:spPr>
          <a:xfrm>
            <a:off x="5390388" y="5513831"/>
            <a:ext cx="237744" cy="237744"/>
          </a:xfrm>
          <a:prstGeom prst="rect">
            <a:avLst/>
          </a:prstGeom>
        </p:spPr>
      </p:pic>
      <p:sp>
        <p:nvSpPr>
          <p:cNvPr id="230" name="TextBox 229"/>
          <p:cNvSpPr txBox="1"/>
          <p:nvPr/>
        </p:nvSpPr>
        <p:spPr>
          <a:xfrm>
            <a:off x="5129784" y="5769864"/>
            <a:ext cx="758952" cy="128016"/>
          </a:xfrm>
          <a:prstGeom prst="rect">
            <a:avLst/>
          </a:prstGeom>
          <a:noFill/>
        </p:spPr>
        <p:txBody>
          <a:bodyPr wrap="square" lIns="0" tIns="0" rIns="0" bIns="0">
            <a:spAutoFit/>
          </a:bodyPr>
          <a:lstStyle/>
          <a:p>
            <a:pPr algn="ctr"/>
            <a:r>
              <a:rPr sz="900" b="1">
                <a:solidFill>
                  <a:srgbClr val="0B1F3A"/>
                </a:solidFill>
                <a:latin typeface="Calibri"/>
              </a:rPr>
              <a:t>FastAPI</a:t>
            </a:r>
          </a:p>
        </p:txBody>
      </p:sp>
      <p:sp>
        <p:nvSpPr>
          <p:cNvPr id="231" name="TextBox 230"/>
          <p:cNvSpPr txBox="1"/>
          <p:nvPr/>
        </p:nvSpPr>
        <p:spPr>
          <a:xfrm>
            <a:off x="5129784" y="5897879"/>
            <a:ext cx="758952" cy="118872"/>
          </a:xfrm>
          <a:prstGeom prst="rect">
            <a:avLst/>
          </a:prstGeom>
          <a:noFill/>
        </p:spPr>
        <p:txBody>
          <a:bodyPr wrap="square" lIns="0" tIns="0" rIns="0" bIns="0">
            <a:spAutoFit/>
          </a:bodyPr>
          <a:lstStyle/>
          <a:p>
            <a:pPr algn="ctr"/>
            <a:r>
              <a:rPr sz="800" b="0">
                <a:solidFill>
                  <a:srgbClr val="6B7482"/>
                </a:solidFill>
                <a:latin typeface="Calibri"/>
              </a:rPr>
              <a:t>Service API</a:t>
            </a:r>
          </a:p>
        </p:txBody>
      </p:sp>
      <p:sp>
        <p:nvSpPr>
          <p:cNvPr id="232" name="Rectangle 231"/>
          <p:cNvSpPr/>
          <p:nvPr/>
        </p:nvSpPr>
        <p:spPr>
          <a:xfrm>
            <a:off x="6163055" y="5230368"/>
            <a:ext cx="2624328" cy="886968"/>
          </a:xfrm>
          <a:prstGeom prst="rect">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TextBox 232"/>
          <p:cNvSpPr txBox="1"/>
          <p:nvPr/>
        </p:nvSpPr>
        <p:spPr>
          <a:xfrm>
            <a:off x="6254495" y="5285231"/>
            <a:ext cx="2377440" cy="137160"/>
          </a:xfrm>
          <a:prstGeom prst="rect">
            <a:avLst/>
          </a:prstGeom>
          <a:noFill/>
        </p:spPr>
        <p:txBody>
          <a:bodyPr wrap="square" lIns="0" tIns="0" rIns="0" bIns="0">
            <a:spAutoFit/>
          </a:bodyPr>
          <a:lstStyle/>
          <a:p>
            <a:pPr algn="l"/>
            <a:r>
              <a:rPr sz="800" b="1" spc="60">
                <a:solidFill>
                  <a:srgbClr val="2F6FDB"/>
                </a:solidFill>
                <a:latin typeface="Calibri"/>
              </a:rPr>
              <a:t>COMPUTE &amp; SOLVERS</a:t>
            </a:r>
          </a:p>
        </p:txBody>
      </p:sp>
      <p:sp>
        <p:nvSpPr>
          <p:cNvPr id="234" name="Rectangle 233"/>
          <p:cNvSpPr/>
          <p:nvPr/>
        </p:nvSpPr>
        <p:spPr>
          <a:xfrm>
            <a:off x="6254495" y="5468112"/>
            <a:ext cx="75895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5" name="Picture 234" descr="image17.png"/>
          <p:cNvPicPr>
            <a:picLocks noChangeAspect="1"/>
          </p:cNvPicPr>
          <p:nvPr/>
        </p:nvPicPr>
        <p:blipFill>
          <a:blip r:embed="rId19"/>
          <a:stretch>
            <a:fillRect/>
          </a:stretch>
        </p:blipFill>
        <p:spPr>
          <a:xfrm>
            <a:off x="6515099" y="5513831"/>
            <a:ext cx="237744" cy="237744"/>
          </a:xfrm>
          <a:prstGeom prst="rect">
            <a:avLst/>
          </a:prstGeom>
        </p:spPr>
      </p:pic>
      <p:sp>
        <p:nvSpPr>
          <p:cNvPr id="236" name="TextBox 235"/>
          <p:cNvSpPr txBox="1"/>
          <p:nvPr/>
        </p:nvSpPr>
        <p:spPr>
          <a:xfrm>
            <a:off x="6254495" y="5769864"/>
            <a:ext cx="758952" cy="128016"/>
          </a:xfrm>
          <a:prstGeom prst="rect">
            <a:avLst/>
          </a:prstGeom>
          <a:noFill/>
        </p:spPr>
        <p:txBody>
          <a:bodyPr wrap="square" lIns="0" tIns="0" rIns="0" bIns="0">
            <a:spAutoFit/>
          </a:bodyPr>
          <a:lstStyle/>
          <a:p>
            <a:pPr algn="ctr"/>
            <a:r>
              <a:rPr sz="900" b="1">
                <a:solidFill>
                  <a:srgbClr val="0B1F3A"/>
                </a:solidFill>
                <a:latin typeface="Calibri"/>
              </a:rPr>
              <a:t>NumPy</a:t>
            </a:r>
          </a:p>
        </p:txBody>
      </p:sp>
      <p:sp>
        <p:nvSpPr>
          <p:cNvPr id="237" name="TextBox 236"/>
          <p:cNvSpPr txBox="1"/>
          <p:nvPr/>
        </p:nvSpPr>
        <p:spPr>
          <a:xfrm>
            <a:off x="6254495" y="5897879"/>
            <a:ext cx="758952" cy="118872"/>
          </a:xfrm>
          <a:prstGeom prst="rect">
            <a:avLst/>
          </a:prstGeom>
          <a:noFill/>
        </p:spPr>
        <p:txBody>
          <a:bodyPr wrap="square" lIns="0" tIns="0" rIns="0" bIns="0">
            <a:spAutoFit/>
          </a:bodyPr>
          <a:lstStyle/>
          <a:p>
            <a:pPr algn="ctr"/>
            <a:r>
              <a:rPr sz="800" b="0">
                <a:solidFill>
                  <a:srgbClr val="6B7482"/>
                </a:solidFill>
                <a:latin typeface="Calibri"/>
              </a:rPr>
              <a:t>Geometry</a:t>
            </a:r>
          </a:p>
        </p:txBody>
      </p:sp>
      <p:sp>
        <p:nvSpPr>
          <p:cNvPr id="238" name="Rectangle 237"/>
          <p:cNvSpPr/>
          <p:nvPr/>
        </p:nvSpPr>
        <p:spPr>
          <a:xfrm>
            <a:off x="7095743" y="5468112"/>
            <a:ext cx="75895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9" name="Picture 238" descr="image18.png"/>
          <p:cNvPicPr>
            <a:picLocks noChangeAspect="1"/>
          </p:cNvPicPr>
          <p:nvPr/>
        </p:nvPicPr>
        <p:blipFill>
          <a:blip r:embed="rId20"/>
          <a:stretch>
            <a:fillRect/>
          </a:stretch>
        </p:blipFill>
        <p:spPr>
          <a:xfrm>
            <a:off x="7356347" y="5513831"/>
            <a:ext cx="237744" cy="237744"/>
          </a:xfrm>
          <a:prstGeom prst="rect">
            <a:avLst/>
          </a:prstGeom>
        </p:spPr>
      </p:pic>
      <p:sp>
        <p:nvSpPr>
          <p:cNvPr id="240" name="TextBox 239"/>
          <p:cNvSpPr txBox="1"/>
          <p:nvPr/>
        </p:nvSpPr>
        <p:spPr>
          <a:xfrm>
            <a:off x="7095743" y="5769864"/>
            <a:ext cx="758952" cy="128016"/>
          </a:xfrm>
          <a:prstGeom prst="rect">
            <a:avLst/>
          </a:prstGeom>
          <a:noFill/>
        </p:spPr>
        <p:txBody>
          <a:bodyPr wrap="square" lIns="0" tIns="0" rIns="0" bIns="0">
            <a:spAutoFit/>
          </a:bodyPr>
          <a:lstStyle/>
          <a:p>
            <a:pPr algn="ctr"/>
            <a:r>
              <a:rPr sz="900" b="1">
                <a:solidFill>
                  <a:srgbClr val="0B1F3A"/>
                </a:solidFill>
                <a:latin typeface="Calibri"/>
              </a:rPr>
              <a:t>SciPy</a:t>
            </a:r>
          </a:p>
        </p:txBody>
      </p:sp>
      <p:sp>
        <p:nvSpPr>
          <p:cNvPr id="241" name="TextBox 240"/>
          <p:cNvSpPr txBox="1"/>
          <p:nvPr/>
        </p:nvSpPr>
        <p:spPr>
          <a:xfrm>
            <a:off x="7095743" y="5897879"/>
            <a:ext cx="758952" cy="118872"/>
          </a:xfrm>
          <a:prstGeom prst="rect">
            <a:avLst/>
          </a:prstGeom>
          <a:noFill/>
        </p:spPr>
        <p:txBody>
          <a:bodyPr wrap="square" lIns="0" tIns="0" rIns="0" bIns="0">
            <a:spAutoFit/>
          </a:bodyPr>
          <a:lstStyle/>
          <a:p>
            <a:pPr algn="ctr"/>
            <a:r>
              <a:rPr sz="800" b="0">
                <a:solidFill>
                  <a:srgbClr val="6B7482"/>
                </a:solidFill>
                <a:latin typeface="Calibri"/>
              </a:rPr>
              <a:t>Calculations</a:t>
            </a:r>
          </a:p>
        </p:txBody>
      </p:sp>
      <p:sp>
        <p:nvSpPr>
          <p:cNvPr id="242" name="Rectangle 241"/>
          <p:cNvSpPr/>
          <p:nvPr/>
        </p:nvSpPr>
        <p:spPr>
          <a:xfrm>
            <a:off x="7936992" y="5468112"/>
            <a:ext cx="75895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3" name="Picture 242" descr="image19.png"/>
          <p:cNvPicPr>
            <a:picLocks noChangeAspect="1"/>
          </p:cNvPicPr>
          <p:nvPr/>
        </p:nvPicPr>
        <p:blipFill>
          <a:blip r:embed="rId21"/>
          <a:stretch>
            <a:fillRect/>
          </a:stretch>
        </p:blipFill>
        <p:spPr>
          <a:xfrm>
            <a:off x="8197595" y="5513831"/>
            <a:ext cx="237744" cy="237744"/>
          </a:xfrm>
          <a:prstGeom prst="rect">
            <a:avLst/>
          </a:prstGeom>
        </p:spPr>
      </p:pic>
      <p:sp>
        <p:nvSpPr>
          <p:cNvPr id="244" name="TextBox 243"/>
          <p:cNvSpPr txBox="1"/>
          <p:nvPr/>
        </p:nvSpPr>
        <p:spPr>
          <a:xfrm>
            <a:off x="7936992" y="5769864"/>
            <a:ext cx="758952" cy="128016"/>
          </a:xfrm>
          <a:prstGeom prst="rect">
            <a:avLst/>
          </a:prstGeom>
          <a:noFill/>
        </p:spPr>
        <p:txBody>
          <a:bodyPr wrap="square" lIns="0" tIns="0" rIns="0" bIns="0">
            <a:spAutoFit/>
          </a:bodyPr>
          <a:lstStyle/>
          <a:p>
            <a:pPr algn="ctr"/>
            <a:r>
              <a:rPr sz="900" b="1">
                <a:solidFill>
                  <a:srgbClr val="0B1F3A"/>
                </a:solidFill>
                <a:latin typeface="Calibri"/>
              </a:rPr>
              <a:t>Docker</a:t>
            </a:r>
          </a:p>
        </p:txBody>
      </p:sp>
      <p:sp>
        <p:nvSpPr>
          <p:cNvPr id="245" name="TextBox 244"/>
          <p:cNvSpPr txBox="1"/>
          <p:nvPr/>
        </p:nvSpPr>
        <p:spPr>
          <a:xfrm>
            <a:off x="7936992" y="5897879"/>
            <a:ext cx="758952" cy="118872"/>
          </a:xfrm>
          <a:prstGeom prst="rect">
            <a:avLst/>
          </a:prstGeom>
          <a:noFill/>
        </p:spPr>
        <p:txBody>
          <a:bodyPr wrap="square" lIns="0" tIns="0" rIns="0" bIns="0">
            <a:spAutoFit/>
          </a:bodyPr>
          <a:lstStyle/>
          <a:p>
            <a:pPr algn="ctr"/>
            <a:r>
              <a:rPr sz="800" b="0">
                <a:solidFill>
                  <a:srgbClr val="6B7482"/>
                </a:solidFill>
                <a:latin typeface="Calibri"/>
              </a:rPr>
              <a:t>Sandboxing</a:t>
            </a:r>
          </a:p>
        </p:txBody>
      </p:sp>
      <p:sp>
        <p:nvSpPr>
          <p:cNvPr id="246" name="Rectangle 245"/>
          <p:cNvSpPr/>
          <p:nvPr/>
        </p:nvSpPr>
        <p:spPr>
          <a:xfrm>
            <a:off x="8970263" y="5230368"/>
            <a:ext cx="2624328" cy="886968"/>
          </a:xfrm>
          <a:prstGeom prst="rect">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TextBox 246"/>
          <p:cNvSpPr txBox="1"/>
          <p:nvPr/>
        </p:nvSpPr>
        <p:spPr>
          <a:xfrm>
            <a:off x="9061703" y="5285231"/>
            <a:ext cx="2377440" cy="137160"/>
          </a:xfrm>
          <a:prstGeom prst="rect">
            <a:avLst/>
          </a:prstGeom>
          <a:noFill/>
        </p:spPr>
        <p:txBody>
          <a:bodyPr wrap="square" lIns="0" tIns="0" rIns="0" bIns="0">
            <a:spAutoFit/>
          </a:bodyPr>
          <a:lstStyle/>
          <a:p>
            <a:pPr algn="l"/>
            <a:r>
              <a:rPr sz="800" b="1" spc="60">
                <a:solidFill>
                  <a:srgbClr val="2F6FDB"/>
                </a:solidFill>
                <a:latin typeface="Calibri"/>
              </a:rPr>
              <a:t>REVIEW INTERFACE</a:t>
            </a:r>
          </a:p>
        </p:txBody>
      </p:sp>
      <p:sp>
        <p:nvSpPr>
          <p:cNvPr id="248" name="Rectangle 247"/>
          <p:cNvSpPr/>
          <p:nvPr/>
        </p:nvSpPr>
        <p:spPr>
          <a:xfrm>
            <a:off x="9061703" y="5468112"/>
            <a:ext cx="75895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9" name="Picture 248" descr="image20.png"/>
          <p:cNvPicPr>
            <a:picLocks noChangeAspect="1"/>
          </p:cNvPicPr>
          <p:nvPr/>
        </p:nvPicPr>
        <p:blipFill>
          <a:blip r:embed="rId22"/>
          <a:stretch>
            <a:fillRect/>
          </a:stretch>
        </p:blipFill>
        <p:spPr>
          <a:xfrm>
            <a:off x="9322307" y="5513831"/>
            <a:ext cx="237744" cy="237744"/>
          </a:xfrm>
          <a:prstGeom prst="rect">
            <a:avLst/>
          </a:prstGeom>
        </p:spPr>
      </p:pic>
      <p:sp>
        <p:nvSpPr>
          <p:cNvPr id="250" name="TextBox 249"/>
          <p:cNvSpPr txBox="1"/>
          <p:nvPr/>
        </p:nvSpPr>
        <p:spPr>
          <a:xfrm>
            <a:off x="9061703" y="5769864"/>
            <a:ext cx="758952" cy="128016"/>
          </a:xfrm>
          <a:prstGeom prst="rect">
            <a:avLst/>
          </a:prstGeom>
          <a:noFill/>
        </p:spPr>
        <p:txBody>
          <a:bodyPr wrap="square" lIns="0" tIns="0" rIns="0" bIns="0">
            <a:spAutoFit/>
          </a:bodyPr>
          <a:lstStyle/>
          <a:p>
            <a:pPr algn="ctr"/>
            <a:r>
              <a:rPr sz="900" b="1">
                <a:solidFill>
                  <a:srgbClr val="0B1F3A"/>
                </a:solidFill>
                <a:latin typeface="Calibri"/>
              </a:rPr>
              <a:t>React</a:t>
            </a:r>
          </a:p>
        </p:txBody>
      </p:sp>
      <p:sp>
        <p:nvSpPr>
          <p:cNvPr id="251" name="TextBox 250"/>
          <p:cNvSpPr txBox="1"/>
          <p:nvPr/>
        </p:nvSpPr>
        <p:spPr>
          <a:xfrm>
            <a:off x="9061703" y="5897879"/>
            <a:ext cx="758952" cy="118872"/>
          </a:xfrm>
          <a:prstGeom prst="rect">
            <a:avLst/>
          </a:prstGeom>
          <a:noFill/>
        </p:spPr>
        <p:txBody>
          <a:bodyPr wrap="square" lIns="0" tIns="0" rIns="0" bIns="0">
            <a:spAutoFit/>
          </a:bodyPr>
          <a:lstStyle/>
          <a:p>
            <a:pPr algn="ctr"/>
            <a:r>
              <a:rPr sz="800" b="0">
                <a:solidFill>
                  <a:srgbClr val="6B7482"/>
                </a:solidFill>
                <a:latin typeface="Calibri"/>
              </a:rPr>
              <a:t>Review UI</a:t>
            </a:r>
          </a:p>
        </p:txBody>
      </p:sp>
      <p:sp>
        <p:nvSpPr>
          <p:cNvPr id="252" name="Rectangle 251"/>
          <p:cNvSpPr/>
          <p:nvPr/>
        </p:nvSpPr>
        <p:spPr>
          <a:xfrm>
            <a:off x="9902951" y="5468112"/>
            <a:ext cx="75895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3" name="Picture 252" descr="image21.png"/>
          <p:cNvPicPr>
            <a:picLocks noChangeAspect="1"/>
          </p:cNvPicPr>
          <p:nvPr/>
        </p:nvPicPr>
        <p:blipFill>
          <a:blip r:embed="rId23"/>
          <a:stretch>
            <a:fillRect/>
          </a:stretch>
        </p:blipFill>
        <p:spPr>
          <a:xfrm>
            <a:off x="10163555" y="5513831"/>
            <a:ext cx="237744" cy="237744"/>
          </a:xfrm>
          <a:prstGeom prst="rect">
            <a:avLst/>
          </a:prstGeom>
        </p:spPr>
      </p:pic>
      <p:sp>
        <p:nvSpPr>
          <p:cNvPr id="254" name="TextBox 253"/>
          <p:cNvSpPr txBox="1"/>
          <p:nvPr/>
        </p:nvSpPr>
        <p:spPr>
          <a:xfrm>
            <a:off x="9902951" y="5769864"/>
            <a:ext cx="758952" cy="128016"/>
          </a:xfrm>
          <a:prstGeom prst="rect">
            <a:avLst/>
          </a:prstGeom>
          <a:noFill/>
        </p:spPr>
        <p:txBody>
          <a:bodyPr wrap="square" lIns="0" tIns="0" rIns="0" bIns="0">
            <a:spAutoFit/>
          </a:bodyPr>
          <a:lstStyle/>
          <a:p>
            <a:pPr algn="ctr"/>
            <a:r>
              <a:rPr sz="900" b="1">
                <a:solidFill>
                  <a:srgbClr val="0B1F3A"/>
                </a:solidFill>
                <a:latin typeface="Calibri"/>
              </a:rPr>
              <a:t>Three.js</a:t>
            </a:r>
          </a:p>
        </p:txBody>
      </p:sp>
      <p:sp>
        <p:nvSpPr>
          <p:cNvPr id="255" name="TextBox 254"/>
          <p:cNvSpPr txBox="1"/>
          <p:nvPr/>
        </p:nvSpPr>
        <p:spPr>
          <a:xfrm>
            <a:off x="9902951" y="5897879"/>
            <a:ext cx="758952" cy="118872"/>
          </a:xfrm>
          <a:prstGeom prst="rect">
            <a:avLst/>
          </a:prstGeom>
          <a:noFill/>
        </p:spPr>
        <p:txBody>
          <a:bodyPr wrap="square" lIns="0" tIns="0" rIns="0" bIns="0">
            <a:spAutoFit/>
          </a:bodyPr>
          <a:lstStyle/>
          <a:p>
            <a:pPr algn="ctr"/>
            <a:r>
              <a:rPr sz="800" b="0">
                <a:solidFill>
                  <a:srgbClr val="6B7482"/>
                </a:solidFill>
                <a:latin typeface="Calibri"/>
              </a:rPr>
              <a:t>3D overlays</a:t>
            </a:r>
          </a:p>
        </p:txBody>
      </p:sp>
      <p:sp>
        <p:nvSpPr>
          <p:cNvPr id="256" name="Rectangle 255"/>
          <p:cNvSpPr/>
          <p:nvPr/>
        </p:nvSpPr>
        <p:spPr>
          <a:xfrm>
            <a:off x="10744199" y="5468112"/>
            <a:ext cx="75895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7" name="Picture 256" descr="image22.png"/>
          <p:cNvPicPr>
            <a:picLocks noChangeAspect="1"/>
          </p:cNvPicPr>
          <p:nvPr/>
        </p:nvPicPr>
        <p:blipFill>
          <a:blip r:embed="rId24"/>
          <a:stretch>
            <a:fillRect/>
          </a:stretch>
        </p:blipFill>
        <p:spPr>
          <a:xfrm>
            <a:off x="11004803" y="5513831"/>
            <a:ext cx="237744" cy="237744"/>
          </a:xfrm>
          <a:prstGeom prst="rect">
            <a:avLst/>
          </a:prstGeom>
        </p:spPr>
      </p:pic>
      <p:sp>
        <p:nvSpPr>
          <p:cNvPr id="258" name="TextBox 257"/>
          <p:cNvSpPr txBox="1"/>
          <p:nvPr/>
        </p:nvSpPr>
        <p:spPr>
          <a:xfrm>
            <a:off x="10744199" y="5769864"/>
            <a:ext cx="758952" cy="128016"/>
          </a:xfrm>
          <a:prstGeom prst="rect">
            <a:avLst/>
          </a:prstGeom>
          <a:noFill/>
        </p:spPr>
        <p:txBody>
          <a:bodyPr wrap="square" lIns="0" tIns="0" rIns="0" bIns="0">
            <a:spAutoFit/>
          </a:bodyPr>
          <a:lstStyle/>
          <a:p>
            <a:pPr algn="ctr"/>
            <a:r>
              <a:rPr sz="900" b="1">
                <a:solidFill>
                  <a:srgbClr val="0B1F3A"/>
                </a:solidFill>
                <a:latin typeface="Calibri"/>
              </a:rPr>
              <a:t>TypeScript</a:t>
            </a:r>
          </a:p>
        </p:txBody>
      </p:sp>
      <p:sp>
        <p:nvSpPr>
          <p:cNvPr id="259" name="TextBox 258"/>
          <p:cNvSpPr txBox="1"/>
          <p:nvPr/>
        </p:nvSpPr>
        <p:spPr>
          <a:xfrm>
            <a:off x="10744199" y="5897879"/>
            <a:ext cx="758952" cy="118872"/>
          </a:xfrm>
          <a:prstGeom prst="rect">
            <a:avLst/>
          </a:prstGeom>
          <a:noFill/>
        </p:spPr>
        <p:txBody>
          <a:bodyPr wrap="square" lIns="0" tIns="0" rIns="0" bIns="0">
            <a:spAutoFit/>
          </a:bodyPr>
          <a:lstStyle/>
          <a:p>
            <a:pPr algn="ctr"/>
            <a:r>
              <a:rPr sz="800" b="0">
                <a:solidFill>
                  <a:srgbClr val="6B7482"/>
                </a:solidFill>
                <a:latin typeface="Calibri"/>
              </a:rPr>
              <a:t>Type safety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60120"/>
          </a:xfrm>
          <a:prstGeom prst="rect">
            <a:avLst/>
          </a:prstGeom>
          <a:noFill/>
          <a:ln/>
        </p:spPr>
        <p:txBody>
          <a:bodyPr wrap="square" lIns="0" tIns="0" rIns="0" bIns="0" rtlCol="0" anchor="t"/>
          <a:lstStyle/>
          <a:p>
            <a:pPr marL="0" indent="0" algn="l">
              <a:buNone/>
            </a:pPr>
            <a:r>
              <a:rPr lang="en-US" sz="3000" b="1" dirty="0">
                <a:solidFill>
                  <a:srgbClr val="0B1F3A"/>
                </a:solidFill>
                <a:latin typeface="Calibri" pitchFamily="34" charset="0"/>
                <a:ea typeface="Calibri" pitchFamily="34" charset="-122"/>
                <a:cs typeface="Calibri" pitchFamily="34" charset="-120"/>
              </a:rPr>
              <a:t>Feasibility &amp; scalability: the real-world evidence</a:t>
            </a:r>
            <a:endParaRPr lang="en-US" sz="3000" dirty="0"/>
          </a:p>
        </p:txBody>
      </p:sp>
      <p:sp>
        <p:nvSpPr>
          <p:cNvPr id="501" name="Text 0"/>
          <p:cNvSpPr txBox="1"/>
          <p:nvPr/>
        </p:nvSpPr>
        <p:spPr>
          <a:xfrm>
            <a:off x="548640" y="896112"/>
            <a:ext cx="10515600" cy="274320"/>
          </a:xfrm>
          <a:prstGeom prst="rect">
            <a:avLst/>
          </a:prstGeom>
          <a:noFill/>
          <a:ln/>
        </p:spPr>
        <p:txBody>
          <a:bodyPr wrap="square" lIns="0" tIns="0" rIns="0" bIns="0" rtlCol="0" anchor="t"/>
          <a:lstStyle/>
          <a:p>
            <a:pPr marL="0" indent="0">
              <a:buNone/>
            </a:pPr>
            <a:r>
              <a:rPr lang="en-US" sz="1500" dirty="0">
                <a:solidFill>
                  <a:srgbClr val="6B7482"/>
                </a:solidFill>
                <a:latin typeface="Calibri" pitchFamily="34" charset="0"/>
                <a:ea typeface="Calibri" pitchFamily="34" charset="-122"/>
                <a:cs typeface="Calibri" pitchFamily="34" charset="-120"/>
              </a:rPr>
              <a:t>Real-world data on technical readiness, the cost of the problem and market growth.</a:t>
            </a:r>
            <a:endParaRPr lang="en-US" sz="1500" dirty="0"/>
          </a:p>
        </p:txBody>
      </p:sp>
      <p:sp>
        <p:nvSpPr>
          <p:cNvPr id="502" name="Text 1"/>
          <p:cNvSpPr txBox="1"/>
          <p:nvPr/>
        </p:nvSpPr>
        <p:spPr>
          <a:xfrm>
            <a:off x="548640" y="1261872"/>
            <a:ext cx="7315200" cy="201168"/>
          </a:xfrm>
          <a:prstGeom prst="rect">
            <a:avLst/>
          </a:prstGeom>
          <a:noFill/>
          <a:ln/>
        </p:spPr>
        <p:txBody>
          <a:bodyPr wrap="square" lIns="0" tIns="0" rIns="0" bIns="0" rtlCol="0" anchor="t"/>
          <a:lstStyle/>
          <a:p>
            <a:pPr marL="0" indent="0">
              <a:buNone/>
            </a:pPr>
            <a:r>
              <a:rPr lang="en-US" sz="1100" b="1" kern="0" spc="200" dirty="0">
                <a:solidFill>
                  <a:srgbClr val="6B7482"/>
                </a:solidFill>
                <a:latin typeface="Calibri" pitchFamily="34" charset="0"/>
                <a:ea typeface="Calibri" pitchFamily="34" charset="-122"/>
                <a:cs typeface="Calibri" pitchFamily="34" charset="-120"/>
              </a:rPr>
              <a:t>IS IT FEASIBLE?   TECHNOLOGY AND DATA READINESS</a:t>
            </a:r>
            <a:endParaRPr lang="en-US" sz="1100" dirty="0"/>
          </a:p>
        </p:txBody>
      </p:sp>
      <p:sp>
        <p:nvSpPr>
          <p:cNvPr id="503" name="Text 2"/>
          <p:cNvSpPr txBox="1"/>
          <p:nvPr/>
        </p:nvSpPr>
        <p:spPr>
          <a:xfrm>
            <a:off x="548640" y="3529584"/>
            <a:ext cx="7315200" cy="201168"/>
          </a:xfrm>
          <a:prstGeom prst="rect">
            <a:avLst/>
          </a:prstGeom>
          <a:noFill/>
          <a:ln/>
        </p:spPr>
        <p:txBody>
          <a:bodyPr wrap="square" lIns="0" tIns="0" rIns="0" bIns="0" rtlCol="0" anchor="t"/>
          <a:lstStyle/>
          <a:p>
            <a:pPr marL="0" indent="0">
              <a:buNone/>
            </a:pPr>
            <a:r>
              <a:rPr lang="en-US" sz="1100" b="1" kern="0" spc="200" dirty="0">
                <a:solidFill>
                  <a:srgbClr val="6B7482"/>
                </a:solidFill>
                <a:latin typeface="Calibri" pitchFamily="34" charset="0"/>
                <a:ea typeface="Calibri" pitchFamily="34" charset="-122"/>
                <a:cs typeface="Calibri" pitchFamily="34" charset="-120"/>
              </a:rPr>
              <a:t>WILL IT SCALE?   COST OF THE PROBLEM AND MARKET GROWTH</a:t>
            </a:r>
            <a:endParaRPr lang="en-US" sz="1100" dirty="0"/>
          </a:p>
        </p:txBody>
      </p:sp>
      <p:sp>
        <p:nvSpPr>
          <p:cNvPr id="504" name="Shape 3"/>
          <p:cNvSpPr/>
          <p:nvPr/>
        </p:nvSpPr>
        <p:spPr>
          <a:xfrm>
            <a:off x="548640" y="1536192"/>
            <a:ext cx="3611880" cy="1920240"/>
          </a:xfrm>
          <a:prstGeom prst="roundRect">
            <a:avLst>
              <a:gd name="adj" fmla="val 2857"/>
            </a:avLst>
          </a:prstGeom>
          <a:solidFill>
            <a:srgbClr val="FFFFFF"/>
          </a:solidFill>
          <a:ln w="12700">
            <a:solidFill>
              <a:srgbClr val="D3D8E0"/>
            </a:solidFill>
            <a:prstDash val="solid"/>
          </a:ln>
        </p:spPr>
      </p:sp>
      <p:sp>
        <p:nvSpPr>
          <p:cNvPr id="505" name="Text 4"/>
          <p:cNvSpPr txBox="1"/>
          <p:nvPr/>
        </p:nvSpPr>
        <p:spPr>
          <a:xfrm>
            <a:off x="676656" y="1609344"/>
            <a:ext cx="3355848"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Best AI agent score on AEC tasks (0–100)</a:t>
            </a:r>
            <a:endParaRPr lang="en-US" sz="1200" dirty="0"/>
          </a:p>
        </p:txBody>
      </p:sp>
      <p:sp>
        <p:nvSpPr>
          <p:cNvPr id="506" name="Text 5"/>
          <p:cNvSpPr txBox="1"/>
          <p:nvPr/>
        </p:nvSpPr>
        <p:spPr>
          <a:xfrm>
            <a:off x="676656" y="3017520"/>
            <a:ext cx="3355848" cy="384048"/>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Cross-document tasks are hardest (62 vs 88 across sheets): the layer AERES targets.</a:t>
            </a:r>
            <a:endParaRPr lang="en-US" sz="1050" dirty="0"/>
          </a:p>
        </p:txBody>
      </p:sp>
      <p:graphicFrame>
        <p:nvGraphicFramePr>
          <p:cNvPr id="507" name="Chart 0"/>
          <p:cNvGraphicFramePr/>
          <p:nvPr/>
        </p:nvGraphicFramePr>
        <p:xfrm>
          <a:off x="621792" y="1828800"/>
          <a:ext cx="3465576" cy="1188720"/>
        </p:xfrm>
        <a:graphic>
          <a:graphicData uri="http://schemas.openxmlformats.org/drawingml/2006/chart">
            <c:chart xmlns:c="http://schemas.openxmlformats.org/drawingml/2006/chart" xmlns:r="http://schemas.openxmlformats.org/officeDocument/2006/relationships" r:id="rId3"/>
          </a:graphicData>
        </a:graphic>
      </p:graphicFrame>
      <p:sp>
        <p:nvSpPr>
          <p:cNvPr id="508" name="Shape 6"/>
          <p:cNvSpPr/>
          <p:nvPr/>
        </p:nvSpPr>
        <p:spPr>
          <a:xfrm>
            <a:off x="4288536" y="1536192"/>
            <a:ext cx="3611880" cy="1920240"/>
          </a:xfrm>
          <a:prstGeom prst="roundRect">
            <a:avLst>
              <a:gd name="adj" fmla="val 2857"/>
            </a:avLst>
          </a:prstGeom>
          <a:solidFill>
            <a:srgbClr val="FFFFFF"/>
          </a:solidFill>
          <a:ln w="12700">
            <a:solidFill>
              <a:srgbClr val="D3D8E0"/>
            </a:solidFill>
            <a:prstDash val="solid"/>
          </a:ln>
        </p:spPr>
      </p:sp>
      <p:sp>
        <p:nvSpPr>
          <p:cNvPr id="509" name="Text 7"/>
          <p:cNvSpPr txBox="1"/>
          <p:nvPr/>
        </p:nvSpPr>
        <p:spPr>
          <a:xfrm>
            <a:off x="4416552" y="1609344"/>
            <a:ext cx="3355848"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Gain from structured drawing parsing (points)</a:t>
            </a:r>
            <a:endParaRPr lang="en-US" sz="1200" dirty="0"/>
          </a:p>
        </p:txBody>
      </p:sp>
      <p:sp>
        <p:nvSpPr>
          <p:cNvPr id="510" name="Text 8"/>
          <p:cNvSpPr txBox="1"/>
          <p:nvPr/>
        </p:nvSpPr>
        <p:spPr>
          <a:xfrm>
            <a:off x="4416552" y="3017520"/>
            <a:ext cx="3355848" cy="384048"/>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Parsing drawings into structure lifts accuracy: the base of AERES’s project model.</a:t>
            </a:r>
            <a:endParaRPr lang="en-US" sz="1050" dirty="0"/>
          </a:p>
        </p:txBody>
      </p:sp>
      <p:graphicFrame>
        <p:nvGraphicFramePr>
          <p:cNvPr id="511" name="Chart 1"/>
          <p:cNvGraphicFramePr/>
          <p:nvPr/>
        </p:nvGraphicFramePr>
        <p:xfrm>
          <a:off x="4361688" y="1828800"/>
          <a:ext cx="3465576" cy="1188720"/>
        </p:xfrm>
        <a:graphic>
          <a:graphicData uri="http://schemas.openxmlformats.org/drawingml/2006/chart">
            <c:chart xmlns:c="http://schemas.openxmlformats.org/drawingml/2006/chart" xmlns:r="http://schemas.openxmlformats.org/officeDocument/2006/relationships" r:id="rId4"/>
          </a:graphicData>
        </a:graphic>
      </p:graphicFrame>
      <p:sp>
        <p:nvSpPr>
          <p:cNvPr id="512" name="Shape 9"/>
          <p:cNvSpPr/>
          <p:nvPr/>
        </p:nvSpPr>
        <p:spPr>
          <a:xfrm>
            <a:off x="8028432" y="1536192"/>
            <a:ext cx="3611880" cy="1920240"/>
          </a:xfrm>
          <a:prstGeom prst="roundRect">
            <a:avLst>
              <a:gd name="adj" fmla="val 2857"/>
            </a:avLst>
          </a:prstGeom>
          <a:solidFill>
            <a:srgbClr val="FFFFFF"/>
          </a:solidFill>
          <a:ln w="12700">
            <a:solidFill>
              <a:srgbClr val="D3D8E0"/>
            </a:solidFill>
            <a:prstDash val="solid"/>
          </a:ln>
        </p:spPr>
      </p:sp>
      <p:sp>
        <p:nvSpPr>
          <p:cNvPr id="513" name="Text 10"/>
          <p:cNvSpPr txBox="1"/>
          <p:nvPr/>
        </p:nvSpPr>
        <p:spPr>
          <a:xfrm>
            <a:off x="8156448" y="1609344"/>
            <a:ext cx="3355848"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BIM adoption, UK professionals (%)</a:t>
            </a:r>
            <a:endParaRPr lang="en-US" sz="1200" dirty="0"/>
          </a:p>
        </p:txBody>
      </p:sp>
      <p:sp>
        <p:nvSpPr>
          <p:cNvPr id="514" name="Text 11"/>
          <p:cNvSpPr txBox="1"/>
          <p:nvPr/>
        </p:nvSpPr>
        <p:spPr>
          <a:xfrm>
            <a:off x="8156448" y="3017520"/>
            <a:ext cx="3355848" cy="384048"/>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Structured BIM data is now mainstream, so there are models to read and link.</a:t>
            </a:r>
            <a:endParaRPr lang="en-US" sz="1050" dirty="0"/>
          </a:p>
        </p:txBody>
      </p:sp>
      <p:graphicFrame>
        <p:nvGraphicFramePr>
          <p:cNvPr id="515" name="Chart 2"/>
          <p:cNvGraphicFramePr/>
          <p:nvPr/>
        </p:nvGraphicFramePr>
        <p:xfrm>
          <a:off x="8101584" y="1828800"/>
          <a:ext cx="3465576" cy="1188720"/>
        </p:xfrm>
        <a:graphic>
          <a:graphicData uri="http://schemas.openxmlformats.org/drawingml/2006/chart">
            <c:chart xmlns:c="http://schemas.openxmlformats.org/drawingml/2006/chart" xmlns:r="http://schemas.openxmlformats.org/officeDocument/2006/relationships" r:id="rId5"/>
          </a:graphicData>
        </a:graphic>
      </p:graphicFrame>
      <p:sp>
        <p:nvSpPr>
          <p:cNvPr id="516" name="Shape 12"/>
          <p:cNvSpPr/>
          <p:nvPr/>
        </p:nvSpPr>
        <p:spPr>
          <a:xfrm>
            <a:off x="548640" y="3803904"/>
            <a:ext cx="3611880" cy="1920240"/>
          </a:xfrm>
          <a:prstGeom prst="roundRect">
            <a:avLst>
              <a:gd name="adj" fmla="val 2857"/>
            </a:avLst>
          </a:prstGeom>
          <a:solidFill>
            <a:srgbClr val="FFFFFF"/>
          </a:solidFill>
          <a:ln w="12700">
            <a:solidFill>
              <a:srgbClr val="D3D8E0"/>
            </a:solidFill>
            <a:prstDash val="solid"/>
          </a:ln>
        </p:spPr>
      </p:sp>
      <p:sp>
        <p:nvSpPr>
          <p:cNvPr id="517" name="Text 13"/>
          <p:cNvSpPr txBox="1"/>
          <p:nvPr/>
        </p:nvSpPr>
        <p:spPr>
          <a:xfrm>
            <a:off x="676656" y="3877056"/>
            <a:ext cx="3355848"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US rework by cause ($B a year)</a:t>
            </a:r>
            <a:endParaRPr lang="en-US" sz="1200" dirty="0"/>
          </a:p>
        </p:txBody>
      </p:sp>
      <p:sp>
        <p:nvSpPr>
          <p:cNvPr id="518" name="Text 14"/>
          <p:cNvSpPr txBox="1"/>
          <p:nvPr/>
        </p:nvSpPr>
        <p:spPr>
          <a:xfrm>
            <a:off x="676656" y="5285232"/>
            <a:ext cx="3355848" cy="384048"/>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$31.3B a year of US rework traces to communication and project-data gaps.</a:t>
            </a:r>
            <a:endParaRPr lang="en-US" sz="1050" dirty="0"/>
          </a:p>
        </p:txBody>
      </p:sp>
      <p:graphicFrame>
        <p:nvGraphicFramePr>
          <p:cNvPr id="519" name="Chart 3"/>
          <p:cNvGraphicFramePr/>
          <p:nvPr>
            <p:extLst>
              <p:ext uri="{D42A27DB-BD31-4B8C-83A1-F6EECF244321}">
                <p14:modId xmlns:p14="http://schemas.microsoft.com/office/powerpoint/2010/main" val="348838203"/>
              </p:ext>
            </p:extLst>
          </p:nvPr>
        </p:nvGraphicFramePr>
        <p:xfrm>
          <a:off x="420624" y="4078224"/>
          <a:ext cx="3666744" cy="1207008"/>
        </p:xfrm>
        <a:graphic>
          <a:graphicData uri="http://schemas.openxmlformats.org/drawingml/2006/chart">
            <c:chart xmlns:c="http://schemas.openxmlformats.org/drawingml/2006/chart" xmlns:r="http://schemas.openxmlformats.org/officeDocument/2006/relationships" r:id="rId6"/>
          </a:graphicData>
        </a:graphic>
      </p:graphicFrame>
      <p:sp>
        <p:nvSpPr>
          <p:cNvPr id="520" name="Shape 15"/>
          <p:cNvSpPr/>
          <p:nvPr/>
        </p:nvSpPr>
        <p:spPr>
          <a:xfrm>
            <a:off x="4288536" y="3803904"/>
            <a:ext cx="3611880" cy="1920240"/>
          </a:xfrm>
          <a:prstGeom prst="roundRect">
            <a:avLst>
              <a:gd name="adj" fmla="val 2857"/>
            </a:avLst>
          </a:prstGeom>
          <a:solidFill>
            <a:srgbClr val="FFFFFF"/>
          </a:solidFill>
          <a:ln w="12700">
            <a:solidFill>
              <a:srgbClr val="D3D8E0"/>
            </a:solidFill>
            <a:prstDash val="solid"/>
          </a:ln>
        </p:spPr>
      </p:sp>
      <p:sp>
        <p:nvSpPr>
          <p:cNvPr id="521" name="Text 16"/>
          <p:cNvSpPr txBox="1"/>
          <p:nvPr/>
        </p:nvSpPr>
        <p:spPr>
          <a:xfrm>
            <a:off x="4416552" y="3877056"/>
            <a:ext cx="3355848"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Productivity growth per year (%)</a:t>
            </a:r>
            <a:endParaRPr lang="en-US" sz="1200" dirty="0"/>
          </a:p>
        </p:txBody>
      </p:sp>
      <p:sp>
        <p:nvSpPr>
          <p:cNvPr id="522" name="Text 17"/>
          <p:cNvSpPr txBox="1"/>
          <p:nvPr/>
        </p:nvSpPr>
        <p:spPr>
          <a:xfrm>
            <a:off x="4416552" y="5285232"/>
            <a:ext cx="3355848" cy="384048"/>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Construction lags the world economy, and digital tools are the proposed lever.</a:t>
            </a:r>
            <a:endParaRPr lang="en-US" sz="1050" dirty="0"/>
          </a:p>
        </p:txBody>
      </p:sp>
      <p:graphicFrame>
        <p:nvGraphicFramePr>
          <p:cNvPr id="523" name="Chart 4"/>
          <p:cNvGraphicFramePr/>
          <p:nvPr/>
        </p:nvGraphicFramePr>
        <p:xfrm>
          <a:off x="4361688" y="4096512"/>
          <a:ext cx="3465576" cy="1188720"/>
        </p:xfrm>
        <a:graphic>
          <a:graphicData uri="http://schemas.openxmlformats.org/drawingml/2006/chart">
            <c:chart xmlns:c="http://schemas.openxmlformats.org/drawingml/2006/chart" xmlns:r="http://schemas.openxmlformats.org/officeDocument/2006/relationships" r:id="rId7"/>
          </a:graphicData>
        </a:graphic>
      </p:graphicFrame>
      <p:sp>
        <p:nvSpPr>
          <p:cNvPr id="524" name="Shape 18"/>
          <p:cNvSpPr/>
          <p:nvPr/>
        </p:nvSpPr>
        <p:spPr>
          <a:xfrm>
            <a:off x="8028432" y="3803904"/>
            <a:ext cx="3611880" cy="1920240"/>
          </a:xfrm>
          <a:prstGeom prst="roundRect">
            <a:avLst>
              <a:gd name="adj" fmla="val 2857"/>
            </a:avLst>
          </a:prstGeom>
          <a:solidFill>
            <a:srgbClr val="FFFFFF"/>
          </a:solidFill>
          <a:ln w="12700">
            <a:solidFill>
              <a:srgbClr val="D3D8E0"/>
            </a:solidFill>
            <a:prstDash val="solid"/>
          </a:ln>
        </p:spPr>
      </p:sp>
      <p:sp>
        <p:nvSpPr>
          <p:cNvPr id="525" name="Text 19"/>
          <p:cNvSpPr txBox="1"/>
          <p:nvPr/>
        </p:nvSpPr>
        <p:spPr>
          <a:xfrm>
            <a:off x="8156448" y="3877056"/>
            <a:ext cx="3355848"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AI in construction market ($B)</a:t>
            </a:r>
            <a:endParaRPr lang="en-US" sz="1200" dirty="0"/>
          </a:p>
        </p:txBody>
      </p:sp>
      <p:sp>
        <p:nvSpPr>
          <p:cNvPr id="526" name="Text 20"/>
          <p:cNvSpPr txBox="1"/>
          <p:nvPr/>
        </p:nvSpPr>
        <p:spPr>
          <a:xfrm>
            <a:off x="8156448" y="5285232"/>
            <a:ext cx="3355848" cy="384048"/>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Vendor forecasts see about 5x growth by 2030 (31% CAGR), with a crowded field.</a:t>
            </a:r>
            <a:endParaRPr lang="en-US" sz="1050" dirty="0"/>
          </a:p>
        </p:txBody>
      </p:sp>
      <p:graphicFrame>
        <p:nvGraphicFramePr>
          <p:cNvPr id="527" name="Chart 5"/>
          <p:cNvGraphicFramePr/>
          <p:nvPr/>
        </p:nvGraphicFramePr>
        <p:xfrm>
          <a:off x="8101584" y="4096512"/>
          <a:ext cx="3465576" cy="1188720"/>
        </p:xfrm>
        <a:graphic>
          <a:graphicData uri="http://schemas.openxmlformats.org/drawingml/2006/chart">
            <c:chart xmlns:c="http://schemas.openxmlformats.org/drawingml/2006/chart" xmlns:r="http://schemas.openxmlformats.org/officeDocument/2006/relationships" r:id="rId8"/>
          </a:graphicData>
        </a:graphic>
      </p:graphicFrame>
      <p:sp>
        <p:nvSpPr>
          <p:cNvPr id="528" name="Text 21"/>
          <p:cNvSpPr txBox="1"/>
          <p:nvPr/>
        </p:nvSpPr>
        <p:spPr>
          <a:xfrm>
            <a:off x="548640" y="5815584"/>
            <a:ext cx="11064240" cy="310896"/>
          </a:xfrm>
          <a:prstGeom prst="rect">
            <a:avLst/>
          </a:prstGeom>
          <a:noFill/>
          <a:ln/>
        </p:spPr>
        <p:txBody>
          <a:bodyPr wrap="square" lIns="0" tIns="0" rIns="0" bIns="0" rtlCol="0" anchor="t"/>
          <a:lstStyle/>
          <a:p>
            <a:pPr marL="0" indent="0">
              <a:buNone/>
            </a:pPr>
            <a:r>
              <a:rPr lang="en-US" sz="1000" i="1" dirty="0">
                <a:solidFill>
                  <a:srgbClr val="6B7482"/>
                </a:solidFill>
                <a:latin typeface="Calibri" pitchFamily="34" charset="0"/>
                <a:ea typeface="Calibri" pitchFamily="34" charset="-122"/>
                <a:cs typeface="Calibri" pitchFamily="34" charset="-120"/>
              </a:rPr>
              <a:t>Sources: Nomic AEC-Bench, 2026 (vendor-run; best configuration per scope) · NBS National BIM Report 2016, 2020 · FMI + PlanGrid 2018 · McKinsey Global Institute 2017 · ResearchAndMarkets 2025 (2025–29 interpolated at its 31% CAGR; publisher forecasts vary widely).</a:t>
            </a:r>
            <a:endParaRPr lang="en-US" sz="1000" dirty="0"/>
          </a:p>
        </p:txBody>
      </p:sp>
      <p:sp>
        <p:nvSpPr>
          <p:cNvPr id="6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482"/>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60120"/>
          </a:xfrm>
          <a:prstGeom prst="rect">
            <a:avLst/>
          </a:prstGeom>
          <a:noFill/>
          <a:ln/>
        </p:spPr>
        <p:txBody>
          <a:bodyPr wrap="square" lIns="0" tIns="0" rIns="0" bIns="0" rtlCol="0" anchor="t"/>
          <a:lstStyle/>
          <a:p>
            <a:pPr marL="0" indent="0" algn="l">
              <a:buNone/>
            </a:pPr>
            <a:r>
              <a:rPr lang="en-US" sz="3000" b="1" dirty="0">
                <a:solidFill>
                  <a:srgbClr val="0B1F3A"/>
                </a:solidFill>
                <a:latin typeface="Calibri" pitchFamily="34" charset="0"/>
                <a:ea typeface="Calibri" pitchFamily="34" charset="-122"/>
                <a:cs typeface="Calibri" pitchFamily="34" charset="-120"/>
              </a:rPr>
              <a:t>Business model: how AERES gets sold</a:t>
            </a:r>
            <a:endParaRPr lang="en-US" sz="3000" dirty="0"/>
          </a:p>
        </p:txBody>
      </p:sp>
      <p:sp>
        <p:nvSpPr>
          <p:cNvPr id="401" name="Text 0"/>
          <p:cNvSpPr txBox="1"/>
          <p:nvPr/>
        </p:nvSpPr>
        <p:spPr>
          <a:xfrm>
            <a:off x="548640" y="896112"/>
            <a:ext cx="10515600" cy="274320"/>
          </a:xfrm>
          <a:prstGeom prst="rect">
            <a:avLst/>
          </a:prstGeom>
          <a:noFill/>
          <a:ln/>
        </p:spPr>
        <p:txBody>
          <a:bodyPr wrap="square" lIns="0" tIns="0" rIns="0" bIns="0" rtlCol="0" anchor="t"/>
          <a:lstStyle/>
          <a:p>
            <a:pPr marL="0" indent="0">
              <a:buNone/>
            </a:pPr>
            <a:r>
              <a:rPr lang="en-US" sz="1500" dirty="0">
                <a:solidFill>
                  <a:srgbClr val="6B7482"/>
                </a:solidFill>
                <a:latin typeface="Calibri" pitchFamily="34" charset="0"/>
                <a:ea typeface="Calibri" pitchFamily="34" charset="-122"/>
                <a:cs typeface="Calibri" pitchFamily="34" charset="-120"/>
              </a:rPr>
              <a:t>Land with paid pilots, prove value on live projects, then scale through firms and channels.</a:t>
            </a:r>
            <a:endParaRPr lang="en-US" sz="1500" dirty="0"/>
          </a:p>
        </p:txBody>
      </p:sp>
      <p:sp>
        <p:nvSpPr>
          <p:cNvPr id="402" name="Text 1"/>
          <p:cNvSpPr txBox="1"/>
          <p:nvPr/>
        </p:nvSpPr>
        <p:spPr>
          <a:xfrm>
            <a:off x="548640" y="1298448"/>
            <a:ext cx="3657600" cy="201168"/>
          </a:xfrm>
          <a:prstGeom prst="rect">
            <a:avLst/>
          </a:prstGeom>
          <a:noFill/>
          <a:ln/>
        </p:spPr>
        <p:txBody>
          <a:bodyPr wrap="square" lIns="0" tIns="0" rIns="0" bIns="0" rtlCol="0" anchor="t"/>
          <a:lstStyle/>
          <a:p>
            <a:pPr marL="0" indent="0">
              <a:buNone/>
            </a:pPr>
            <a:r>
              <a:rPr lang="en-US" sz="1100" b="1" kern="0" spc="200" dirty="0">
                <a:solidFill>
                  <a:srgbClr val="6B7482"/>
                </a:solidFill>
                <a:latin typeface="Calibri" pitchFamily="34" charset="0"/>
                <a:ea typeface="Calibri" pitchFamily="34" charset="-122"/>
                <a:cs typeface="Calibri" pitchFamily="34" charset="-120"/>
              </a:rPr>
              <a:t>WHO PAYS, AND WHY</a:t>
            </a:r>
            <a:endParaRPr lang="en-US" sz="1100" dirty="0"/>
          </a:p>
        </p:txBody>
      </p:sp>
      <p:sp>
        <p:nvSpPr>
          <p:cNvPr id="403" name="Text 2"/>
          <p:cNvSpPr txBox="1"/>
          <p:nvPr/>
        </p:nvSpPr>
        <p:spPr>
          <a:xfrm>
            <a:off x="4114800" y="1298448"/>
            <a:ext cx="3657600" cy="201168"/>
          </a:xfrm>
          <a:prstGeom prst="rect">
            <a:avLst/>
          </a:prstGeom>
          <a:noFill/>
          <a:ln/>
        </p:spPr>
        <p:txBody>
          <a:bodyPr wrap="square" lIns="0" tIns="0" rIns="0" bIns="0" rtlCol="0" anchor="t"/>
          <a:lstStyle/>
          <a:p>
            <a:pPr marL="0" indent="0">
              <a:buNone/>
            </a:pPr>
            <a:r>
              <a:rPr lang="en-US" sz="1100" b="1" kern="0" spc="200" dirty="0">
                <a:solidFill>
                  <a:srgbClr val="6B7482"/>
                </a:solidFill>
                <a:latin typeface="Calibri" pitchFamily="34" charset="0"/>
                <a:ea typeface="Calibri" pitchFamily="34" charset="-122"/>
                <a:cs typeface="Calibri" pitchFamily="34" charset="-120"/>
              </a:rPr>
              <a:t>HOW WE SELL</a:t>
            </a:r>
            <a:endParaRPr lang="en-US" sz="1100" dirty="0"/>
          </a:p>
        </p:txBody>
      </p:sp>
      <p:sp>
        <p:nvSpPr>
          <p:cNvPr id="404" name="Text 3"/>
          <p:cNvSpPr txBox="1"/>
          <p:nvPr/>
        </p:nvSpPr>
        <p:spPr>
          <a:xfrm>
            <a:off x="8229600" y="1298448"/>
            <a:ext cx="3657600" cy="201168"/>
          </a:xfrm>
          <a:prstGeom prst="rect">
            <a:avLst/>
          </a:prstGeom>
          <a:noFill/>
          <a:ln/>
        </p:spPr>
        <p:txBody>
          <a:bodyPr wrap="square" lIns="0" tIns="0" rIns="0" bIns="0" rtlCol="0" anchor="t"/>
          <a:lstStyle/>
          <a:p>
            <a:pPr marL="0" indent="0">
              <a:buNone/>
            </a:pPr>
            <a:r>
              <a:rPr lang="en-US" sz="1100" b="1" kern="0" spc="200" dirty="0">
                <a:solidFill>
                  <a:srgbClr val="6B7482"/>
                </a:solidFill>
                <a:latin typeface="Calibri" pitchFamily="34" charset="0"/>
                <a:ea typeface="Calibri" pitchFamily="34" charset="-122"/>
                <a:cs typeface="Calibri" pitchFamily="34" charset="-120"/>
              </a:rPr>
              <a:t>PRICE ANCHORS</a:t>
            </a:r>
            <a:endParaRPr lang="en-US" sz="1100" dirty="0"/>
          </a:p>
        </p:txBody>
      </p:sp>
      <p:sp>
        <p:nvSpPr>
          <p:cNvPr id="405" name="Shape 4"/>
          <p:cNvSpPr/>
          <p:nvPr/>
        </p:nvSpPr>
        <p:spPr>
          <a:xfrm>
            <a:off x="548640" y="1600200"/>
            <a:ext cx="3383280" cy="877824"/>
          </a:xfrm>
          <a:prstGeom prst="roundRect">
            <a:avLst>
              <a:gd name="adj" fmla="val 6250"/>
            </a:avLst>
          </a:prstGeom>
          <a:solidFill>
            <a:srgbClr val="FFFFFF"/>
          </a:solidFill>
          <a:ln w="12700">
            <a:solidFill>
              <a:srgbClr val="D3D8E0"/>
            </a:solidFill>
            <a:prstDash val="solid"/>
          </a:ln>
        </p:spPr>
        <p:txBody>
          <a:bodyPr/>
          <a:p/>
        </p:txBody>
      </p:sp>
      <p:sp>
        <p:nvSpPr>
          <p:cNvPr id="406" name="Shape 5"/>
          <p:cNvSpPr/>
          <p:nvPr/>
        </p:nvSpPr>
        <p:spPr>
          <a:xfrm>
            <a:off x="676656" y="1828800"/>
            <a:ext cx="420624" cy="420624"/>
          </a:xfrm>
          <a:prstGeom prst="ellipse">
            <a:avLst/>
          </a:prstGeom>
          <a:solidFill>
            <a:srgbClr val="E8EFFA"/>
          </a:solidFill>
          <a:ln/>
        </p:spPr>
        <p:txBody>
          <a:bodyPr/>
          <a:p/>
        </p:txBody>
      </p:sp>
      <p:pic>
        <p:nvPicPr>
          <p:cNvPr id="407" name="Image 0" descr="preencoded.png"/>
          <p:cNvPicPr>
            <a:picLocks noChangeAspect="1"/>
          </p:cNvPicPr>
          <p:nvPr/>
        </p:nvPicPr>
        <p:blipFill>
          <a:blip r:embed="rId3"/>
          <a:stretch>
            <a:fillRect/>
          </a:stretch>
        </p:blipFill>
        <p:spPr>
          <a:xfrm>
            <a:off x="786018" y="1938162"/>
            <a:ext cx="201900" cy="201900"/>
          </a:xfrm>
          <a:prstGeom prst="rect">
            <a:avLst/>
          </a:prstGeom>
        </p:spPr>
      </p:pic>
      <p:sp>
        <p:nvSpPr>
          <p:cNvPr id="408" name="Text 6"/>
          <p:cNvSpPr txBox="1"/>
          <p:nvPr/>
        </p:nvSpPr>
        <p:spPr>
          <a:xfrm>
            <a:off x="1225296" y="1728216"/>
            <a:ext cx="2606040" cy="228600"/>
          </a:xfrm>
          <a:prstGeom prst="rect">
            <a:avLst/>
          </a:prstGeom>
          <a:noFill/>
          <a:ln/>
        </p:spPr>
        <p:txBody>
          <a:bodyPr wrap="square" lIns="0" tIns="0" rIns="0" bIns="0" rtlCol="0" anchor="t"/>
          <a:lstStyle/>
          <a:p>
            <a:pPr marL="0" indent="0">
              <a:buNone/>
            </a:pPr>
            <a:r>
              <a:rPr lang="en-US" sz="1250" b="1" dirty="0">
                <a:solidFill>
                  <a:srgbClr val="0B1F3A"/>
                </a:solidFill>
                <a:latin typeface="Calibri" pitchFamily="34" charset="0"/>
                <a:ea typeface="Calibri" pitchFamily="34" charset="-122"/>
                <a:cs typeface="Calibri" pitchFamily="34" charset="-120"/>
              </a:rPr>
              <a:t>AEC design firms</a:t>
            </a:r>
            <a:endParaRPr lang="en-US" sz="1250" dirty="0"/>
          </a:p>
        </p:txBody>
      </p:sp>
      <p:sp>
        <p:nvSpPr>
          <p:cNvPr id="409" name="Text 7"/>
          <p:cNvSpPr txBox="1"/>
          <p:nvPr/>
        </p:nvSpPr>
        <p:spPr>
          <a:xfrm>
            <a:off x="1225296" y="1984248"/>
            <a:ext cx="2606040" cy="457200"/>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Catch cross-discipline clashes before drawings are issued</a:t>
            </a:r>
            <a:endParaRPr lang="en-US" sz="1050" dirty="0"/>
          </a:p>
        </p:txBody>
      </p:sp>
      <p:sp>
        <p:nvSpPr>
          <p:cNvPr id="410" name="Shape 8"/>
          <p:cNvSpPr/>
          <p:nvPr/>
        </p:nvSpPr>
        <p:spPr>
          <a:xfrm>
            <a:off x="548640" y="2557302"/>
            <a:ext cx="3383280" cy="877824"/>
          </a:xfrm>
          <a:prstGeom prst="roundRect">
            <a:avLst>
              <a:gd name="adj" fmla="val 6250"/>
            </a:avLst>
          </a:prstGeom>
          <a:solidFill>
            <a:srgbClr val="FFFFFF"/>
          </a:solidFill>
          <a:ln w="12700">
            <a:solidFill>
              <a:srgbClr val="D3D8E0"/>
            </a:solidFill>
            <a:prstDash val="solid"/>
          </a:ln>
        </p:spPr>
        <p:txBody>
          <a:bodyPr/>
          <a:p/>
        </p:txBody>
      </p:sp>
      <p:sp>
        <p:nvSpPr>
          <p:cNvPr id="411" name="Shape 9"/>
          <p:cNvSpPr/>
          <p:nvPr/>
        </p:nvSpPr>
        <p:spPr>
          <a:xfrm>
            <a:off x="676656" y="2785902"/>
            <a:ext cx="420624" cy="420624"/>
          </a:xfrm>
          <a:prstGeom prst="ellipse">
            <a:avLst/>
          </a:prstGeom>
          <a:solidFill>
            <a:srgbClr val="E8EFFA"/>
          </a:solidFill>
          <a:ln/>
        </p:spPr>
        <p:txBody>
          <a:bodyPr/>
          <a:p/>
        </p:txBody>
      </p:sp>
      <p:pic>
        <p:nvPicPr>
          <p:cNvPr id="412" name="Image 1" descr="preencoded.png"/>
          <p:cNvPicPr>
            <a:picLocks noChangeAspect="1"/>
          </p:cNvPicPr>
          <p:nvPr/>
        </p:nvPicPr>
        <p:blipFill>
          <a:blip r:embed="rId4"/>
          <a:stretch>
            <a:fillRect/>
          </a:stretch>
        </p:blipFill>
        <p:spPr>
          <a:xfrm>
            <a:off x="786018" y="2895265"/>
            <a:ext cx="201900" cy="201900"/>
          </a:xfrm>
          <a:prstGeom prst="rect">
            <a:avLst/>
          </a:prstGeom>
        </p:spPr>
      </p:pic>
      <p:sp>
        <p:nvSpPr>
          <p:cNvPr id="413" name="Text 10"/>
          <p:cNvSpPr txBox="1"/>
          <p:nvPr/>
        </p:nvSpPr>
        <p:spPr>
          <a:xfrm>
            <a:off x="1225296" y="2685318"/>
            <a:ext cx="2606040" cy="228600"/>
          </a:xfrm>
          <a:prstGeom prst="rect">
            <a:avLst/>
          </a:prstGeom>
          <a:noFill/>
          <a:ln/>
        </p:spPr>
        <p:txBody>
          <a:bodyPr wrap="square" lIns="0" tIns="0" rIns="0" bIns="0" rtlCol="0" anchor="t"/>
          <a:lstStyle/>
          <a:p>
            <a:pPr marL="0" indent="0">
              <a:buNone/>
            </a:pPr>
            <a:r>
              <a:rPr lang="en-US" sz="1250" b="1" dirty="0">
                <a:solidFill>
                  <a:srgbClr val="0B1F3A"/>
                </a:solidFill>
                <a:latin typeface="Calibri" pitchFamily="34" charset="0"/>
                <a:ea typeface="Calibri" pitchFamily="34" charset="-122"/>
                <a:cs typeface="Calibri" pitchFamily="34" charset="-120"/>
              </a:rPr>
              <a:t>Preconstruction teams</a:t>
            </a:r>
            <a:endParaRPr lang="en-US" sz="1250" dirty="0"/>
          </a:p>
        </p:txBody>
      </p:sp>
      <p:sp>
        <p:nvSpPr>
          <p:cNvPr id="414" name="Text 11"/>
          <p:cNvSpPr txBox="1"/>
          <p:nvPr/>
        </p:nvSpPr>
        <p:spPr>
          <a:xfrm>
            <a:off x="1225296" y="2941350"/>
            <a:ext cx="2606040" cy="457200"/>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Cut RFIs and rework before work reaches site</a:t>
            </a:r>
            <a:endParaRPr lang="en-US" sz="1050" dirty="0"/>
          </a:p>
        </p:txBody>
      </p:sp>
      <p:sp>
        <p:nvSpPr>
          <p:cNvPr id="415" name="Shape 12"/>
          <p:cNvSpPr/>
          <p:nvPr/>
        </p:nvSpPr>
        <p:spPr>
          <a:xfrm>
            <a:off x="548640" y="3514405"/>
            <a:ext cx="3383280" cy="877824"/>
          </a:xfrm>
          <a:prstGeom prst="roundRect">
            <a:avLst>
              <a:gd name="adj" fmla="val 6250"/>
            </a:avLst>
          </a:prstGeom>
          <a:solidFill>
            <a:srgbClr val="FFFFFF"/>
          </a:solidFill>
          <a:ln w="12700">
            <a:solidFill>
              <a:srgbClr val="D3D8E0"/>
            </a:solidFill>
            <a:prstDash val="solid"/>
          </a:ln>
        </p:spPr>
        <p:txBody>
          <a:bodyPr/>
          <a:p/>
        </p:txBody>
      </p:sp>
      <p:sp>
        <p:nvSpPr>
          <p:cNvPr id="416" name="Shape 13"/>
          <p:cNvSpPr/>
          <p:nvPr/>
        </p:nvSpPr>
        <p:spPr>
          <a:xfrm>
            <a:off x="676656" y="3743005"/>
            <a:ext cx="420624" cy="420624"/>
          </a:xfrm>
          <a:prstGeom prst="ellipse">
            <a:avLst/>
          </a:prstGeom>
          <a:solidFill>
            <a:srgbClr val="E8EFFA"/>
          </a:solidFill>
          <a:ln/>
        </p:spPr>
        <p:txBody>
          <a:bodyPr/>
          <a:p/>
        </p:txBody>
      </p:sp>
      <p:pic>
        <p:nvPicPr>
          <p:cNvPr id="417" name="Image 2" descr="preencoded.png"/>
          <p:cNvPicPr>
            <a:picLocks noChangeAspect="1"/>
          </p:cNvPicPr>
          <p:nvPr/>
        </p:nvPicPr>
        <p:blipFill>
          <a:blip r:embed="rId5"/>
          <a:stretch>
            <a:fillRect/>
          </a:stretch>
        </p:blipFill>
        <p:spPr>
          <a:xfrm>
            <a:off x="786018" y="3852367"/>
            <a:ext cx="201900" cy="201900"/>
          </a:xfrm>
          <a:prstGeom prst="rect">
            <a:avLst/>
          </a:prstGeom>
        </p:spPr>
      </p:pic>
      <p:sp>
        <p:nvSpPr>
          <p:cNvPr id="418" name="Text 14"/>
          <p:cNvSpPr txBox="1"/>
          <p:nvPr/>
        </p:nvSpPr>
        <p:spPr>
          <a:xfrm>
            <a:off x="1225296" y="3642421"/>
            <a:ext cx="2606040" cy="228600"/>
          </a:xfrm>
          <a:prstGeom prst="rect">
            <a:avLst/>
          </a:prstGeom>
          <a:noFill/>
          <a:ln/>
        </p:spPr>
        <p:txBody>
          <a:bodyPr wrap="square" lIns="0" tIns="0" rIns="0" bIns="0" rtlCol="0" anchor="t"/>
          <a:lstStyle/>
          <a:p>
            <a:pPr marL="0" indent="0">
              <a:buNone/>
            </a:pPr>
            <a:r>
              <a:rPr lang="en-US" sz="1250" b="1" dirty="0">
                <a:solidFill>
                  <a:srgbClr val="0B1F3A"/>
                </a:solidFill>
                <a:latin typeface="Calibri" pitchFamily="34" charset="0"/>
                <a:ea typeface="Calibri" pitchFamily="34" charset="-122"/>
                <a:cs typeface="Calibri" pitchFamily="34" charset="-120"/>
              </a:rPr>
              <a:t>Developers and owners</a:t>
            </a:r>
            <a:endParaRPr lang="en-US" sz="1250" dirty="0"/>
          </a:p>
        </p:txBody>
      </p:sp>
      <p:sp>
        <p:nvSpPr>
          <p:cNvPr id="419" name="Text 15"/>
          <p:cNvSpPr txBox="1"/>
          <p:nvPr/>
        </p:nvSpPr>
        <p:spPr>
          <a:xfrm>
            <a:off x="1225296" y="3898453"/>
            <a:ext cx="2606040" cy="457200"/>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Lower delay, dispute and change-order risk</a:t>
            </a:r>
            <a:endParaRPr lang="en-US" sz="1050" dirty="0"/>
          </a:p>
        </p:txBody>
      </p:sp>
      <p:sp>
        <p:nvSpPr>
          <p:cNvPr id="420" name="Shape 16"/>
          <p:cNvSpPr/>
          <p:nvPr/>
        </p:nvSpPr>
        <p:spPr>
          <a:xfrm>
            <a:off x="548640" y="4471507"/>
            <a:ext cx="3383280" cy="877824"/>
          </a:xfrm>
          <a:prstGeom prst="roundRect">
            <a:avLst>
              <a:gd name="adj" fmla="val 6250"/>
            </a:avLst>
          </a:prstGeom>
          <a:solidFill>
            <a:srgbClr val="FFFFFF"/>
          </a:solidFill>
          <a:ln w="12700">
            <a:solidFill>
              <a:srgbClr val="D3D8E0"/>
            </a:solidFill>
            <a:prstDash val="solid"/>
          </a:ln>
        </p:spPr>
        <p:txBody>
          <a:bodyPr/>
          <a:p/>
        </p:txBody>
      </p:sp>
      <p:sp>
        <p:nvSpPr>
          <p:cNvPr id="421" name="Shape 17"/>
          <p:cNvSpPr/>
          <p:nvPr/>
        </p:nvSpPr>
        <p:spPr>
          <a:xfrm>
            <a:off x="676656" y="4700107"/>
            <a:ext cx="420624" cy="420624"/>
          </a:xfrm>
          <a:prstGeom prst="ellipse">
            <a:avLst/>
          </a:prstGeom>
          <a:solidFill>
            <a:srgbClr val="E8EFFA"/>
          </a:solidFill>
          <a:ln/>
        </p:spPr>
        <p:txBody>
          <a:bodyPr/>
          <a:p/>
        </p:txBody>
      </p:sp>
      <p:pic>
        <p:nvPicPr>
          <p:cNvPr id="422" name="Image 3" descr="preencoded.png"/>
          <p:cNvPicPr>
            <a:picLocks noChangeAspect="1"/>
          </p:cNvPicPr>
          <p:nvPr/>
        </p:nvPicPr>
        <p:blipFill>
          <a:blip r:embed="rId6"/>
          <a:stretch>
            <a:fillRect/>
          </a:stretch>
        </p:blipFill>
        <p:spPr>
          <a:xfrm>
            <a:off x="786018" y="4809470"/>
            <a:ext cx="201900" cy="201900"/>
          </a:xfrm>
          <a:prstGeom prst="rect">
            <a:avLst/>
          </a:prstGeom>
        </p:spPr>
      </p:pic>
      <p:sp>
        <p:nvSpPr>
          <p:cNvPr id="423" name="Text 18"/>
          <p:cNvSpPr txBox="1"/>
          <p:nvPr/>
        </p:nvSpPr>
        <p:spPr>
          <a:xfrm>
            <a:off x="1225296" y="4599523"/>
            <a:ext cx="2606040" cy="228600"/>
          </a:xfrm>
          <a:prstGeom prst="rect">
            <a:avLst/>
          </a:prstGeom>
          <a:noFill/>
          <a:ln/>
        </p:spPr>
        <p:txBody>
          <a:bodyPr wrap="square" lIns="0" tIns="0" rIns="0" bIns="0" rtlCol="0" anchor="t"/>
          <a:lstStyle/>
          <a:p>
            <a:pPr marL="0" indent="0">
              <a:buNone/>
            </a:pPr>
            <a:r>
              <a:rPr lang="en-US" sz="1250" b="1" dirty="0">
                <a:solidFill>
                  <a:srgbClr val="0B1F3A"/>
                </a:solidFill>
                <a:latin typeface="Calibri" pitchFamily="34" charset="0"/>
                <a:ea typeface="Calibri" pitchFamily="34" charset="-122"/>
                <a:cs typeface="Calibri" pitchFamily="34" charset="-120"/>
              </a:rPr>
              <a:t>Specialist consultants</a:t>
            </a:r>
            <a:endParaRPr lang="en-US" sz="1250" dirty="0"/>
          </a:p>
        </p:txBody>
      </p:sp>
      <p:sp>
        <p:nvSpPr>
          <p:cNvPr id="424" name="Text 19"/>
          <p:cNvSpPr txBox="1"/>
          <p:nvPr/>
        </p:nvSpPr>
        <p:spPr>
          <a:xfrm>
            <a:off x="1225296" y="4855555"/>
            <a:ext cx="2606040" cy="457200"/>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Faster second-opinion reviews with cited evidence</a:t>
            </a:r>
            <a:endParaRPr lang="en-US" sz="1050" dirty="0"/>
          </a:p>
        </p:txBody>
      </p:sp>
      <p:sp>
        <p:nvSpPr>
          <p:cNvPr id="425" name="Shape 20"/>
          <p:cNvSpPr/>
          <p:nvPr/>
        </p:nvSpPr>
        <p:spPr>
          <a:xfrm>
            <a:off x="4114800" y="1600200"/>
            <a:ext cx="3931920" cy="612648"/>
          </a:xfrm>
          <a:prstGeom prst="roundRect">
            <a:avLst>
              <a:gd name="adj" fmla="val 8955"/>
            </a:avLst>
          </a:prstGeom>
          <a:solidFill>
            <a:srgbClr val="FFFFFF"/>
          </a:solidFill>
          <a:ln w="12700">
            <a:solidFill>
              <a:srgbClr val="D3D8E0"/>
            </a:solidFill>
            <a:prstDash val="solid"/>
          </a:ln>
        </p:spPr>
        <p:txBody>
          <a:bodyPr/>
          <a:p/>
        </p:txBody>
      </p:sp>
      <p:sp>
        <p:nvSpPr>
          <p:cNvPr id="426" name="Shape 21"/>
          <p:cNvSpPr/>
          <p:nvPr/>
        </p:nvSpPr>
        <p:spPr>
          <a:xfrm>
            <a:off x="4224528" y="1737360"/>
            <a:ext cx="329184" cy="329184"/>
          </a:xfrm>
          <a:prstGeom prst="ellipse">
            <a:avLst/>
          </a:prstGeom>
          <a:solidFill>
            <a:srgbClr val="0B1F3A"/>
          </a:solidFill>
          <a:ln/>
        </p:spPr>
        <p:txBody>
          <a:bodyPr/>
          <a:p/>
        </p:txBody>
      </p:sp>
      <p:sp>
        <p:nvSpPr>
          <p:cNvPr id="427" name="Text 22"/>
          <p:cNvSpPr txBox="1"/>
          <p:nvPr/>
        </p:nvSpPr>
        <p:spPr>
          <a:xfrm>
            <a:off x="4224528" y="1737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28" name="Text 23"/>
          <p:cNvSpPr txBox="1"/>
          <p:nvPr/>
        </p:nvSpPr>
        <p:spPr>
          <a:xfrm>
            <a:off x="4663440" y="1645920"/>
            <a:ext cx="3291840"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LAND</a:t>
            </a:r>
            <a:endParaRPr lang="en-US" sz="1200" dirty="0"/>
          </a:p>
        </p:txBody>
      </p:sp>
      <p:sp>
        <p:nvSpPr>
          <p:cNvPr id="429" name="Text 24"/>
          <p:cNvSpPr txBox="1"/>
          <p:nvPr/>
        </p:nvSpPr>
        <p:spPr>
          <a:xfrm>
            <a:off x="4663440" y="1856232"/>
            <a:ext cx="3291840" cy="347472"/>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Paid pilot on one live project with a BIM or coordination lead</a:t>
            </a:r>
            <a:endParaRPr lang="en-US" sz="1050" dirty="0"/>
          </a:p>
        </p:txBody>
      </p:sp>
      <p:sp>
        <p:nvSpPr>
          <p:cNvPr id="430" name="Shape 25"/>
          <p:cNvSpPr/>
          <p:nvPr/>
        </p:nvSpPr>
        <p:spPr>
          <a:xfrm>
            <a:off x="4114800" y="2258568"/>
            <a:ext cx="3931920" cy="612648"/>
          </a:xfrm>
          <a:prstGeom prst="roundRect">
            <a:avLst>
              <a:gd name="adj" fmla="val 8955"/>
            </a:avLst>
          </a:prstGeom>
          <a:solidFill>
            <a:srgbClr val="FFFFFF"/>
          </a:solidFill>
          <a:ln w="12700">
            <a:solidFill>
              <a:srgbClr val="D3D8E0"/>
            </a:solidFill>
            <a:prstDash val="solid"/>
          </a:ln>
        </p:spPr>
        <p:txBody>
          <a:bodyPr/>
          <a:p/>
        </p:txBody>
      </p:sp>
      <p:sp>
        <p:nvSpPr>
          <p:cNvPr id="431" name="Shape 26"/>
          <p:cNvSpPr/>
          <p:nvPr/>
        </p:nvSpPr>
        <p:spPr>
          <a:xfrm>
            <a:off x="4224528" y="2395728"/>
            <a:ext cx="329184" cy="329184"/>
          </a:xfrm>
          <a:prstGeom prst="ellipse">
            <a:avLst/>
          </a:prstGeom>
          <a:solidFill>
            <a:srgbClr val="0B1F3A"/>
          </a:solidFill>
          <a:ln/>
        </p:spPr>
        <p:txBody>
          <a:bodyPr/>
          <a:p/>
        </p:txBody>
      </p:sp>
      <p:sp>
        <p:nvSpPr>
          <p:cNvPr id="432" name="Text 27"/>
          <p:cNvSpPr txBox="1"/>
          <p:nvPr/>
        </p:nvSpPr>
        <p:spPr>
          <a:xfrm>
            <a:off x="4224528" y="23957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3" name="Text 28"/>
          <p:cNvSpPr txBox="1"/>
          <p:nvPr/>
        </p:nvSpPr>
        <p:spPr>
          <a:xfrm>
            <a:off x="4663440" y="2304288"/>
            <a:ext cx="3291840"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PROVE</a:t>
            </a:r>
            <a:endParaRPr lang="en-US" sz="1200" dirty="0"/>
          </a:p>
        </p:txBody>
      </p:sp>
      <p:sp>
        <p:nvSpPr>
          <p:cNvPr id="434" name="Text 29"/>
          <p:cNvSpPr txBox="1"/>
          <p:nvPr/>
        </p:nvSpPr>
        <p:spPr>
          <a:xfrm>
            <a:off x="4663440" y="2514600"/>
            <a:ext cx="3291840" cy="347472"/>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Expert-verified issues, hours saved, rework avoided</a:t>
            </a:r>
            <a:endParaRPr lang="en-US" sz="1050" dirty="0"/>
          </a:p>
        </p:txBody>
      </p:sp>
      <p:sp>
        <p:nvSpPr>
          <p:cNvPr id="435" name="Shape 30"/>
          <p:cNvSpPr/>
          <p:nvPr/>
        </p:nvSpPr>
        <p:spPr>
          <a:xfrm>
            <a:off x="4114800" y="2916936"/>
            <a:ext cx="3931920" cy="612648"/>
          </a:xfrm>
          <a:prstGeom prst="roundRect">
            <a:avLst>
              <a:gd name="adj" fmla="val 8955"/>
            </a:avLst>
          </a:prstGeom>
          <a:solidFill>
            <a:srgbClr val="FFFFFF"/>
          </a:solidFill>
          <a:ln w="12700">
            <a:solidFill>
              <a:srgbClr val="D3D8E0"/>
            </a:solidFill>
            <a:prstDash val="solid"/>
          </a:ln>
        </p:spPr>
        <p:txBody>
          <a:bodyPr/>
          <a:p/>
        </p:txBody>
      </p:sp>
      <p:sp>
        <p:nvSpPr>
          <p:cNvPr id="436" name="Shape 31"/>
          <p:cNvSpPr/>
          <p:nvPr/>
        </p:nvSpPr>
        <p:spPr>
          <a:xfrm>
            <a:off x="4224528" y="3054096"/>
            <a:ext cx="329184" cy="329184"/>
          </a:xfrm>
          <a:prstGeom prst="ellipse">
            <a:avLst/>
          </a:prstGeom>
          <a:solidFill>
            <a:srgbClr val="0B1F3A"/>
          </a:solidFill>
          <a:ln/>
        </p:spPr>
        <p:txBody>
          <a:bodyPr/>
          <a:p/>
        </p:txBody>
      </p:sp>
      <p:sp>
        <p:nvSpPr>
          <p:cNvPr id="437" name="Text 32"/>
          <p:cNvSpPr txBox="1"/>
          <p:nvPr/>
        </p:nvSpPr>
        <p:spPr>
          <a:xfrm>
            <a:off x="4224528" y="305409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38" name="Text 33"/>
          <p:cNvSpPr txBox="1"/>
          <p:nvPr/>
        </p:nvSpPr>
        <p:spPr>
          <a:xfrm>
            <a:off x="4663440" y="2962656"/>
            <a:ext cx="3291840"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EXPAND</a:t>
            </a:r>
            <a:endParaRPr lang="en-US" sz="1200" dirty="0"/>
          </a:p>
        </p:txBody>
      </p:sp>
      <p:sp>
        <p:nvSpPr>
          <p:cNvPr id="439" name="Text 34"/>
          <p:cNvSpPr txBox="1"/>
          <p:nvPr/>
        </p:nvSpPr>
        <p:spPr>
          <a:xfrm>
            <a:off x="4663440" y="3172968"/>
            <a:ext cx="3291840" cy="347472"/>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Per-project plans first, then a firm-wide subscription</a:t>
            </a:r>
            <a:endParaRPr lang="en-US" sz="1050" dirty="0"/>
          </a:p>
        </p:txBody>
      </p:sp>
      <p:sp>
        <p:nvSpPr>
          <p:cNvPr id="440" name="Shape 35"/>
          <p:cNvSpPr/>
          <p:nvPr/>
        </p:nvSpPr>
        <p:spPr>
          <a:xfrm>
            <a:off x="4114800" y="3575304"/>
            <a:ext cx="3931920" cy="612648"/>
          </a:xfrm>
          <a:prstGeom prst="roundRect">
            <a:avLst>
              <a:gd name="adj" fmla="val 8955"/>
            </a:avLst>
          </a:prstGeom>
          <a:solidFill>
            <a:srgbClr val="FFFFFF"/>
          </a:solidFill>
          <a:ln w="12700">
            <a:solidFill>
              <a:srgbClr val="1F4E96"/>
            </a:solidFill>
            <a:prstDash val="solid"/>
          </a:ln>
        </p:spPr>
        <p:txBody>
          <a:bodyPr/>
          <a:p/>
        </p:txBody>
      </p:sp>
      <p:sp>
        <p:nvSpPr>
          <p:cNvPr id="441" name="Shape 36"/>
          <p:cNvSpPr/>
          <p:nvPr/>
        </p:nvSpPr>
        <p:spPr>
          <a:xfrm>
            <a:off x="4224528" y="3712464"/>
            <a:ext cx="329184" cy="329184"/>
          </a:xfrm>
          <a:prstGeom prst="ellipse">
            <a:avLst/>
          </a:prstGeom>
          <a:solidFill>
            <a:srgbClr val="1F4E96"/>
          </a:solidFill>
          <a:ln/>
        </p:spPr>
        <p:txBody>
          <a:bodyPr/>
          <a:p/>
        </p:txBody>
      </p:sp>
      <p:sp>
        <p:nvSpPr>
          <p:cNvPr id="442" name="Text 37"/>
          <p:cNvSpPr txBox="1"/>
          <p:nvPr/>
        </p:nvSpPr>
        <p:spPr>
          <a:xfrm>
            <a:off x="4224528" y="371246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43" name="Text 38"/>
          <p:cNvSpPr txBox="1"/>
          <p:nvPr/>
        </p:nvSpPr>
        <p:spPr>
          <a:xfrm>
            <a:off x="4663440" y="3621024"/>
            <a:ext cx="3291840" cy="201168"/>
          </a:xfrm>
          <a:prstGeom prst="rect">
            <a:avLst/>
          </a:prstGeom>
          <a:noFill/>
          <a:ln/>
        </p:spPr>
        <p:txBody>
          <a:bodyPr wrap="square" lIns="0" tIns="0" rIns="0" bIns="0" rtlCol="0" anchor="t"/>
          <a:lstStyle/>
          <a:p>
            <a:pPr marL="0" indent="0">
              <a:buNone/>
            </a:pPr>
            <a:r>
              <a:rPr lang="en-US" sz="1200" b="1" dirty="0">
                <a:solidFill>
                  <a:srgbClr val="1F4E96"/>
                </a:solidFill>
                <a:latin typeface="Calibri" pitchFamily="34" charset="0"/>
                <a:ea typeface="Calibri" pitchFamily="34" charset="-122"/>
                <a:cs typeface="Calibri" pitchFamily="34" charset="-120"/>
              </a:rPr>
              <a:t>PARTNER</a:t>
            </a:r>
            <a:endParaRPr lang="en-US" sz="1200" dirty="0"/>
          </a:p>
        </p:txBody>
      </p:sp>
      <p:sp>
        <p:nvSpPr>
          <p:cNvPr id="444" name="Text 39"/>
          <p:cNvSpPr txBox="1"/>
          <p:nvPr/>
        </p:nvSpPr>
        <p:spPr>
          <a:xfrm>
            <a:off x="4663440" y="3831336"/>
            <a:ext cx="3291840" cy="347472"/>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Marketplaces and consultancies carry it to new accounts</a:t>
            </a:r>
            <a:endParaRPr lang="en-US" sz="1050" dirty="0"/>
          </a:p>
        </p:txBody>
      </p:sp>
      <p:sp>
        <p:nvSpPr>
          <p:cNvPr id="445" name="Text 40"/>
          <p:cNvSpPr txBox="1"/>
          <p:nvPr/>
        </p:nvSpPr>
        <p:spPr>
          <a:xfrm>
            <a:off x="4114800" y="4315968"/>
            <a:ext cx="3931920" cy="201168"/>
          </a:xfrm>
          <a:prstGeom prst="rect">
            <a:avLst/>
          </a:prstGeom>
          <a:noFill/>
          <a:ln/>
        </p:spPr>
        <p:txBody>
          <a:bodyPr wrap="square" lIns="0" tIns="0" rIns="0" bIns="0" rtlCol="0" anchor="t"/>
          <a:lstStyle/>
          <a:p>
            <a:pPr marL="0" indent="0">
              <a:buNone/>
            </a:pPr>
            <a:r>
              <a:rPr lang="en-US" sz="1100" b="1" kern="0" spc="200" dirty="0">
                <a:solidFill>
                  <a:srgbClr val="6B7482"/>
                </a:solidFill>
                <a:latin typeface="Calibri" pitchFamily="34" charset="0"/>
                <a:ea typeface="Calibri" pitchFamily="34" charset="-122"/>
                <a:cs typeface="Calibri" pitchFamily="34" charset="-120"/>
              </a:rPr>
              <a:t>PRICING LADDER (TO TEST IN PILOTS)</a:t>
            </a:r>
            <a:endParaRPr lang="en-US" sz="1100" dirty="0"/>
          </a:p>
        </p:txBody>
      </p:sp>
      <p:sp>
        <p:nvSpPr>
          <p:cNvPr id="446" name="Shape 41"/>
          <p:cNvSpPr/>
          <p:nvPr/>
        </p:nvSpPr>
        <p:spPr>
          <a:xfrm>
            <a:off x="4114800" y="4553712"/>
            <a:ext cx="1261872" cy="795528"/>
          </a:xfrm>
          <a:prstGeom prst="roundRect">
            <a:avLst>
              <a:gd name="adj" fmla="val 6897"/>
            </a:avLst>
          </a:prstGeom>
          <a:solidFill>
            <a:srgbClr val="FFFFFF"/>
          </a:solidFill>
          <a:ln w="12700">
            <a:solidFill>
              <a:srgbClr val="D3D8E0"/>
            </a:solidFill>
            <a:prstDash val="solid"/>
          </a:ln>
        </p:spPr>
        <p:txBody>
          <a:bodyPr/>
          <a:p/>
        </p:txBody>
      </p:sp>
      <p:sp>
        <p:nvSpPr>
          <p:cNvPr id="447" name="Text 42"/>
          <p:cNvSpPr txBox="1"/>
          <p:nvPr/>
        </p:nvSpPr>
        <p:spPr>
          <a:xfrm>
            <a:off x="4206240" y="4608576"/>
            <a:ext cx="1097280" cy="182880"/>
          </a:xfrm>
          <a:prstGeom prst="rect">
            <a:avLst/>
          </a:prstGeom>
          <a:noFill/>
          <a:ln/>
        </p:spPr>
        <p:txBody>
          <a:bodyPr wrap="square" lIns="0" tIns="0" rIns="0" bIns="0" rtlCol="0" anchor="t"/>
          <a:lstStyle/>
          <a:p>
            <a:pPr marL="0" indent="0">
              <a:buNone/>
            </a:pPr>
            <a:r>
              <a:rPr lang="en-US" sz="1150" b="1" dirty="0">
                <a:solidFill>
                  <a:srgbClr val="2F6FDB"/>
                </a:solidFill>
                <a:latin typeface="Calibri" pitchFamily="34" charset="0"/>
                <a:ea typeface="Calibri" pitchFamily="34" charset="-122"/>
                <a:cs typeface="Calibri" pitchFamily="34" charset="-120"/>
              </a:rPr>
              <a:t>PILOT</a:t>
            </a:r>
            <a:endParaRPr lang="en-US" sz="1150" dirty="0"/>
          </a:p>
        </p:txBody>
      </p:sp>
      <p:sp>
        <p:nvSpPr>
          <p:cNvPr id="448" name="Text 43"/>
          <p:cNvSpPr txBox="1"/>
          <p:nvPr/>
        </p:nvSpPr>
        <p:spPr>
          <a:xfrm>
            <a:off x="4206240" y="4809744"/>
            <a:ext cx="1097280" cy="502920"/>
          </a:xfrm>
          <a:prstGeom prst="rect">
            <a:avLst/>
          </a:prstGeom>
          <a:noFill/>
          <a:ln/>
        </p:spPr>
        <p:txBody>
          <a:bodyPr wrap="square" lIns="0" tIns="0" rIns="0" bIns="0" rtlCol="0" anchor="t"/>
          <a:lstStyle/>
          <a:p>
            <a:pPr marL="0" indent="0">
              <a:buNone/>
            </a:pPr>
            <a:r>
              <a:rPr lang="en-US" sz="1000" dirty="0">
                <a:solidFill>
                  <a:srgbClr val="6B7482"/>
                </a:solidFill>
                <a:latin typeface="Calibri" pitchFamily="34" charset="0"/>
                <a:ea typeface="Calibri" pitchFamily="34" charset="-122"/>
                <a:cs typeface="Calibri" pitchFamily="34" charset="-120"/>
              </a:rPr>
              <a:t>Fixed fee, one live project</a:t>
            </a:r>
            <a:endParaRPr lang="en-US" sz="1000" dirty="0"/>
          </a:p>
        </p:txBody>
      </p:sp>
      <p:sp>
        <p:nvSpPr>
          <p:cNvPr id="449" name="Shape 44"/>
          <p:cNvSpPr/>
          <p:nvPr/>
        </p:nvSpPr>
        <p:spPr>
          <a:xfrm>
            <a:off x="5449824" y="4553712"/>
            <a:ext cx="1261872" cy="795528"/>
          </a:xfrm>
          <a:prstGeom prst="roundRect">
            <a:avLst>
              <a:gd name="adj" fmla="val 6897"/>
            </a:avLst>
          </a:prstGeom>
          <a:solidFill>
            <a:srgbClr val="FFFFFF"/>
          </a:solidFill>
          <a:ln w="12700">
            <a:solidFill>
              <a:srgbClr val="D3D8E0"/>
            </a:solidFill>
            <a:prstDash val="solid"/>
          </a:ln>
        </p:spPr>
        <p:txBody>
          <a:bodyPr/>
          <a:p/>
        </p:txBody>
      </p:sp>
      <p:sp>
        <p:nvSpPr>
          <p:cNvPr id="450" name="Text 45"/>
          <p:cNvSpPr txBox="1"/>
          <p:nvPr/>
        </p:nvSpPr>
        <p:spPr>
          <a:xfrm>
            <a:off x="5541264" y="4608576"/>
            <a:ext cx="1097280" cy="182880"/>
          </a:xfrm>
          <a:prstGeom prst="rect">
            <a:avLst/>
          </a:prstGeom>
          <a:noFill/>
          <a:ln/>
        </p:spPr>
        <p:txBody>
          <a:bodyPr wrap="square" lIns="0" tIns="0" rIns="0" bIns="0" rtlCol="0" anchor="t"/>
          <a:lstStyle/>
          <a:p>
            <a:pPr marL="0" indent="0">
              <a:buNone/>
            </a:pPr>
            <a:r>
              <a:rPr lang="en-US" sz="1150" b="1" dirty="0">
                <a:solidFill>
                  <a:srgbClr val="2F6FDB"/>
                </a:solidFill>
                <a:latin typeface="Calibri" pitchFamily="34" charset="0"/>
                <a:ea typeface="Calibri" pitchFamily="34" charset="-122"/>
                <a:cs typeface="Calibri" pitchFamily="34" charset="-120"/>
              </a:rPr>
              <a:t>PROJECT</a:t>
            </a:r>
            <a:endParaRPr lang="en-US" sz="1150" dirty="0"/>
          </a:p>
        </p:txBody>
      </p:sp>
      <p:sp>
        <p:nvSpPr>
          <p:cNvPr id="451" name="Text 46"/>
          <p:cNvSpPr txBox="1"/>
          <p:nvPr/>
        </p:nvSpPr>
        <p:spPr>
          <a:xfrm>
            <a:off x="5541264" y="4809744"/>
            <a:ext cx="1097280" cy="502920"/>
          </a:xfrm>
          <a:prstGeom prst="rect">
            <a:avLst/>
          </a:prstGeom>
          <a:noFill/>
          <a:ln/>
        </p:spPr>
        <p:txBody>
          <a:bodyPr wrap="square" lIns="0" tIns="0" rIns="0" bIns="0" rtlCol="0" anchor="t"/>
          <a:lstStyle/>
          <a:p>
            <a:pPr marL="0" indent="0">
              <a:buNone/>
            </a:pPr>
            <a:r>
              <a:rPr lang="en-US" sz="1000" dirty="0">
                <a:solidFill>
                  <a:srgbClr val="6B7482"/>
                </a:solidFill>
                <a:latin typeface="Calibri" pitchFamily="34" charset="0"/>
                <a:ea typeface="Calibri" pitchFamily="34" charset="-122"/>
                <a:cs typeface="Calibri" pitchFamily="34" charset="-120"/>
              </a:rPr>
              <a:t>Per-project fee on project value</a:t>
            </a:r>
            <a:endParaRPr lang="en-US" sz="1000" dirty="0"/>
          </a:p>
        </p:txBody>
      </p:sp>
      <p:sp>
        <p:nvSpPr>
          <p:cNvPr id="452" name="Shape 47"/>
          <p:cNvSpPr/>
          <p:nvPr/>
        </p:nvSpPr>
        <p:spPr>
          <a:xfrm>
            <a:off x="6784848" y="4553712"/>
            <a:ext cx="1261872" cy="795528"/>
          </a:xfrm>
          <a:prstGeom prst="roundRect">
            <a:avLst>
              <a:gd name="adj" fmla="val 6897"/>
            </a:avLst>
          </a:prstGeom>
          <a:solidFill>
            <a:srgbClr val="0B1F3A"/>
          </a:solidFill>
          <a:ln/>
        </p:spPr>
        <p:txBody>
          <a:bodyPr/>
          <a:p/>
        </p:txBody>
      </p:sp>
      <p:sp>
        <p:nvSpPr>
          <p:cNvPr id="453" name="Text 48"/>
          <p:cNvSpPr txBox="1"/>
          <p:nvPr/>
        </p:nvSpPr>
        <p:spPr>
          <a:xfrm>
            <a:off x="6876288" y="4608576"/>
            <a:ext cx="1097280" cy="182880"/>
          </a:xfrm>
          <a:prstGeom prst="rect">
            <a:avLst/>
          </a:prstGeom>
          <a:noFill/>
          <a:ln/>
        </p:spPr>
        <p:txBody>
          <a:bodyPr wrap="square" lIns="0" tIns="0" rIns="0" bIns="0" rtlCol="0" anchor="t"/>
          <a:lstStyle/>
          <a:p>
            <a:pPr marL="0" indent="0">
              <a:buNone/>
            </a:pPr>
            <a:r>
              <a:rPr lang="en-US" sz="1150" b="1" dirty="0">
                <a:solidFill>
                  <a:srgbClr val="1F4E96"/>
                </a:solidFill>
                <a:latin typeface="Calibri" pitchFamily="34" charset="0"/>
                <a:ea typeface="Calibri" pitchFamily="34" charset="-122"/>
                <a:cs typeface="Calibri" pitchFamily="34" charset="-120"/>
              </a:rPr>
              <a:t>PLATFORM</a:t>
            </a:r>
            <a:endParaRPr lang="en-US" sz="1150" dirty="0"/>
          </a:p>
        </p:txBody>
      </p:sp>
      <p:sp>
        <p:nvSpPr>
          <p:cNvPr id="454" name="Text 49"/>
          <p:cNvSpPr txBox="1"/>
          <p:nvPr/>
        </p:nvSpPr>
        <p:spPr>
          <a:xfrm>
            <a:off x="6876288" y="4809744"/>
            <a:ext cx="1097280" cy="50292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Annual plan + usage, private deploy</a:t>
            </a:r>
            <a:endParaRPr lang="en-US" sz="1000" dirty="0"/>
          </a:p>
        </p:txBody>
      </p:sp>
      <p:sp>
        <p:nvSpPr>
          <p:cNvPr id="455" name="Shape 50"/>
          <p:cNvSpPr/>
          <p:nvPr/>
        </p:nvSpPr>
        <p:spPr>
          <a:xfrm>
            <a:off x="8229600" y="1600200"/>
            <a:ext cx="3410712" cy="2331720"/>
          </a:xfrm>
          <a:prstGeom prst="roundRect">
            <a:avLst>
              <a:gd name="adj" fmla="val 2353"/>
            </a:avLst>
          </a:prstGeom>
          <a:solidFill>
            <a:srgbClr val="FFFFFF"/>
          </a:solidFill>
          <a:ln w="12700">
            <a:solidFill>
              <a:srgbClr val="D3D8E0"/>
            </a:solidFill>
            <a:prstDash val="solid"/>
          </a:ln>
        </p:spPr>
        <p:txBody>
          <a:bodyPr/>
          <a:p/>
        </p:txBody>
      </p:sp>
      <p:sp>
        <p:nvSpPr>
          <p:cNvPr id="456" name="Text 51"/>
          <p:cNvSpPr txBox="1"/>
          <p:nvPr/>
        </p:nvSpPr>
        <p:spPr>
          <a:xfrm>
            <a:off x="8357616" y="1673352"/>
            <a:ext cx="315468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What AEC teams already pay (USD per user, per year)</a:t>
            </a:r>
            <a:endParaRPr lang="en-US" sz="1150" dirty="0"/>
          </a:p>
        </p:txBody>
      </p:sp>
      <p:graphicFrame>
        <p:nvGraphicFramePr>
          <p:cNvPr id="457" name="Chart 0"/>
          <p:cNvGraphicFramePr/>
          <p:nvPr/>
        </p:nvGraphicFramePr>
        <p:xfrm>
          <a:off x="8275320" y="2011680"/>
          <a:ext cx="3319272" cy="1417320"/>
        </p:xfrm>
        <a:graphic>
          <a:graphicData uri="http://schemas.openxmlformats.org/drawingml/2006/chart">
            <c:chart xmlns:c="http://schemas.openxmlformats.org/drawingml/2006/chart" xmlns:r="http://schemas.openxmlformats.org/officeDocument/2006/relationships" r:id="rId7"/>
          </a:graphicData>
        </a:graphic>
      </p:graphicFrame>
      <p:sp>
        <p:nvSpPr>
          <p:cNvPr id="458" name="Text 52"/>
          <p:cNvSpPr txBox="1"/>
          <p:nvPr/>
        </p:nvSpPr>
        <p:spPr>
          <a:xfrm>
            <a:off x="8357616" y="3438144"/>
            <a:ext cx="3154680" cy="475488"/>
          </a:xfrm>
          <a:prstGeom prst="rect">
            <a:avLst/>
          </a:prstGeom>
          <a:noFill/>
          <a:ln/>
        </p:spPr>
        <p:txBody>
          <a:bodyPr wrap="square" lIns="0" tIns="0" rIns="0" bIns="0" rtlCol="0" anchor="t"/>
          <a:lstStyle/>
          <a:p>
            <a:pPr marL="0" indent="0">
              <a:buNone/>
            </a:pPr>
            <a:r>
              <a:rPr lang="en-US" sz="1000" dirty="0">
                <a:solidFill>
                  <a:srgbClr val="6B7482"/>
                </a:solidFill>
                <a:latin typeface="Calibri" pitchFamily="34" charset="0"/>
                <a:ea typeface="Calibri" pitchFamily="34" charset="-122"/>
                <a:cs typeface="Calibri" pitchFamily="34" charset="-120"/>
              </a:rPr>
              <a:t>Seat prices run from hundreds to a few thousand dollars. Procore prices on construction volume with unlimited users, a precedent for value-based pricing.</a:t>
            </a:r>
            <a:endParaRPr lang="en-US" sz="1000" dirty="0"/>
          </a:p>
        </p:txBody>
      </p:sp>
      <p:sp>
        <p:nvSpPr>
          <p:cNvPr id="459" name="Shape 53"/>
          <p:cNvSpPr/>
          <p:nvPr/>
        </p:nvSpPr>
        <p:spPr>
          <a:xfrm>
            <a:off x="8229600" y="4023360"/>
            <a:ext cx="3410712" cy="1325880"/>
          </a:xfrm>
          <a:prstGeom prst="roundRect">
            <a:avLst>
              <a:gd name="adj" fmla="val 4138"/>
            </a:avLst>
          </a:prstGeom>
          <a:solidFill>
            <a:srgbClr val="FFFFFF"/>
          </a:solidFill>
          <a:ln w="12700">
            <a:solidFill>
              <a:srgbClr val="D3D8E0"/>
            </a:solidFill>
            <a:prstDash val="solid"/>
          </a:ln>
        </p:spPr>
        <p:txBody>
          <a:bodyPr/>
          <a:p/>
        </p:txBody>
      </p:sp>
      <p:sp>
        <p:nvSpPr>
          <p:cNvPr id="460" name="Text 54"/>
          <p:cNvSpPr txBox="1"/>
          <p:nvPr/>
        </p:nvSpPr>
        <p:spPr>
          <a:xfrm>
            <a:off x="8357616" y="4096512"/>
            <a:ext cx="3108960" cy="201168"/>
          </a:xfrm>
          <a:prstGeom prst="rect">
            <a:avLst/>
          </a:prstGeom>
          <a:noFill/>
          <a:ln/>
        </p:spPr>
        <p:txBody>
          <a:bodyPr wrap="square" lIns="0" tIns="0" rIns="0" bIns="0" rtlCol="0" anchor="t"/>
          <a:lstStyle/>
          <a:p>
            <a:pPr marL="0" indent="0">
              <a:buNone/>
            </a:pPr>
            <a:r>
              <a:rPr lang="en-US" sz="1100" b="1" kern="0" spc="200" dirty="0">
                <a:solidFill>
                  <a:srgbClr val="6B7482"/>
                </a:solidFill>
                <a:latin typeface="Calibri" pitchFamily="34" charset="0"/>
                <a:ea typeface="Calibri" pitchFamily="34" charset="-122"/>
                <a:cs typeface="Calibri" pitchFamily="34" charset="-120"/>
              </a:rPr>
              <a:t>CHANNELS (PEER PROOF)</a:t>
            </a:r>
            <a:endParaRPr lang="en-US" sz="1100" dirty="0"/>
          </a:p>
        </p:txBody>
      </p:sp>
      <p:pic>
        <p:nvPicPr>
          <p:cNvPr id="461" name="Image 4" descr="preencoded.png"/>
          <p:cNvPicPr>
            <a:picLocks noChangeAspect="1"/>
          </p:cNvPicPr>
          <p:nvPr/>
        </p:nvPicPr>
        <p:blipFill>
          <a:blip r:embed="rId8"/>
          <a:stretch>
            <a:fillRect/>
          </a:stretch>
        </p:blipFill>
        <p:spPr>
          <a:xfrm>
            <a:off x="8375904" y="4425696"/>
            <a:ext cx="182880" cy="182880"/>
          </a:xfrm>
          <a:prstGeom prst="rect">
            <a:avLst/>
          </a:prstGeom>
        </p:spPr>
      </p:pic>
      <p:sp>
        <p:nvSpPr>
          <p:cNvPr id="462" name="Text 55"/>
          <p:cNvSpPr txBox="1"/>
          <p:nvPr/>
        </p:nvSpPr>
        <p:spPr>
          <a:xfrm>
            <a:off x="8641080" y="4370832"/>
            <a:ext cx="2926080" cy="292608"/>
          </a:xfrm>
          <a:prstGeom prst="rect">
            <a:avLst/>
          </a:prstGeom>
          <a:noFill/>
          <a:ln/>
        </p:spPr>
        <p:txBody>
          <a:bodyPr wrap="square" lIns="0" tIns="0" rIns="0" bIns="0" rtlCol="0" anchor="ctr"/>
          <a:lstStyle/>
          <a:p>
            <a:pPr marL="0" indent="0">
              <a:buNone/>
            </a:pPr>
            <a:r>
              <a:rPr lang="en-US" sz="1000" dirty="0">
                <a:solidFill>
                  <a:srgbClr val="2B2F36"/>
                </a:solidFill>
                <a:latin typeface="Calibri" pitchFamily="34" charset="0"/>
                <a:ea typeface="Calibri" pitchFamily="34" charset="-122"/>
                <a:cs typeface="Calibri" pitchFamily="34" charset="-120"/>
              </a:rPr>
              <a:t>Autodesk Marketplace: a peer AEC-AI vendor went live Jul 2026</a:t>
            </a:r>
            <a:endParaRPr lang="en-US" sz="1000" dirty="0"/>
          </a:p>
        </p:txBody>
      </p:sp>
      <p:pic>
        <p:nvPicPr>
          <p:cNvPr id="463" name="Image 5" descr="preencoded.png"/>
          <p:cNvPicPr>
            <a:picLocks noChangeAspect="1"/>
          </p:cNvPicPr>
          <p:nvPr/>
        </p:nvPicPr>
        <p:blipFill>
          <a:blip r:embed="rId9"/>
          <a:stretch>
            <a:fillRect/>
          </a:stretch>
        </p:blipFill>
        <p:spPr>
          <a:xfrm>
            <a:off x="8375904" y="4736592"/>
            <a:ext cx="182880" cy="182880"/>
          </a:xfrm>
          <a:prstGeom prst="rect">
            <a:avLst/>
          </a:prstGeom>
        </p:spPr>
      </p:pic>
      <p:sp>
        <p:nvSpPr>
          <p:cNvPr id="464" name="Text 56"/>
          <p:cNvSpPr txBox="1"/>
          <p:nvPr/>
        </p:nvSpPr>
        <p:spPr>
          <a:xfrm>
            <a:off x="8641080" y="4681728"/>
            <a:ext cx="2926080" cy="292608"/>
          </a:xfrm>
          <a:prstGeom prst="rect">
            <a:avLst/>
          </a:prstGeom>
          <a:noFill/>
          <a:ln/>
        </p:spPr>
        <p:txBody>
          <a:bodyPr wrap="square" lIns="0" tIns="0" rIns="0" bIns="0" rtlCol="0" anchor="ctr"/>
          <a:lstStyle/>
          <a:p>
            <a:pPr marL="0" indent="0">
              <a:buNone/>
            </a:pPr>
            <a:r>
              <a:rPr lang="en-US" sz="1000" dirty="0">
                <a:solidFill>
                  <a:srgbClr val="2B2F36"/>
                </a:solidFill>
                <a:latin typeface="Calibri" pitchFamily="34" charset="0"/>
                <a:ea typeface="Calibri" pitchFamily="34" charset="-122"/>
                <a:cs typeface="Calibri" pitchFamily="34" charset="-120"/>
              </a:rPr>
              <a:t>Procore Marketplace: 500+ integrations</a:t>
            </a:r>
            <a:endParaRPr lang="en-US" sz="1000" dirty="0"/>
          </a:p>
        </p:txBody>
      </p:sp>
      <p:pic>
        <p:nvPicPr>
          <p:cNvPr id="465" name="Image 6" descr="preencoded.png"/>
          <p:cNvPicPr>
            <a:picLocks noChangeAspect="1"/>
          </p:cNvPicPr>
          <p:nvPr/>
        </p:nvPicPr>
        <p:blipFill>
          <a:blip r:embed="rId10"/>
          <a:stretch>
            <a:fillRect/>
          </a:stretch>
        </p:blipFill>
        <p:spPr>
          <a:xfrm>
            <a:off x="8375904" y="5047488"/>
            <a:ext cx="182880" cy="182880"/>
          </a:xfrm>
          <a:prstGeom prst="rect">
            <a:avLst/>
          </a:prstGeom>
        </p:spPr>
      </p:pic>
      <p:sp>
        <p:nvSpPr>
          <p:cNvPr id="466" name="Text 57"/>
          <p:cNvSpPr txBox="1"/>
          <p:nvPr/>
        </p:nvSpPr>
        <p:spPr>
          <a:xfrm>
            <a:off x="8641080" y="4992624"/>
            <a:ext cx="2926080" cy="292608"/>
          </a:xfrm>
          <a:prstGeom prst="rect">
            <a:avLst/>
          </a:prstGeom>
          <a:noFill/>
          <a:ln/>
        </p:spPr>
        <p:txBody>
          <a:bodyPr wrap="square" lIns="0" tIns="0" rIns="0" bIns="0" rtlCol="0" anchor="ctr"/>
          <a:lstStyle/>
          <a:p>
            <a:pPr marL="0" indent="0">
              <a:buNone/>
            </a:pPr>
            <a:r>
              <a:rPr lang="en-US" sz="1000" dirty="0">
                <a:solidFill>
                  <a:srgbClr val="2B2F36"/>
                </a:solidFill>
                <a:latin typeface="Calibri" pitchFamily="34" charset="0"/>
                <a:ea typeface="Calibri" pitchFamily="34" charset="-122"/>
                <a:cs typeface="Calibri" pitchFamily="34" charset="-120"/>
              </a:rPr>
              <a:t>Consultancy deals: the same peer partnered with Aurecon, Arcadis</a:t>
            </a:r>
            <a:endParaRPr lang="en-US" sz="1000" dirty="0"/>
          </a:p>
        </p:txBody>
      </p:sp>
      <p:sp>
        <p:nvSpPr>
          <p:cNvPr id="6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482"/>
                </a:solidFill>
                <a:latin typeface="Calibri"/>
                <a:ea typeface="Calibri"/>
                <a:cs typeface="Calibri"/>
              </a:defRPr>
            </a:lvl1pPr>
          </a:lstStyle>
          <a:p>
            <a:pPr algn="r"/>
            <a:fld id="{F7021451-1387-4CA6-816F-3879F97B5CBC}" type="slidenum">
              <a:rPr lang="en-US" b="0"/>
              <a:t>6</a:t>
            </a:fld>
            <a:endParaRPr lang="en-US"/>
          </a:p>
        </p:txBody>
      </p:sp>
      <p:sp>
        <p:nvSpPr>
          <p:cNvPr id="445" name="Text 40"/>
          <p:cNvSpPr txBox="1"/>
          <p:nvPr/>
        </p:nvSpPr>
        <p:spPr>
          <a:xfrm>
            <a:off x="548640" y="5532120"/>
            <a:ext cx="2743200" cy="201168"/>
          </a:xfrm>
          <a:prstGeom prst="rect">
            <a:avLst/>
          </a:prstGeom>
          <a:noFill/>
          <a:ln/>
        </p:spPr>
        <p:txBody>
          <a:bodyPr wrap="square" lIns="0" tIns="0" rIns="0" bIns="0" rtlCol="0" anchor="t"/>
          <a:lstStyle/>
          <a:p>
            <a:pPr marL="0" indent="0">
              <a:buNone/>
            </a:pPr>
            <a:r>
              <a:rPr lang="en-US" sz="1100" b="1" kern="0" spc="200" dirty="0">
                <a:solidFill>
                  <a:srgbClr val="6B7482"/>
                </a:solidFill>
                <a:latin typeface="Calibri" pitchFamily="34" charset="0"/>
                <a:ea typeface="Calibri" pitchFamily="34" charset="-122"/>
                <a:cs typeface="Calibri" pitchFamily="34" charset="-120"/>
              </a:rPr>
              <a:t>WHAT THE PILOT MUST PROVE</a:t>
            </a:r>
            <a:endParaRPr lang="en-US" sz="1100" dirty="0"/>
          </a:p>
        </p:txBody>
      </p:sp>
      <p:sp>
        <p:nvSpPr>
          <p:cNvPr id="467" name="TextBox 466"/>
          <p:cNvSpPr txBox="1"/>
          <p:nvPr/>
        </p:nvSpPr>
        <p:spPr>
          <a:xfrm>
            <a:off x="3383280" y="5545836"/>
            <a:ext cx="5486400" cy="182880"/>
          </a:xfrm>
          <a:prstGeom prst="rect">
            <a:avLst/>
          </a:prstGeom>
          <a:noFill/>
        </p:spPr>
        <p:txBody>
          <a:bodyPr wrap="square" lIns="0" rIns="0" tIns="0" bIns="0" anchor="t">
            <a:spAutoFit/>
          </a:bodyPr>
          <a:lstStyle/>
          <a:p>
            <a:pPr algn="l"/>
            <a:r>
              <a:rPr sz="900" b="0" i="1">
                <a:solidFill>
                  <a:srgbClr val="6B7482"/>
                </a:solidFill>
                <a:latin typeface="Calibri"/>
              </a:rPr>
              <a:t>Proposed validation criteria, not achieved results.</a:t>
            </a:r>
          </a:p>
        </p:txBody>
      </p:sp>
      <p:cxnSp>
        <p:nvCxnSpPr>
          <p:cNvPr id="468" name="Connector 467"/>
          <p:cNvCxnSpPr/>
          <p:nvPr/>
        </p:nvCxnSpPr>
        <p:spPr>
          <a:xfrm>
            <a:off x="548640" y="5797296"/>
            <a:ext cx="3383280" cy="0"/>
          </a:xfrm>
          <a:prstGeom prst="line">
            <a:avLst/>
          </a:prstGeom>
          <a:ln w="9525">
            <a:solidFill>
              <a:srgbClr val="D3D8E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548640" y="5797296"/>
            <a:ext cx="457200" cy="0"/>
          </a:xfrm>
          <a:prstGeom prst="line">
            <a:avLst/>
          </a:prstGeom>
          <a:ln w="25400">
            <a:solidFill>
              <a:srgbClr val="2F6FDB"/>
            </a:solidFill>
          </a:ln>
        </p:spPr>
        <p:style>
          <a:lnRef idx="2">
            <a:schemeClr val="accent1"/>
          </a:lnRef>
          <a:fillRef idx="0">
            <a:schemeClr val="accent1"/>
          </a:fillRef>
          <a:effectRef idx="1">
            <a:schemeClr val="accent1"/>
          </a:effectRef>
          <a:fontRef idx="minor">
            <a:schemeClr val="tx1"/>
          </a:fontRef>
        </p:style>
      </p:cxnSp>
      <p:sp>
        <p:nvSpPr>
          <p:cNvPr id="470" name="TextBox 469"/>
          <p:cNvSpPr txBox="1"/>
          <p:nvPr/>
        </p:nvSpPr>
        <p:spPr>
          <a:xfrm>
            <a:off x="548640" y="5861304"/>
            <a:ext cx="3383280" cy="182880"/>
          </a:xfrm>
          <a:prstGeom prst="rect">
            <a:avLst/>
          </a:prstGeom>
          <a:noFill/>
        </p:spPr>
        <p:txBody>
          <a:bodyPr wrap="square" lIns="0" rIns="0" tIns="0" bIns="0" anchor="t">
            <a:spAutoFit/>
          </a:bodyPr>
          <a:lstStyle/>
          <a:p>
            <a:pPr algn="l"/>
            <a:r>
              <a:rPr sz="1050" b="1" i="0">
                <a:solidFill>
                  <a:srgbClr val="0B1F3A"/>
                </a:solidFill>
                <a:latin typeface="Calibri"/>
              </a:rPr>
              <a:t>FINDING QUALITY</a:t>
            </a:r>
          </a:p>
        </p:txBody>
      </p:sp>
      <p:sp>
        <p:nvSpPr>
          <p:cNvPr id="471" name="TextBox 470"/>
          <p:cNvSpPr txBox="1"/>
          <p:nvPr/>
        </p:nvSpPr>
        <p:spPr>
          <a:xfrm>
            <a:off x="548640" y="6053328"/>
            <a:ext cx="3200400" cy="329184"/>
          </a:xfrm>
          <a:prstGeom prst="rect">
            <a:avLst/>
          </a:prstGeom>
          <a:noFill/>
        </p:spPr>
        <p:txBody>
          <a:bodyPr wrap="square" lIns="0" rIns="0" tIns="0" bIns="0" anchor="t">
            <a:spAutoFit/>
          </a:bodyPr>
          <a:lstStyle/>
          <a:p>
            <a:pPr algn="l"/>
            <a:r>
              <a:rPr sz="1000" b="0" i="0">
                <a:solidFill>
                  <a:srgbClr val="6B7482"/>
                </a:solidFill>
                <a:latin typeface="Calibri"/>
              </a:rPr>
              <a:t>Are the identified issues relevant and verified by qualified professionals?</a:t>
            </a:r>
          </a:p>
        </p:txBody>
      </p:sp>
      <p:cxnSp>
        <p:nvCxnSpPr>
          <p:cNvPr id="472" name="Connector 471"/>
          <p:cNvCxnSpPr/>
          <p:nvPr/>
        </p:nvCxnSpPr>
        <p:spPr>
          <a:xfrm>
            <a:off x="4114800" y="5797296"/>
            <a:ext cx="3931920" cy="0"/>
          </a:xfrm>
          <a:prstGeom prst="line">
            <a:avLst/>
          </a:prstGeom>
          <a:ln w="9525">
            <a:solidFill>
              <a:srgbClr val="D3D8E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a:off x="4114800" y="5797296"/>
            <a:ext cx="457200" cy="0"/>
          </a:xfrm>
          <a:prstGeom prst="line">
            <a:avLst/>
          </a:prstGeom>
          <a:ln w="25400">
            <a:solidFill>
              <a:srgbClr val="2F6FDB"/>
            </a:solidFill>
          </a:ln>
        </p:spPr>
        <p:style>
          <a:lnRef idx="2">
            <a:schemeClr val="accent1"/>
          </a:lnRef>
          <a:fillRef idx="0">
            <a:schemeClr val="accent1"/>
          </a:fillRef>
          <a:effectRef idx="1">
            <a:schemeClr val="accent1"/>
          </a:effectRef>
          <a:fontRef idx="minor">
            <a:schemeClr val="tx1"/>
          </a:fontRef>
        </p:style>
      </p:cxnSp>
      <p:sp>
        <p:nvSpPr>
          <p:cNvPr id="474" name="TextBox 473"/>
          <p:cNvSpPr txBox="1"/>
          <p:nvPr/>
        </p:nvSpPr>
        <p:spPr>
          <a:xfrm>
            <a:off x="4114800" y="5861304"/>
            <a:ext cx="3931920" cy="182880"/>
          </a:xfrm>
          <a:prstGeom prst="rect">
            <a:avLst/>
          </a:prstGeom>
          <a:noFill/>
        </p:spPr>
        <p:txBody>
          <a:bodyPr wrap="square" lIns="0" rIns="0" tIns="0" bIns="0" anchor="t">
            <a:spAutoFit/>
          </a:bodyPr>
          <a:lstStyle/>
          <a:p>
            <a:pPr algn="l"/>
            <a:r>
              <a:rPr sz="1050" b="1" i="0">
                <a:solidFill>
                  <a:srgbClr val="0B1F3A"/>
                </a:solidFill>
                <a:latin typeface="Calibri"/>
              </a:rPr>
              <a:t>TIME SAVED</a:t>
            </a:r>
          </a:p>
        </p:txBody>
      </p:sp>
      <p:sp>
        <p:nvSpPr>
          <p:cNvPr id="475" name="TextBox 474"/>
          <p:cNvSpPr txBox="1"/>
          <p:nvPr/>
        </p:nvSpPr>
        <p:spPr>
          <a:xfrm>
            <a:off x="4114800" y="6053328"/>
            <a:ext cx="3749039" cy="329184"/>
          </a:xfrm>
          <a:prstGeom prst="rect">
            <a:avLst/>
          </a:prstGeom>
          <a:noFill/>
        </p:spPr>
        <p:txBody>
          <a:bodyPr wrap="square" lIns="0" rIns="0" tIns="0" bIns="0" anchor="t">
            <a:spAutoFit/>
          </a:bodyPr>
          <a:lstStyle/>
          <a:p>
            <a:pPr algn="l"/>
            <a:r>
              <a:rPr sz="1000" b="0" i="0">
                <a:solidFill>
                  <a:srgbClr val="6B7482"/>
                </a:solidFill>
                <a:latin typeface="Calibri"/>
              </a:rPr>
              <a:t>Does cross-source review take less time than the existing workflow?</a:t>
            </a:r>
          </a:p>
        </p:txBody>
      </p:sp>
      <p:cxnSp>
        <p:nvCxnSpPr>
          <p:cNvPr id="476" name="Connector 475"/>
          <p:cNvCxnSpPr/>
          <p:nvPr/>
        </p:nvCxnSpPr>
        <p:spPr>
          <a:xfrm>
            <a:off x="8229600" y="5797296"/>
            <a:ext cx="3383280" cy="0"/>
          </a:xfrm>
          <a:prstGeom prst="line">
            <a:avLst/>
          </a:prstGeom>
          <a:ln w="9525">
            <a:solidFill>
              <a:srgbClr val="D3D8E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a:off x="8229600" y="5797296"/>
            <a:ext cx="457200" cy="0"/>
          </a:xfrm>
          <a:prstGeom prst="line">
            <a:avLst/>
          </a:prstGeom>
          <a:ln w="25400">
            <a:solidFill>
              <a:srgbClr val="2F6FDB"/>
            </a:solidFill>
          </a:ln>
        </p:spPr>
        <p:style>
          <a:lnRef idx="2">
            <a:schemeClr val="accent1"/>
          </a:lnRef>
          <a:fillRef idx="0">
            <a:schemeClr val="accent1"/>
          </a:fillRef>
          <a:effectRef idx="1">
            <a:schemeClr val="accent1"/>
          </a:effectRef>
          <a:fontRef idx="minor">
            <a:schemeClr val="tx1"/>
          </a:fontRef>
        </p:style>
      </p:cxnSp>
      <p:sp>
        <p:nvSpPr>
          <p:cNvPr id="478" name="TextBox 477"/>
          <p:cNvSpPr txBox="1"/>
          <p:nvPr/>
        </p:nvSpPr>
        <p:spPr>
          <a:xfrm>
            <a:off x="8229600" y="5861304"/>
            <a:ext cx="3383280" cy="182880"/>
          </a:xfrm>
          <a:prstGeom prst="rect">
            <a:avLst/>
          </a:prstGeom>
          <a:noFill/>
        </p:spPr>
        <p:txBody>
          <a:bodyPr wrap="square" lIns="0" rIns="0" tIns="0" bIns="0" anchor="t">
            <a:spAutoFit/>
          </a:bodyPr>
          <a:lstStyle/>
          <a:p>
            <a:pPr algn="l"/>
            <a:r>
              <a:rPr sz="1050" b="1" i="0">
                <a:solidFill>
                  <a:srgbClr val="0B1F3A"/>
                </a:solidFill>
                <a:latin typeface="Calibri"/>
              </a:rPr>
              <a:t>WILLINGNESS TO PAY</a:t>
            </a:r>
          </a:p>
        </p:txBody>
      </p:sp>
      <p:sp>
        <p:nvSpPr>
          <p:cNvPr id="479" name="TextBox 478"/>
          <p:cNvSpPr txBox="1"/>
          <p:nvPr/>
        </p:nvSpPr>
        <p:spPr>
          <a:xfrm>
            <a:off x="8229600" y="6053328"/>
            <a:ext cx="3200400" cy="329184"/>
          </a:xfrm>
          <a:prstGeom prst="rect">
            <a:avLst/>
          </a:prstGeom>
          <a:noFill/>
        </p:spPr>
        <p:txBody>
          <a:bodyPr wrap="square" lIns="0" rIns="0" tIns="0" bIns="0" anchor="t">
            <a:spAutoFit/>
          </a:bodyPr>
          <a:lstStyle/>
          <a:p>
            <a:pPr algn="l"/>
            <a:r>
              <a:rPr sz="1000" b="0" i="0">
                <a:solidFill>
                  <a:srgbClr val="6B7482"/>
                </a:solidFill>
                <a:latin typeface="Calibri"/>
              </a:rPr>
              <a:t>Will a target customer pay for the workflow after seeing its value?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60120"/>
          </a:xfrm>
          <a:prstGeom prst="rect">
            <a:avLst/>
          </a:prstGeom>
          <a:noFill/>
          <a:ln/>
        </p:spPr>
        <p:txBody>
          <a:bodyPr wrap="square" lIns="0" tIns="0" rIns="0" bIns="0" rtlCol="0" anchor="t"/>
          <a:lstStyle/>
          <a:p>
            <a:pPr marL="0" indent="0" algn="l">
              <a:buNone/>
            </a:pPr>
            <a:r>
              <a:rPr lang="en-US" sz="3000" b="1" dirty="0">
                <a:solidFill>
                  <a:srgbClr val="0B1F3A"/>
                </a:solidFill>
                <a:latin typeface="Calibri" pitchFamily="34" charset="0"/>
                <a:ea typeface="Calibri" pitchFamily="34" charset="-122"/>
                <a:cs typeface="Calibri" pitchFamily="34" charset="-120"/>
              </a:rPr>
              <a:t>Competitive landscape: strong layers, one clear whitespace</a:t>
            </a:r>
            <a:endParaRPr lang="en-US" sz="3000" dirty="0"/>
          </a:p>
        </p:txBody>
      </p:sp>
      <p:sp>
        <p:nvSpPr>
          <p:cNvPr id="501" name="Text 0"/>
          <p:cNvSpPr txBox="1"/>
          <p:nvPr/>
        </p:nvSpPr>
        <p:spPr>
          <a:xfrm>
            <a:off x="548640" y="896112"/>
            <a:ext cx="10515600" cy="274320"/>
          </a:xfrm>
          <a:prstGeom prst="rect">
            <a:avLst/>
          </a:prstGeom>
          <a:noFill/>
          <a:ln/>
        </p:spPr>
        <p:txBody>
          <a:bodyPr wrap="square" lIns="0" tIns="0" rIns="0" bIns="0" rtlCol="0" anchor="t"/>
          <a:lstStyle/>
          <a:p>
            <a:pPr marL="0" indent="0">
              <a:buNone/>
            </a:pPr>
            <a:r>
              <a:rPr lang="en-US" sz="1500" dirty="0">
                <a:solidFill>
                  <a:srgbClr val="6B7482"/>
                </a:solidFill>
                <a:latin typeface="Calibri" pitchFamily="34" charset="0"/>
                <a:ea typeface="Calibri" pitchFamily="34" charset="-122"/>
                <a:cs typeface="Calibri" pitchFamily="34" charset="-120"/>
              </a:rPr>
              <a:t>Existing products solve single layers; AERES targets the reasoning layer between them.</a:t>
            </a:r>
            <a:endParaRPr lang="en-US" sz="1500" dirty="0"/>
          </a:p>
        </p:txBody>
      </p:sp>
      <p:sp>
        <p:nvSpPr>
          <p:cNvPr id="502" name="Shape 1"/>
          <p:cNvSpPr/>
          <p:nvPr/>
        </p:nvSpPr>
        <p:spPr>
          <a:xfrm>
            <a:off x="548640" y="1325880"/>
            <a:ext cx="5669280" cy="2395728"/>
          </a:xfrm>
          <a:prstGeom prst="roundRect">
            <a:avLst>
              <a:gd name="adj" fmla="val 2290"/>
            </a:avLst>
          </a:prstGeom>
          <a:solidFill>
            <a:srgbClr val="FFFFFF"/>
          </a:solidFill>
          <a:ln w="12700">
            <a:solidFill>
              <a:srgbClr val="D3D8E0"/>
            </a:solidFill>
            <a:prstDash val="solid"/>
          </a:ln>
        </p:spPr>
      </p:sp>
      <p:sp>
        <p:nvSpPr>
          <p:cNvPr id="503" name="Text 2"/>
          <p:cNvSpPr txBox="1"/>
          <p:nvPr/>
        </p:nvSpPr>
        <p:spPr>
          <a:xfrm>
            <a:off x="676656" y="1417320"/>
            <a:ext cx="5413248"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Design-stage tools: strong layers</a:t>
            </a:r>
            <a:endParaRPr lang="en-US" sz="1200" dirty="0"/>
          </a:p>
        </p:txBody>
      </p:sp>
      <p:sp>
        <p:nvSpPr>
          <p:cNvPr id="504" name="Text 3"/>
          <p:cNvSpPr txBox="1"/>
          <p:nvPr/>
        </p:nvSpPr>
        <p:spPr>
          <a:xfrm>
            <a:off x="3931920" y="1417320"/>
            <a:ext cx="2194560" cy="182880"/>
          </a:xfrm>
          <a:prstGeom prst="rect">
            <a:avLst/>
          </a:prstGeom>
          <a:noFill/>
          <a:ln/>
        </p:spPr>
        <p:txBody>
          <a:bodyPr wrap="square" lIns="0" tIns="0" rIns="0" bIns="0" rtlCol="0" anchor="t"/>
          <a:lstStyle/>
          <a:p>
            <a:pPr marL="0" indent="0" algn="r">
              <a:buNone/>
            </a:pPr>
            <a:r>
              <a:rPr lang="en-US" sz="1000" dirty="0">
                <a:solidFill>
                  <a:srgbClr val="6B7482"/>
                </a:solidFill>
                <a:latin typeface="Calibri" pitchFamily="34" charset="0"/>
                <a:ea typeface="Calibri" pitchFamily="34" charset="-122"/>
                <a:cs typeface="Calibri" pitchFamily="34" charset="-120"/>
              </a:rPr>
              <a:t>● strong   ○ partial   – not a focus</a:t>
            </a:r>
            <a:endParaRPr lang="en-US" sz="1000" dirty="0"/>
          </a:p>
        </p:txBody>
      </p:sp>
      <p:sp>
        <p:nvSpPr>
          <p:cNvPr id="505" name="Text 4"/>
          <p:cNvSpPr txBox="1"/>
          <p:nvPr/>
        </p:nvSpPr>
        <p:spPr>
          <a:xfrm>
            <a:off x="2148840" y="1655064"/>
            <a:ext cx="640080" cy="292608"/>
          </a:xfrm>
          <a:prstGeom prst="rect">
            <a:avLst/>
          </a:prstGeom>
          <a:noFill/>
          <a:ln/>
        </p:spPr>
        <p:txBody>
          <a:bodyPr wrap="square" lIns="0" tIns="0" rIns="0" bIns="0" rtlCol="0" anchor="ctr"/>
          <a:lstStyle/>
          <a:p>
            <a:pPr marL="0" indent="0" algn="ctr">
              <a:buNone/>
            </a:pPr>
            <a:r>
              <a:rPr lang="en-US" sz="1000" b="1" dirty="0">
                <a:solidFill>
                  <a:srgbClr val="6B7482"/>
                </a:solidFill>
                <a:latin typeface="Calibri" pitchFamily="34" charset="0"/>
                <a:ea typeface="Calibri" pitchFamily="34" charset="-122"/>
                <a:cs typeface="Calibri" pitchFamily="34" charset="-120"/>
              </a:rPr>
              <a:t>Plan / BIM</a:t>
            </a:r>
            <a:endParaRPr lang="en-US" sz="1000" dirty="0"/>
          </a:p>
        </p:txBody>
      </p:sp>
      <p:sp>
        <p:nvSpPr>
          <p:cNvPr id="506" name="Text 5"/>
          <p:cNvSpPr txBox="1"/>
          <p:nvPr/>
        </p:nvSpPr>
        <p:spPr>
          <a:xfrm>
            <a:off x="2788920" y="1655064"/>
            <a:ext cx="640080" cy="292608"/>
          </a:xfrm>
          <a:prstGeom prst="rect">
            <a:avLst/>
          </a:prstGeom>
          <a:noFill/>
          <a:ln/>
        </p:spPr>
        <p:txBody>
          <a:bodyPr wrap="square" lIns="0" tIns="0" rIns="0" bIns="0" rtlCol="0" anchor="ctr"/>
          <a:lstStyle/>
          <a:p>
            <a:pPr marL="0" indent="0" algn="ctr">
              <a:buNone/>
            </a:pPr>
            <a:r>
              <a:rPr lang="en-US" sz="1000" b="1" dirty="0">
                <a:solidFill>
                  <a:srgbClr val="6B7482"/>
                </a:solidFill>
                <a:latin typeface="Calibri" pitchFamily="34" charset="0"/>
                <a:ea typeface="Calibri" pitchFamily="34" charset="-122"/>
                <a:cs typeface="Calibri" pitchFamily="34" charset="-120"/>
              </a:rPr>
              <a:t>Site</a:t>
            </a:r>
            <a:endParaRPr lang="en-US" sz="1000" dirty="0"/>
          </a:p>
        </p:txBody>
      </p:sp>
      <p:sp>
        <p:nvSpPr>
          <p:cNvPr id="507" name="Text 6"/>
          <p:cNvSpPr txBox="1"/>
          <p:nvPr/>
        </p:nvSpPr>
        <p:spPr>
          <a:xfrm>
            <a:off x="3429000" y="1655064"/>
            <a:ext cx="640080" cy="292608"/>
          </a:xfrm>
          <a:prstGeom prst="rect">
            <a:avLst/>
          </a:prstGeom>
          <a:noFill/>
          <a:ln/>
        </p:spPr>
        <p:txBody>
          <a:bodyPr wrap="square" lIns="0" tIns="0" rIns="0" bIns="0" rtlCol="0" anchor="ctr"/>
          <a:lstStyle/>
          <a:p>
            <a:pPr marL="0" indent="0" algn="ctr">
              <a:buNone/>
            </a:pPr>
            <a:r>
              <a:rPr lang="en-US" sz="1000" b="1" dirty="0">
                <a:solidFill>
                  <a:srgbClr val="6B7482"/>
                </a:solidFill>
                <a:latin typeface="Calibri" pitchFamily="34" charset="0"/>
                <a:ea typeface="Calibri" pitchFamily="34" charset="-122"/>
                <a:cs typeface="Calibri" pitchFamily="34" charset="-120"/>
              </a:rPr>
              <a:t>Code / QA</a:t>
            </a:r>
            <a:endParaRPr lang="en-US" sz="1000" dirty="0"/>
          </a:p>
        </p:txBody>
      </p:sp>
      <p:sp>
        <p:nvSpPr>
          <p:cNvPr id="508" name="Text 7"/>
          <p:cNvSpPr txBox="1"/>
          <p:nvPr/>
        </p:nvSpPr>
        <p:spPr>
          <a:xfrm>
            <a:off x="4069080" y="1655064"/>
            <a:ext cx="640080" cy="292608"/>
          </a:xfrm>
          <a:prstGeom prst="rect">
            <a:avLst/>
          </a:prstGeom>
          <a:noFill/>
          <a:ln/>
        </p:spPr>
        <p:txBody>
          <a:bodyPr wrap="square" lIns="0" tIns="0" rIns="0" bIns="0" rtlCol="0" anchor="ctr"/>
          <a:lstStyle/>
          <a:p>
            <a:pPr marL="0" indent="0" algn="ctr">
              <a:buNone/>
            </a:pPr>
            <a:r>
              <a:rPr lang="en-US" sz="1000" b="1" dirty="0">
                <a:solidFill>
                  <a:srgbClr val="6B7482"/>
                </a:solidFill>
                <a:latin typeface="Calibri" pitchFamily="34" charset="0"/>
                <a:ea typeface="Calibri" pitchFamily="34" charset="-122"/>
                <a:cs typeface="Calibri" pitchFamily="34" charset="-120"/>
              </a:rPr>
              <a:t>Struct.</a:t>
            </a:r>
            <a:endParaRPr lang="en-US" sz="1000" dirty="0"/>
          </a:p>
        </p:txBody>
      </p:sp>
      <p:sp>
        <p:nvSpPr>
          <p:cNvPr id="509" name="Text 8"/>
          <p:cNvSpPr txBox="1"/>
          <p:nvPr/>
        </p:nvSpPr>
        <p:spPr>
          <a:xfrm>
            <a:off x="4709160" y="1655064"/>
            <a:ext cx="640080" cy="292608"/>
          </a:xfrm>
          <a:prstGeom prst="rect">
            <a:avLst/>
          </a:prstGeom>
          <a:noFill/>
          <a:ln/>
        </p:spPr>
        <p:txBody>
          <a:bodyPr wrap="square" lIns="0" tIns="0" rIns="0" bIns="0" rtlCol="0" anchor="ctr"/>
          <a:lstStyle/>
          <a:p>
            <a:pPr marL="0" indent="0" algn="ctr">
              <a:buNone/>
            </a:pPr>
            <a:r>
              <a:rPr lang="en-US" sz="1000" b="1" dirty="0">
                <a:solidFill>
                  <a:srgbClr val="6B7482"/>
                </a:solidFill>
                <a:latin typeface="Calibri" pitchFamily="34" charset="0"/>
                <a:ea typeface="Calibri" pitchFamily="34" charset="-122"/>
                <a:cs typeface="Calibri" pitchFamily="34" charset="-120"/>
              </a:rPr>
              <a:t>Cost</a:t>
            </a:r>
            <a:endParaRPr lang="en-US" sz="1000" dirty="0"/>
          </a:p>
        </p:txBody>
      </p:sp>
      <p:sp>
        <p:nvSpPr>
          <p:cNvPr id="510" name="Text 9"/>
          <p:cNvSpPr txBox="1"/>
          <p:nvPr/>
        </p:nvSpPr>
        <p:spPr>
          <a:xfrm>
            <a:off x="5349240" y="1655064"/>
            <a:ext cx="640080" cy="292608"/>
          </a:xfrm>
          <a:prstGeom prst="rect">
            <a:avLst/>
          </a:prstGeom>
          <a:noFill/>
          <a:ln/>
        </p:spPr>
        <p:txBody>
          <a:bodyPr wrap="square" lIns="0" tIns="0" rIns="0" bIns="0" rtlCol="0" anchor="ctr"/>
          <a:lstStyle/>
          <a:p>
            <a:pPr marL="0" indent="0" algn="ctr">
              <a:buNone/>
            </a:pPr>
            <a:r>
              <a:rPr lang="en-US" sz="1000" b="1" dirty="0">
                <a:solidFill>
                  <a:srgbClr val="6B7482"/>
                </a:solidFill>
                <a:latin typeface="Calibri" pitchFamily="34" charset="0"/>
                <a:ea typeface="Calibri" pitchFamily="34" charset="-122"/>
                <a:cs typeface="Calibri" pitchFamily="34" charset="-120"/>
              </a:rPr>
              <a:t>AI</a:t>
            </a:r>
            <a:endParaRPr lang="en-US" sz="1000" dirty="0"/>
          </a:p>
        </p:txBody>
      </p:sp>
      <p:sp>
        <p:nvSpPr>
          <p:cNvPr id="511" name="Shape 10"/>
          <p:cNvSpPr/>
          <p:nvPr/>
        </p:nvSpPr>
        <p:spPr>
          <a:xfrm>
            <a:off x="640080" y="1984248"/>
            <a:ext cx="5486400" cy="228600"/>
          </a:xfrm>
          <a:prstGeom prst="rect">
            <a:avLst/>
          </a:prstGeom>
          <a:solidFill>
            <a:srgbClr val="EEF0F3"/>
          </a:solidFill>
          <a:ln/>
        </p:spPr>
      </p:sp>
      <p:sp>
        <p:nvSpPr>
          <p:cNvPr id="512" name="Text 11"/>
          <p:cNvSpPr txBox="1"/>
          <p:nvPr/>
        </p:nvSpPr>
        <p:spPr>
          <a:xfrm>
            <a:off x="749808" y="1984248"/>
            <a:ext cx="1371600" cy="228600"/>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Autodesk Forma</a:t>
            </a:r>
            <a:endParaRPr lang="en-US" sz="1050" dirty="0"/>
          </a:p>
        </p:txBody>
      </p:sp>
      <p:sp>
        <p:nvSpPr>
          <p:cNvPr id="513" name="Shape 12"/>
          <p:cNvSpPr/>
          <p:nvPr/>
        </p:nvSpPr>
        <p:spPr>
          <a:xfrm>
            <a:off x="2391156" y="2020824"/>
            <a:ext cx="155448" cy="155448"/>
          </a:xfrm>
          <a:prstGeom prst="ellipse">
            <a:avLst/>
          </a:prstGeom>
          <a:solidFill>
            <a:srgbClr val="2F6FDB"/>
          </a:solidFill>
          <a:ln/>
        </p:spPr>
      </p:sp>
      <p:sp>
        <p:nvSpPr>
          <p:cNvPr id="514" name="Shape 13"/>
          <p:cNvSpPr/>
          <p:nvPr/>
        </p:nvSpPr>
        <p:spPr>
          <a:xfrm>
            <a:off x="3031236" y="2020824"/>
            <a:ext cx="155448" cy="155448"/>
          </a:xfrm>
          <a:prstGeom prst="ellipse">
            <a:avLst/>
          </a:prstGeom>
          <a:solidFill>
            <a:srgbClr val="2F6FDB"/>
          </a:solidFill>
          <a:ln/>
        </p:spPr>
      </p:sp>
      <p:sp>
        <p:nvSpPr>
          <p:cNvPr id="515" name="Shape 14"/>
          <p:cNvSpPr/>
          <p:nvPr/>
        </p:nvSpPr>
        <p:spPr>
          <a:xfrm>
            <a:off x="3671316" y="2020824"/>
            <a:ext cx="155448" cy="155448"/>
          </a:xfrm>
          <a:prstGeom prst="ellipse">
            <a:avLst/>
          </a:prstGeom>
          <a:solidFill>
            <a:srgbClr val="FFFFFF"/>
          </a:solidFill>
          <a:ln w="15875">
            <a:solidFill>
              <a:srgbClr val="2F6FDB"/>
            </a:solidFill>
            <a:prstDash val="solid"/>
          </a:ln>
        </p:spPr>
      </p:sp>
      <p:sp>
        <p:nvSpPr>
          <p:cNvPr id="516" name="Shape 15"/>
          <p:cNvSpPr/>
          <p:nvPr/>
        </p:nvSpPr>
        <p:spPr>
          <a:xfrm>
            <a:off x="4311396" y="2020824"/>
            <a:ext cx="155448" cy="155448"/>
          </a:xfrm>
          <a:prstGeom prst="ellipse">
            <a:avLst/>
          </a:prstGeom>
          <a:solidFill>
            <a:srgbClr val="FFFFFF"/>
          </a:solidFill>
          <a:ln w="15875">
            <a:solidFill>
              <a:srgbClr val="2F6FDB"/>
            </a:solidFill>
            <a:prstDash val="solid"/>
          </a:ln>
        </p:spPr>
      </p:sp>
      <p:sp>
        <p:nvSpPr>
          <p:cNvPr id="517" name="Shape 16"/>
          <p:cNvSpPr/>
          <p:nvPr/>
        </p:nvSpPr>
        <p:spPr>
          <a:xfrm>
            <a:off x="4951476" y="2020824"/>
            <a:ext cx="155448" cy="155448"/>
          </a:xfrm>
          <a:prstGeom prst="ellipse">
            <a:avLst/>
          </a:prstGeom>
          <a:solidFill>
            <a:srgbClr val="2F6FDB"/>
          </a:solidFill>
          <a:ln/>
        </p:spPr>
      </p:sp>
      <p:sp>
        <p:nvSpPr>
          <p:cNvPr id="518" name="Shape 17"/>
          <p:cNvSpPr/>
          <p:nvPr/>
        </p:nvSpPr>
        <p:spPr>
          <a:xfrm>
            <a:off x="5591556" y="2020824"/>
            <a:ext cx="155448" cy="155448"/>
          </a:xfrm>
          <a:prstGeom prst="ellipse">
            <a:avLst/>
          </a:prstGeom>
          <a:solidFill>
            <a:srgbClr val="2F6FDB"/>
          </a:solidFill>
          <a:ln/>
        </p:spPr>
      </p:sp>
      <p:sp>
        <p:nvSpPr>
          <p:cNvPr id="519" name="Text 18"/>
          <p:cNvSpPr txBox="1"/>
          <p:nvPr/>
        </p:nvSpPr>
        <p:spPr>
          <a:xfrm>
            <a:off x="749808" y="2212848"/>
            <a:ext cx="1371600" cy="228600"/>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Revit / AEC suite</a:t>
            </a:r>
            <a:endParaRPr lang="en-US" sz="1050" dirty="0"/>
          </a:p>
        </p:txBody>
      </p:sp>
      <p:sp>
        <p:nvSpPr>
          <p:cNvPr id="520" name="Shape 19"/>
          <p:cNvSpPr/>
          <p:nvPr/>
        </p:nvSpPr>
        <p:spPr>
          <a:xfrm>
            <a:off x="2391156" y="2249424"/>
            <a:ext cx="155448" cy="155448"/>
          </a:xfrm>
          <a:prstGeom prst="ellipse">
            <a:avLst/>
          </a:prstGeom>
          <a:solidFill>
            <a:srgbClr val="2F6FDB"/>
          </a:solidFill>
          <a:ln/>
        </p:spPr>
      </p:sp>
      <p:sp>
        <p:nvSpPr>
          <p:cNvPr id="521" name="Shape 20"/>
          <p:cNvSpPr/>
          <p:nvPr/>
        </p:nvSpPr>
        <p:spPr>
          <a:xfrm>
            <a:off x="3031236" y="2249424"/>
            <a:ext cx="155448" cy="155448"/>
          </a:xfrm>
          <a:prstGeom prst="ellipse">
            <a:avLst/>
          </a:prstGeom>
          <a:solidFill>
            <a:srgbClr val="FFFFFF"/>
          </a:solidFill>
          <a:ln w="15875">
            <a:solidFill>
              <a:srgbClr val="2F6FDB"/>
            </a:solidFill>
            <a:prstDash val="solid"/>
          </a:ln>
        </p:spPr>
      </p:sp>
      <p:sp>
        <p:nvSpPr>
          <p:cNvPr id="522" name="Shape 21"/>
          <p:cNvSpPr/>
          <p:nvPr/>
        </p:nvSpPr>
        <p:spPr>
          <a:xfrm>
            <a:off x="3671316" y="2249424"/>
            <a:ext cx="155448" cy="155448"/>
          </a:xfrm>
          <a:prstGeom prst="ellipse">
            <a:avLst/>
          </a:prstGeom>
          <a:solidFill>
            <a:srgbClr val="FFFFFF"/>
          </a:solidFill>
          <a:ln w="15875">
            <a:solidFill>
              <a:srgbClr val="2F6FDB"/>
            </a:solidFill>
            <a:prstDash val="solid"/>
          </a:ln>
        </p:spPr>
      </p:sp>
      <p:sp>
        <p:nvSpPr>
          <p:cNvPr id="523" name="Shape 22"/>
          <p:cNvSpPr/>
          <p:nvPr/>
        </p:nvSpPr>
        <p:spPr>
          <a:xfrm>
            <a:off x="4311396" y="2249424"/>
            <a:ext cx="155448" cy="155448"/>
          </a:xfrm>
          <a:prstGeom prst="ellipse">
            <a:avLst/>
          </a:prstGeom>
          <a:solidFill>
            <a:srgbClr val="2F6FDB"/>
          </a:solidFill>
          <a:ln/>
        </p:spPr>
      </p:sp>
      <p:sp>
        <p:nvSpPr>
          <p:cNvPr id="524" name="Shape 23"/>
          <p:cNvSpPr/>
          <p:nvPr/>
        </p:nvSpPr>
        <p:spPr>
          <a:xfrm>
            <a:off x="4951476" y="2249424"/>
            <a:ext cx="155448" cy="155448"/>
          </a:xfrm>
          <a:prstGeom prst="ellipse">
            <a:avLst/>
          </a:prstGeom>
          <a:solidFill>
            <a:srgbClr val="2F6FDB"/>
          </a:solidFill>
          <a:ln/>
        </p:spPr>
      </p:sp>
      <p:sp>
        <p:nvSpPr>
          <p:cNvPr id="525" name="Shape 24"/>
          <p:cNvSpPr/>
          <p:nvPr/>
        </p:nvSpPr>
        <p:spPr>
          <a:xfrm>
            <a:off x="5591556" y="2249424"/>
            <a:ext cx="155448" cy="155448"/>
          </a:xfrm>
          <a:prstGeom prst="ellipse">
            <a:avLst/>
          </a:prstGeom>
          <a:solidFill>
            <a:srgbClr val="2F6FDB"/>
          </a:solidFill>
          <a:ln/>
        </p:spPr>
      </p:sp>
      <p:sp>
        <p:nvSpPr>
          <p:cNvPr id="526" name="Shape 25"/>
          <p:cNvSpPr/>
          <p:nvPr/>
        </p:nvSpPr>
        <p:spPr>
          <a:xfrm>
            <a:off x="640080" y="2441448"/>
            <a:ext cx="5486400" cy="228600"/>
          </a:xfrm>
          <a:prstGeom prst="rect">
            <a:avLst/>
          </a:prstGeom>
          <a:solidFill>
            <a:srgbClr val="EEF0F3"/>
          </a:solidFill>
          <a:ln/>
        </p:spPr>
      </p:sp>
      <p:sp>
        <p:nvSpPr>
          <p:cNvPr id="527" name="Text 26"/>
          <p:cNvSpPr txBox="1"/>
          <p:nvPr/>
        </p:nvSpPr>
        <p:spPr>
          <a:xfrm>
            <a:off x="749808" y="2441448"/>
            <a:ext cx="1371600" cy="228600"/>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Bentley iTwin</a:t>
            </a:r>
            <a:endParaRPr lang="en-US" sz="1050" dirty="0"/>
          </a:p>
        </p:txBody>
      </p:sp>
      <p:sp>
        <p:nvSpPr>
          <p:cNvPr id="528" name="Shape 27"/>
          <p:cNvSpPr/>
          <p:nvPr/>
        </p:nvSpPr>
        <p:spPr>
          <a:xfrm>
            <a:off x="2391156" y="2478024"/>
            <a:ext cx="155448" cy="155448"/>
          </a:xfrm>
          <a:prstGeom prst="ellipse">
            <a:avLst/>
          </a:prstGeom>
          <a:solidFill>
            <a:srgbClr val="FFFFFF"/>
          </a:solidFill>
          <a:ln w="15875">
            <a:solidFill>
              <a:srgbClr val="2F6FDB"/>
            </a:solidFill>
            <a:prstDash val="solid"/>
          </a:ln>
        </p:spPr>
      </p:sp>
      <p:sp>
        <p:nvSpPr>
          <p:cNvPr id="529" name="Shape 28"/>
          <p:cNvSpPr/>
          <p:nvPr/>
        </p:nvSpPr>
        <p:spPr>
          <a:xfrm>
            <a:off x="3031236" y="2478024"/>
            <a:ext cx="155448" cy="155448"/>
          </a:xfrm>
          <a:prstGeom prst="ellipse">
            <a:avLst/>
          </a:prstGeom>
          <a:solidFill>
            <a:srgbClr val="2F6FDB"/>
          </a:solidFill>
          <a:ln/>
        </p:spPr>
      </p:sp>
      <p:sp>
        <p:nvSpPr>
          <p:cNvPr id="530" name="Shape 29"/>
          <p:cNvSpPr/>
          <p:nvPr/>
        </p:nvSpPr>
        <p:spPr>
          <a:xfrm>
            <a:off x="3671316" y="2478024"/>
            <a:ext cx="155448" cy="155448"/>
          </a:xfrm>
          <a:prstGeom prst="ellipse">
            <a:avLst/>
          </a:prstGeom>
          <a:solidFill>
            <a:srgbClr val="FFFFFF"/>
          </a:solidFill>
          <a:ln w="15875">
            <a:solidFill>
              <a:srgbClr val="2F6FDB"/>
            </a:solidFill>
            <a:prstDash val="solid"/>
          </a:ln>
        </p:spPr>
      </p:sp>
      <p:sp>
        <p:nvSpPr>
          <p:cNvPr id="531" name="Shape 30"/>
          <p:cNvSpPr/>
          <p:nvPr/>
        </p:nvSpPr>
        <p:spPr>
          <a:xfrm>
            <a:off x="4311396" y="2478024"/>
            <a:ext cx="155448" cy="155448"/>
          </a:xfrm>
          <a:prstGeom prst="ellipse">
            <a:avLst/>
          </a:prstGeom>
          <a:solidFill>
            <a:srgbClr val="2F6FDB"/>
          </a:solidFill>
          <a:ln/>
        </p:spPr>
      </p:sp>
      <p:sp>
        <p:nvSpPr>
          <p:cNvPr id="532" name="Shape 31"/>
          <p:cNvSpPr/>
          <p:nvPr/>
        </p:nvSpPr>
        <p:spPr>
          <a:xfrm>
            <a:off x="4951476" y="2478024"/>
            <a:ext cx="155448" cy="155448"/>
          </a:xfrm>
          <a:prstGeom prst="ellipse">
            <a:avLst/>
          </a:prstGeom>
          <a:solidFill>
            <a:srgbClr val="2F6FDB"/>
          </a:solidFill>
          <a:ln/>
        </p:spPr>
      </p:sp>
      <p:sp>
        <p:nvSpPr>
          <p:cNvPr id="533" name="Shape 32"/>
          <p:cNvSpPr/>
          <p:nvPr/>
        </p:nvSpPr>
        <p:spPr>
          <a:xfrm>
            <a:off x="5591556" y="2478024"/>
            <a:ext cx="155448" cy="155448"/>
          </a:xfrm>
          <a:prstGeom prst="ellipse">
            <a:avLst/>
          </a:prstGeom>
          <a:solidFill>
            <a:srgbClr val="FFFFFF"/>
          </a:solidFill>
          <a:ln w="15875">
            <a:solidFill>
              <a:srgbClr val="2F6FDB"/>
            </a:solidFill>
            <a:prstDash val="solid"/>
          </a:ln>
        </p:spPr>
      </p:sp>
      <p:sp>
        <p:nvSpPr>
          <p:cNvPr id="534" name="Text 33"/>
          <p:cNvSpPr txBox="1"/>
          <p:nvPr/>
        </p:nvSpPr>
        <p:spPr>
          <a:xfrm>
            <a:off x="749808" y="2670048"/>
            <a:ext cx="1371600" cy="228600"/>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Solibri</a:t>
            </a:r>
            <a:endParaRPr lang="en-US" sz="1050" dirty="0"/>
          </a:p>
        </p:txBody>
      </p:sp>
      <p:sp>
        <p:nvSpPr>
          <p:cNvPr id="535" name="Shape 34"/>
          <p:cNvSpPr/>
          <p:nvPr/>
        </p:nvSpPr>
        <p:spPr>
          <a:xfrm>
            <a:off x="2391156" y="2706624"/>
            <a:ext cx="155448" cy="155448"/>
          </a:xfrm>
          <a:prstGeom prst="ellipse">
            <a:avLst/>
          </a:prstGeom>
          <a:solidFill>
            <a:srgbClr val="2F6FDB"/>
          </a:solidFill>
          <a:ln/>
        </p:spPr>
      </p:sp>
      <p:sp>
        <p:nvSpPr>
          <p:cNvPr id="536" name="Shape 35"/>
          <p:cNvSpPr/>
          <p:nvPr/>
        </p:nvSpPr>
        <p:spPr>
          <a:xfrm>
            <a:off x="3044952" y="2784348"/>
            <a:ext cx="128016" cy="0"/>
          </a:xfrm>
          <a:prstGeom prst="line">
            <a:avLst/>
          </a:prstGeom>
          <a:noFill/>
          <a:ln w="19050">
            <a:solidFill>
              <a:srgbClr val="9DB8E8"/>
            </a:solidFill>
            <a:prstDash val="solid"/>
          </a:ln>
        </p:spPr>
      </p:sp>
      <p:sp>
        <p:nvSpPr>
          <p:cNvPr id="537" name="Shape 36"/>
          <p:cNvSpPr/>
          <p:nvPr/>
        </p:nvSpPr>
        <p:spPr>
          <a:xfrm>
            <a:off x="3671316" y="2706624"/>
            <a:ext cx="155448" cy="155448"/>
          </a:xfrm>
          <a:prstGeom prst="ellipse">
            <a:avLst/>
          </a:prstGeom>
          <a:solidFill>
            <a:srgbClr val="2F6FDB"/>
          </a:solidFill>
          <a:ln/>
        </p:spPr>
      </p:sp>
      <p:sp>
        <p:nvSpPr>
          <p:cNvPr id="538" name="Shape 37"/>
          <p:cNvSpPr/>
          <p:nvPr/>
        </p:nvSpPr>
        <p:spPr>
          <a:xfrm>
            <a:off x="4311396" y="2706624"/>
            <a:ext cx="155448" cy="155448"/>
          </a:xfrm>
          <a:prstGeom prst="ellipse">
            <a:avLst/>
          </a:prstGeom>
          <a:solidFill>
            <a:srgbClr val="FFFFFF"/>
          </a:solidFill>
          <a:ln w="15875">
            <a:solidFill>
              <a:srgbClr val="2F6FDB"/>
            </a:solidFill>
            <a:prstDash val="solid"/>
          </a:ln>
        </p:spPr>
      </p:sp>
      <p:sp>
        <p:nvSpPr>
          <p:cNvPr id="539" name="Shape 38"/>
          <p:cNvSpPr/>
          <p:nvPr/>
        </p:nvSpPr>
        <p:spPr>
          <a:xfrm>
            <a:off x="4951476" y="2706624"/>
            <a:ext cx="155448" cy="155448"/>
          </a:xfrm>
          <a:prstGeom prst="ellipse">
            <a:avLst/>
          </a:prstGeom>
          <a:solidFill>
            <a:srgbClr val="FFFFFF"/>
          </a:solidFill>
          <a:ln w="15875">
            <a:solidFill>
              <a:srgbClr val="2F6FDB"/>
            </a:solidFill>
            <a:prstDash val="solid"/>
          </a:ln>
        </p:spPr>
      </p:sp>
      <p:sp>
        <p:nvSpPr>
          <p:cNvPr id="540" name="Shape 39"/>
          <p:cNvSpPr/>
          <p:nvPr/>
        </p:nvSpPr>
        <p:spPr>
          <a:xfrm>
            <a:off x="5591556" y="2706624"/>
            <a:ext cx="155448" cy="155448"/>
          </a:xfrm>
          <a:prstGeom prst="ellipse">
            <a:avLst/>
          </a:prstGeom>
          <a:solidFill>
            <a:srgbClr val="FFFFFF"/>
          </a:solidFill>
          <a:ln w="15875">
            <a:solidFill>
              <a:srgbClr val="2F6FDB"/>
            </a:solidFill>
            <a:prstDash val="solid"/>
          </a:ln>
        </p:spPr>
      </p:sp>
      <p:sp>
        <p:nvSpPr>
          <p:cNvPr id="541" name="Shape 40"/>
          <p:cNvSpPr/>
          <p:nvPr/>
        </p:nvSpPr>
        <p:spPr>
          <a:xfrm>
            <a:off x="640080" y="2898648"/>
            <a:ext cx="5486400" cy="228600"/>
          </a:xfrm>
          <a:prstGeom prst="rect">
            <a:avLst/>
          </a:prstGeom>
          <a:solidFill>
            <a:srgbClr val="EEF0F3"/>
          </a:solidFill>
          <a:ln/>
        </p:spPr>
      </p:sp>
      <p:sp>
        <p:nvSpPr>
          <p:cNvPr id="542" name="Text 41"/>
          <p:cNvSpPr txBox="1"/>
          <p:nvPr/>
        </p:nvSpPr>
        <p:spPr>
          <a:xfrm>
            <a:off x="749808" y="2898648"/>
            <a:ext cx="1371600" cy="228600"/>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cove.tool</a:t>
            </a:r>
            <a:endParaRPr lang="en-US" sz="1050" dirty="0"/>
          </a:p>
        </p:txBody>
      </p:sp>
      <p:sp>
        <p:nvSpPr>
          <p:cNvPr id="543" name="Shape 42"/>
          <p:cNvSpPr/>
          <p:nvPr/>
        </p:nvSpPr>
        <p:spPr>
          <a:xfrm>
            <a:off x="2391156" y="2935224"/>
            <a:ext cx="155448" cy="155448"/>
          </a:xfrm>
          <a:prstGeom prst="ellipse">
            <a:avLst/>
          </a:prstGeom>
          <a:solidFill>
            <a:srgbClr val="2F6FDB"/>
          </a:solidFill>
          <a:ln/>
        </p:spPr>
      </p:sp>
      <p:sp>
        <p:nvSpPr>
          <p:cNvPr id="544" name="Shape 43"/>
          <p:cNvSpPr/>
          <p:nvPr/>
        </p:nvSpPr>
        <p:spPr>
          <a:xfrm>
            <a:off x="3031236" y="2935224"/>
            <a:ext cx="155448" cy="155448"/>
          </a:xfrm>
          <a:prstGeom prst="ellipse">
            <a:avLst/>
          </a:prstGeom>
          <a:solidFill>
            <a:srgbClr val="FFFFFF"/>
          </a:solidFill>
          <a:ln w="15875">
            <a:solidFill>
              <a:srgbClr val="2F6FDB"/>
            </a:solidFill>
            <a:prstDash val="solid"/>
          </a:ln>
        </p:spPr>
      </p:sp>
      <p:sp>
        <p:nvSpPr>
          <p:cNvPr id="545" name="Shape 44"/>
          <p:cNvSpPr/>
          <p:nvPr/>
        </p:nvSpPr>
        <p:spPr>
          <a:xfrm>
            <a:off x="3671316" y="2935224"/>
            <a:ext cx="155448" cy="155448"/>
          </a:xfrm>
          <a:prstGeom prst="ellipse">
            <a:avLst/>
          </a:prstGeom>
          <a:solidFill>
            <a:srgbClr val="FFFFFF"/>
          </a:solidFill>
          <a:ln w="15875">
            <a:solidFill>
              <a:srgbClr val="2F6FDB"/>
            </a:solidFill>
            <a:prstDash val="solid"/>
          </a:ln>
        </p:spPr>
      </p:sp>
      <p:sp>
        <p:nvSpPr>
          <p:cNvPr id="546" name="Shape 45"/>
          <p:cNvSpPr/>
          <p:nvPr/>
        </p:nvSpPr>
        <p:spPr>
          <a:xfrm>
            <a:off x="4325112" y="3012948"/>
            <a:ext cx="128016" cy="0"/>
          </a:xfrm>
          <a:prstGeom prst="line">
            <a:avLst/>
          </a:prstGeom>
          <a:noFill/>
          <a:ln w="19050">
            <a:solidFill>
              <a:srgbClr val="9DB8E8"/>
            </a:solidFill>
            <a:prstDash val="solid"/>
          </a:ln>
        </p:spPr>
      </p:sp>
      <p:sp>
        <p:nvSpPr>
          <p:cNvPr id="547" name="Shape 46"/>
          <p:cNvSpPr/>
          <p:nvPr/>
        </p:nvSpPr>
        <p:spPr>
          <a:xfrm>
            <a:off x="4951476" y="2935224"/>
            <a:ext cx="155448" cy="155448"/>
          </a:xfrm>
          <a:prstGeom prst="ellipse">
            <a:avLst/>
          </a:prstGeom>
          <a:solidFill>
            <a:srgbClr val="2F6FDB"/>
          </a:solidFill>
          <a:ln/>
        </p:spPr>
      </p:sp>
      <p:sp>
        <p:nvSpPr>
          <p:cNvPr id="548" name="Shape 47"/>
          <p:cNvSpPr/>
          <p:nvPr/>
        </p:nvSpPr>
        <p:spPr>
          <a:xfrm>
            <a:off x="5591556" y="2935224"/>
            <a:ext cx="155448" cy="155448"/>
          </a:xfrm>
          <a:prstGeom prst="ellipse">
            <a:avLst/>
          </a:prstGeom>
          <a:solidFill>
            <a:srgbClr val="FFFFFF"/>
          </a:solidFill>
          <a:ln w="15875">
            <a:solidFill>
              <a:srgbClr val="2F6FDB"/>
            </a:solidFill>
            <a:prstDash val="solid"/>
          </a:ln>
        </p:spPr>
      </p:sp>
      <p:sp>
        <p:nvSpPr>
          <p:cNvPr id="549" name="Text 48"/>
          <p:cNvSpPr txBox="1"/>
          <p:nvPr/>
        </p:nvSpPr>
        <p:spPr>
          <a:xfrm>
            <a:off x="749808" y="3127248"/>
            <a:ext cx="1371600" cy="228600"/>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Procore</a:t>
            </a:r>
            <a:endParaRPr lang="en-US" sz="1050" dirty="0"/>
          </a:p>
        </p:txBody>
      </p:sp>
      <p:sp>
        <p:nvSpPr>
          <p:cNvPr id="550" name="Shape 49"/>
          <p:cNvSpPr/>
          <p:nvPr/>
        </p:nvSpPr>
        <p:spPr>
          <a:xfrm>
            <a:off x="2391156" y="3163824"/>
            <a:ext cx="155448" cy="155448"/>
          </a:xfrm>
          <a:prstGeom prst="ellipse">
            <a:avLst/>
          </a:prstGeom>
          <a:solidFill>
            <a:srgbClr val="FFFFFF"/>
          </a:solidFill>
          <a:ln w="15875">
            <a:solidFill>
              <a:srgbClr val="2F6FDB"/>
            </a:solidFill>
            <a:prstDash val="solid"/>
          </a:ln>
        </p:spPr>
      </p:sp>
      <p:sp>
        <p:nvSpPr>
          <p:cNvPr id="551" name="Shape 50"/>
          <p:cNvSpPr/>
          <p:nvPr/>
        </p:nvSpPr>
        <p:spPr>
          <a:xfrm>
            <a:off x="3044952" y="3241548"/>
            <a:ext cx="128016" cy="0"/>
          </a:xfrm>
          <a:prstGeom prst="line">
            <a:avLst/>
          </a:prstGeom>
          <a:noFill/>
          <a:ln w="19050">
            <a:solidFill>
              <a:srgbClr val="9DB8E8"/>
            </a:solidFill>
            <a:prstDash val="solid"/>
          </a:ln>
        </p:spPr>
      </p:sp>
      <p:sp>
        <p:nvSpPr>
          <p:cNvPr id="552" name="Shape 51"/>
          <p:cNvSpPr/>
          <p:nvPr/>
        </p:nvSpPr>
        <p:spPr>
          <a:xfrm>
            <a:off x="3671316" y="3163824"/>
            <a:ext cx="155448" cy="155448"/>
          </a:xfrm>
          <a:prstGeom prst="ellipse">
            <a:avLst/>
          </a:prstGeom>
          <a:solidFill>
            <a:srgbClr val="FFFFFF"/>
          </a:solidFill>
          <a:ln w="15875">
            <a:solidFill>
              <a:srgbClr val="2F6FDB"/>
            </a:solidFill>
            <a:prstDash val="solid"/>
          </a:ln>
        </p:spPr>
      </p:sp>
      <p:sp>
        <p:nvSpPr>
          <p:cNvPr id="553" name="Shape 52"/>
          <p:cNvSpPr/>
          <p:nvPr/>
        </p:nvSpPr>
        <p:spPr>
          <a:xfrm>
            <a:off x="4325112" y="3241548"/>
            <a:ext cx="128016" cy="0"/>
          </a:xfrm>
          <a:prstGeom prst="line">
            <a:avLst/>
          </a:prstGeom>
          <a:noFill/>
          <a:ln w="19050">
            <a:solidFill>
              <a:srgbClr val="9DB8E8"/>
            </a:solidFill>
            <a:prstDash val="solid"/>
          </a:ln>
        </p:spPr>
      </p:sp>
      <p:sp>
        <p:nvSpPr>
          <p:cNvPr id="554" name="Shape 53"/>
          <p:cNvSpPr/>
          <p:nvPr/>
        </p:nvSpPr>
        <p:spPr>
          <a:xfrm>
            <a:off x="4951476" y="3163824"/>
            <a:ext cx="155448" cy="155448"/>
          </a:xfrm>
          <a:prstGeom prst="ellipse">
            <a:avLst/>
          </a:prstGeom>
          <a:solidFill>
            <a:srgbClr val="2F6FDB"/>
          </a:solidFill>
          <a:ln/>
        </p:spPr>
      </p:sp>
      <p:sp>
        <p:nvSpPr>
          <p:cNvPr id="555" name="Shape 54"/>
          <p:cNvSpPr/>
          <p:nvPr/>
        </p:nvSpPr>
        <p:spPr>
          <a:xfrm>
            <a:off x="5591556" y="3163824"/>
            <a:ext cx="155448" cy="155448"/>
          </a:xfrm>
          <a:prstGeom prst="ellipse">
            <a:avLst/>
          </a:prstGeom>
          <a:solidFill>
            <a:srgbClr val="2F6FDB"/>
          </a:solidFill>
          <a:ln/>
        </p:spPr>
      </p:sp>
      <p:sp>
        <p:nvSpPr>
          <p:cNvPr id="556" name="Text 55"/>
          <p:cNvSpPr txBox="1"/>
          <p:nvPr/>
        </p:nvSpPr>
        <p:spPr>
          <a:xfrm>
            <a:off x="749808" y="3383280"/>
            <a:ext cx="1371600" cy="256032"/>
          </a:xfrm>
          <a:prstGeom prst="rect">
            <a:avLst/>
          </a:prstGeom>
          <a:noFill/>
          <a:ln/>
        </p:spPr>
        <p:txBody>
          <a:bodyPr wrap="square" lIns="0" tIns="0" rIns="0" bIns="0" rtlCol="0" anchor="ctr"/>
          <a:lstStyle/>
          <a:p>
            <a:pPr marL="0" indent="0">
              <a:buNone/>
            </a:pPr>
            <a:r>
              <a:rPr lang="en-US" sz="1050" b="1" dirty="0">
                <a:solidFill>
                  <a:srgbClr val="1F4E96"/>
                </a:solidFill>
                <a:latin typeface="Calibri" pitchFamily="34" charset="0"/>
                <a:ea typeface="Calibri" pitchFamily="34" charset="-122"/>
                <a:cs typeface="Calibri" pitchFamily="34" charset="-120"/>
              </a:rPr>
              <a:t>AERES (target)</a:t>
            </a:r>
            <a:endParaRPr lang="en-US" sz="1050" dirty="0"/>
          </a:p>
        </p:txBody>
      </p:sp>
      <p:sp>
        <p:nvSpPr>
          <p:cNvPr id="557" name="Shape 56"/>
          <p:cNvSpPr/>
          <p:nvPr/>
        </p:nvSpPr>
        <p:spPr>
          <a:xfrm>
            <a:off x="2148840" y="3383280"/>
            <a:ext cx="3840480" cy="256032"/>
          </a:xfrm>
          <a:prstGeom prst="roundRect">
            <a:avLst>
              <a:gd name="adj" fmla="val 17857"/>
            </a:avLst>
          </a:prstGeom>
          <a:solidFill>
            <a:srgbClr val="1F4E96"/>
          </a:solidFill>
          <a:ln/>
        </p:spPr>
      </p:sp>
      <p:sp>
        <p:nvSpPr>
          <p:cNvPr id="558" name="Text 57"/>
          <p:cNvSpPr txBox="1"/>
          <p:nvPr/>
        </p:nvSpPr>
        <p:spPr>
          <a:xfrm>
            <a:off x="2148840" y="3383280"/>
            <a:ext cx="384048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Reasoning layer across all six · unvalidated</a:t>
            </a:r>
            <a:endParaRPr lang="en-US" sz="1050" dirty="0"/>
          </a:p>
        </p:txBody>
      </p:sp>
      <p:sp>
        <p:nvSpPr>
          <p:cNvPr id="559" name="Shape 58"/>
          <p:cNvSpPr/>
          <p:nvPr/>
        </p:nvSpPr>
        <p:spPr>
          <a:xfrm>
            <a:off x="6336792" y="1325880"/>
            <a:ext cx="5303520" cy="2395728"/>
          </a:xfrm>
          <a:prstGeom prst="roundRect">
            <a:avLst>
              <a:gd name="adj" fmla="val 2290"/>
            </a:avLst>
          </a:prstGeom>
          <a:solidFill>
            <a:srgbClr val="FFFFFF"/>
          </a:solidFill>
          <a:ln w="12700">
            <a:solidFill>
              <a:srgbClr val="D3D8E0"/>
            </a:solidFill>
            <a:prstDash val="solid"/>
          </a:ln>
        </p:spPr>
      </p:sp>
      <p:sp>
        <p:nvSpPr>
          <p:cNvPr id="560" name="Text 59"/>
          <p:cNvSpPr txBox="1"/>
          <p:nvPr/>
        </p:nvSpPr>
        <p:spPr>
          <a:xfrm>
            <a:off x="6464808" y="1417320"/>
            <a:ext cx="5047488"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Execution platforms: high threat, one clear gap</a:t>
            </a:r>
            <a:endParaRPr lang="en-US" sz="1200" dirty="0"/>
          </a:p>
        </p:txBody>
      </p:sp>
      <p:sp>
        <p:nvSpPr>
          <p:cNvPr id="561" name="Text 60"/>
          <p:cNvSpPr txBox="1"/>
          <p:nvPr/>
        </p:nvSpPr>
        <p:spPr>
          <a:xfrm>
            <a:off x="6464808" y="1673352"/>
            <a:ext cx="1280160" cy="182880"/>
          </a:xfrm>
          <a:prstGeom prst="rect">
            <a:avLst/>
          </a:prstGeom>
          <a:noFill/>
          <a:ln/>
        </p:spPr>
        <p:txBody>
          <a:bodyPr wrap="square" lIns="0" tIns="0" rIns="0" bIns="0" rtlCol="0" anchor="t"/>
          <a:lstStyle/>
          <a:p>
            <a:pPr marL="0" indent="0">
              <a:buNone/>
            </a:pPr>
            <a:r>
              <a:rPr lang="en-US" sz="1000" b="1" kern="0" spc="100" dirty="0">
                <a:solidFill>
                  <a:srgbClr val="6B7482"/>
                </a:solidFill>
                <a:latin typeface="Calibri" pitchFamily="34" charset="0"/>
                <a:ea typeface="Calibri" pitchFamily="34" charset="-122"/>
                <a:cs typeface="Calibri" pitchFamily="34" charset="-120"/>
              </a:rPr>
              <a:t>COMPETITOR</a:t>
            </a:r>
            <a:endParaRPr lang="en-US" sz="1000" dirty="0"/>
          </a:p>
        </p:txBody>
      </p:sp>
      <p:sp>
        <p:nvSpPr>
          <p:cNvPr id="562" name="Text 61"/>
          <p:cNvSpPr txBox="1"/>
          <p:nvPr/>
        </p:nvSpPr>
        <p:spPr>
          <a:xfrm>
            <a:off x="7772400" y="1673352"/>
            <a:ext cx="2468880" cy="182880"/>
          </a:xfrm>
          <a:prstGeom prst="rect">
            <a:avLst/>
          </a:prstGeom>
          <a:noFill/>
          <a:ln/>
        </p:spPr>
        <p:txBody>
          <a:bodyPr wrap="square" lIns="0" tIns="0" rIns="0" bIns="0" rtlCol="0" anchor="t"/>
          <a:lstStyle/>
          <a:p>
            <a:pPr marL="0" indent="0">
              <a:buNone/>
            </a:pPr>
            <a:r>
              <a:rPr lang="en-US" sz="1000" b="1" kern="0" spc="100" dirty="0">
                <a:solidFill>
                  <a:srgbClr val="6B7482"/>
                </a:solidFill>
                <a:latin typeface="Calibri" pitchFamily="34" charset="0"/>
                <a:ea typeface="Calibri" pitchFamily="34" charset="-122"/>
                <a:cs typeface="Calibri" pitchFamily="34" charset="-120"/>
              </a:rPr>
              <a:t>GAP AERES TARGETS</a:t>
            </a:r>
            <a:endParaRPr lang="en-US" sz="1000" dirty="0"/>
          </a:p>
        </p:txBody>
      </p:sp>
      <p:sp>
        <p:nvSpPr>
          <p:cNvPr id="563" name="Text 62"/>
          <p:cNvSpPr txBox="1"/>
          <p:nvPr/>
        </p:nvSpPr>
        <p:spPr>
          <a:xfrm>
            <a:off x="10332720" y="1673352"/>
            <a:ext cx="1188720" cy="182880"/>
          </a:xfrm>
          <a:prstGeom prst="rect">
            <a:avLst/>
          </a:prstGeom>
          <a:noFill/>
          <a:ln/>
        </p:spPr>
        <p:txBody>
          <a:bodyPr wrap="square" lIns="0" tIns="0" rIns="0" bIns="0" rtlCol="0" anchor="t"/>
          <a:lstStyle/>
          <a:p>
            <a:pPr marL="0" indent="0">
              <a:buNone/>
            </a:pPr>
            <a:r>
              <a:rPr lang="en-US" sz="1000" b="1" kern="0" spc="100" dirty="0">
                <a:solidFill>
                  <a:srgbClr val="6B7482"/>
                </a:solidFill>
                <a:latin typeface="Calibri" pitchFamily="34" charset="0"/>
                <a:ea typeface="Calibri" pitchFamily="34" charset="-122"/>
                <a:cs typeface="Calibri" pitchFamily="34" charset="-120"/>
              </a:rPr>
              <a:t>THREAT</a:t>
            </a:r>
            <a:endParaRPr lang="en-US" sz="1000" dirty="0"/>
          </a:p>
        </p:txBody>
      </p:sp>
      <p:sp>
        <p:nvSpPr>
          <p:cNvPr id="564" name="Shape 63"/>
          <p:cNvSpPr/>
          <p:nvPr/>
        </p:nvSpPr>
        <p:spPr>
          <a:xfrm>
            <a:off x="6428232" y="1892808"/>
            <a:ext cx="5120640" cy="292608"/>
          </a:xfrm>
          <a:prstGeom prst="rect">
            <a:avLst/>
          </a:prstGeom>
          <a:solidFill>
            <a:srgbClr val="EEF0F3"/>
          </a:solidFill>
          <a:ln/>
        </p:spPr>
      </p:sp>
      <p:sp>
        <p:nvSpPr>
          <p:cNvPr id="565" name="Text 64"/>
          <p:cNvSpPr txBox="1"/>
          <p:nvPr/>
        </p:nvSpPr>
        <p:spPr>
          <a:xfrm>
            <a:off x="6464808" y="1892808"/>
            <a:ext cx="1280160" cy="292608"/>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Oracle Primavera</a:t>
            </a:r>
            <a:endParaRPr lang="en-US" sz="1050" dirty="0"/>
          </a:p>
        </p:txBody>
      </p:sp>
      <p:sp>
        <p:nvSpPr>
          <p:cNvPr id="566" name="Text 65"/>
          <p:cNvSpPr txBox="1"/>
          <p:nvPr/>
        </p:nvSpPr>
        <p:spPr>
          <a:xfrm>
            <a:off x="7772400" y="1892808"/>
            <a:ext cx="2514600" cy="292608"/>
          </a:xfrm>
          <a:prstGeom prst="rect">
            <a:avLst/>
          </a:prstGeom>
          <a:noFill/>
          <a:ln/>
        </p:spPr>
        <p:txBody>
          <a:bodyPr wrap="square" lIns="0" tIns="0" rIns="0" bIns="0" rtlCol="0" anchor="ctr"/>
          <a:lstStyle/>
          <a:p>
            <a:pPr marL="0" indent="0">
              <a:buNone/>
            </a:pPr>
            <a:r>
              <a:rPr lang="en-US" sz="1000" dirty="0">
                <a:solidFill>
                  <a:srgbClr val="2B2F36"/>
                </a:solidFill>
                <a:latin typeface="Calibri" pitchFamily="34" charset="0"/>
                <a:ea typeface="Calibri" pitchFamily="34" charset="-122"/>
                <a:cs typeface="Calibri" pitchFamily="34" charset="-120"/>
              </a:rPr>
              <a:t>Not an AI layer for messy field evidence</a:t>
            </a:r>
            <a:endParaRPr lang="en-US" sz="1000" dirty="0"/>
          </a:p>
        </p:txBody>
      </p:sp>
      <p:sp>
        <p:nvSpPr>
          <p:cNvPr id="567" name="Text 66"/>
          <p:cNvSpPr/>
          <p:nvPr/>
        </p:nvSpPr>
        <p:spPr>
          <a:xfrm>
            <a:off x="10332720" y="1938528"/>
            <a:ext cx="1097280" cy="201168"/>
          </a:xfrm>
          <a:prstGeom prst="roundRect">
            <a:avLst>
              <a:gd name="adj" fmla="val 22727"/>
            </a:avLst>
          </a:prstGeom>
          <a:solidFill>
            <a:srgbClr val="1F4E96"/>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Very High</a:t>
            </a:r>
            <a:endParaRPr lang="en-US" sz="1000" dirty="0"/>
          </a:p>
        </p:txBody>
      </p:sp>
      <p:sp>
        <p:nvSpPr>
          <p:cNvPr id="568" name="Text 67"/>
          <p:cNvSpPr txBox="1"/>
          <p:nvPr/>
        </p:nvSpPr>
        <p:spPr>
          <a:xfrm>
            <a:off x="6464808" y="2185416"/>
            <a:ext cx="1280160" cy="292608"/>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InEight</a:t>
            </a:r>
            <a:endParaRPr lang="en-US" sz="1050" dirty="0"/>
          </a:p>
        </p:txBody>
      </p:sp>
      <p:sp>
        <p:nvSpPr>
          <p:cNvPr id="569" name="Text 68"/>
          <p:cNvSpPr txBox="1"/>
          <p:nvPr/>
        </p:nvSpPr>
        <p:spPr>
          <a:xfrm>
            <a:off x="7772400" y="2185416"/>
            <a:ext cx="2514600" cy="292608"/>
          </a:xfrm>
          <a:prstGeom prst="rect">
            <a:avLst/>
          </a:prstGeom>
          <a:noFill/>
          <a:ln/>
        </p:spPr>
        <p:txBody>
          <a:bodyPr wrap="square" lIns="0" tIns="0" rIns="0" bIns="0" rtlCol="0" anchor="ctr"/>
          <a:lstStyle/>
          <a:p>
            <a:pPr marL="0" indent="0">
              <a:buNone/>
            </a:pPr>
            <a:r>
              <a:rPr lang="en-US" sz="1000" dirty="0">
                <a:solidFill>
                  <a:srgbClr val="2B2F36"/>
                </a:solidFill>
                <a:latin typeface="Calibri" pitchFamily="34" charset="0"/>
                <a:ea typeface="Calibri" pitchFamily="34" charset="-122"/>
                <a:cs typeface="Calibri" pitchFamily="34" charset="-120"/>
              </a:rPr>
              <a:t>Broad suite; not a source-agnostic layer</a:t>
            </a:r>
            <a:endParaRPr lang="en-US" sz="1000" dirty="0"/>
          </a:p>
        </p:txBody>
      </p:sp>
      <p:sp>
        <p:nvSpPr>
          <p:cNvPr id="570" name="Text 69"/>
          <p:cNvSpPr/>
          <p:nvPr/>
        </p:nvSpPr>
        <p:spPr>
          <a:xfrm>
            <a:off x="10332720" y="2231136"/>
            <a:ext cx="1097280" cy="201168"/>
          </a:xfrm>
          <a:prstGeom prst="roundRect">
            <a:avLst>
              <a:gd name="adj" fmla="val 22727"/>
            </a:avLst>
          </a:prstGeom>
          <a:solidFill>
            <a:srgbClr val="1F4E96"/>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Very High</a:t>
            </a:r>
            <a:endParaRPr lang="en-US" sz="1000" dirty="0"/>
          </a:p>
        </p:txBody>
      </p:sp>
      <p:sp>
        <p:nvSpPr>
          <p:cNvPr id="571" name="Shape 70"/>
          <p:cNvSpPr/>
          <p:nvPr/>
        </p:nvSpPr>
        <p:spPr>
          <a:xfrm>
            <a:off x="6428232" y="2478024"/>
            <a:ext cx="5120640" cy="292608"/>
          </a:xfrm>
          <a:prstGeom prst="rect">
            <a:avLst/>
          </a:prstGeom>
          <a:solidFill>
            <a:srgbClr val="EEF0F3"/>
          </a:solidFill>
          <a:ln/>
        </p:spPr>
      </p:sp>
      <p:sp>
        <p:nvSpPr>
          <p:cNvPr id="572" name="Text 71"/>
          <p:cNvSpPr txBox="1"/>
          <p:nvPr/>
        </p:nvSpPr>
        <p:spPr>
          <a:xfrm>
            <a:off x="6464808" y="2478024"/>
            <a:ext cx="1280160" cy="292608"/>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Bentley SYNCHRO</a:t>
            </a:r>
            <a:endParaRPr lang="en-US" sz="1050" dirty="0"/>
          </a:p>
        </p:txBody>
      </p:sp>
      <p:sp>
        <p:nvSpPr>
          <p:cNvPr id="573" name="Text 72"/>
          <p:cNvSpPr txBox="1"/>
          <p:nvPr/>
        </p:nvSpPr>
        <p:spPr>
          <a:xfrm>
            <a:off x="7772400" y="2478024"/>
            <a:ext cx="2514600" cy="292608"/>
          </a:xfrm>
          <a:prstGeom prst="rect">
            <a:avLst/>
          </a:prstGeom>
          <a:noFill/>
          <a:ln/>
        </p:spPr>
        <p:txBody>
          <a:bodyPr wrap="square" lIns="0" tIns="0" rIns="0" bIns="0" rtlCol="0" anchor="ctr"/>
          <a:lstStyle/>
          <a:p>
            <a:pPr marL="0" indent="0">
              <a:buNone/>
            </a:pPr>
            <a:r>
              <a:rPr lang="en-US" sz="1000" dirty="0">
                <a:solidFill>
                  <a:srgbClr val="2B2F36"/>
                </a:solidFill>
                <a:latin typeface="Calibri" pitchFamily="34" charset="0"/>
                <a:ea typeface="Calibri" pitchFamily="34" charset="-122"/>
                <a:cs typeface="Calibri" pitchFamily="34" charset="-120"/>
              </a:rPr>
              <a:t>Structured capture; the gap is upstream</a:t>
            </a:r>
            <a:endParaRPr lang="en-US" sz="1000" dirty="0"/>
          </a:p>
        </p:txBody>
      </p:sp>
      <p:sp>
        <p:nvSpPr>
          <p:cNvPr id="574" name="Text 73"/>
          <p:cNvSpPr/>
          <p:nvPr/>
        </p:nvSpPr>
        <p:spPr>
          <a:xfrm>
            <a:off x="10332720" y="2523744"/>
            <a:ext cx="1097280" cy="201168"/>
          </a:xfrm>
          <a:prstGeom prst="roundRect">
            <a:avLst>
              <a:gd name="adj" fmla="val 22727"/>
            </a:avLst>
          </a:prstGeom>
          <a:solidFill>
            <a:srgbClr val="2F6FDB"/>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575" name="Text 74"/>
          <p:cNvSpPr txBox="1"/>
          <p:nvPr/>
        </p:nvSpPr>
        <p:spPr>
          <a:xfrm>
            <a:off x="6464808" y="2770632"/>
            <a:ext cx="1280160" cy="292608"/>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Buildots</a:t>
            </a:r>
            <a:endParaRPr lang="en-US" sz="1050" dirty="0"/>
          </a:p>
        </p:txBody>
      </p:sp>
      <p:sp>
        <p:nvSpPr>
          <p:cNvPr id="576" name="Text 75"/>
          <p:cNvSpPr txBox="1"/>
          <p:nvPr/>
        </p:nvSpPr>
        <p:spPr>
          <a:xfrm>
            <a:off x="7772400" y="2770632"/>
            <a:ext cx="2514600" cy="292608"/>
          </a:xfrm>
          <a:prstGeom prst="rect">
            <a:avLst/>
          </a:prstGeom>
          <a:noFill/>
          <a:ln/>
        </p:spPr>
        <p:txBody>
          <a:bodyPr wrap="square" lIns="0" tIns="0" rIns="0" bIns="0" rtlCol="0" anchor="ctr"/>
          <a:lstStyle/>
          <a:p>
            <a:pPr marL="0" indent="0">
              <a:buNone/>
            </a:pPr>
            <a:r>
              <a:rPr lang="en-US" sz="1000" dirty="0">
                <a:solidFill>
                  <a:srgbClr val="2B2F36"/>
                </a:solidFill>
                <a:latin typeface="Calibri" pitchFamily="34" charset="0"/>
                <a:ea typeface="Calibri" pitchFamily="34" charset="-122"/>
                <a:cs typeface="Calibri" pitchFamily="34" charset="-120"/>
              </a:rPr>
              <a:t>Vision-first; no camera rollout needed</a:t>
            </a:r>
            <a:endParaRPr lang="en-US" sz="1000" dirty="0"/>
          </a:p>
        </p:txBody>
      </p:sp>
      <p:sp>
        <p:nvSpPr>
          <p:cNvPr id="577" name="Text 76"/>
          <p:cNvSpPr/>
          <p:nvPr/>
        </p:nvSpPr>
        <p:spPr>
          <a:xfrm>
            <a:off x="10332720" y="2816352"/>
            <a:ext cx="1097280" cy="201168"/>
          </a:xfrm>
          <a:prstGeom prst="roundRect">
            <a:avLst>
              <a:gd name="adj" fmla="val 22727"/>
            </a:avLst>
          </a:prstGeom>
          <a:solidFill>
            <a:srgbClr val="2F6FDB"/>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578" name="Shape 77"/>
          <p:cNvSpPr/>
          <p:nvPr/>
        </p:nvSpPr>
        <p:spPr>
          <a:xfrm>
            <a:off x="6428232" y="3063240"/>
            <a:ext cx="5120640" cy="292608"/>
          </a:xfrm>
          <a:prstGeom prst="rect">
            <a:avLst/>
          </a:prstGeom>
          <a:solidFill>
            <a:srgbClr val="EEF0F3"/>
          </a:solidFill>
          <a:ln/>
        </p:spPr>
      </p:sp>
      <p:sp>
        <p:nvSpPr>
          <p:cNvPr id="579" name="Text 78"/>
          <p:cNvSpPr txBox="1"/>
          <p:nvPr/>
        </p:nvSpPr>
        <p:spPr>
          <a:xfrm>
            <a:off x="6464808" y="3063240"/>
            <a:ext cx="1280160" cy="292608"/>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nPlan</a:t>
            </a:r>
            <a:endParaRPr lang="en-US" sz="1050" dirty="0"/>
          </a:p>
        </p:txBody>
      </p:sp>
      <p:sp>
        <p:nvSpPr>
          <p:cNvPr id="580" name="Text 79"/>
          <p:cNvSpPr txBox="1"/>
          <p:nvPr/>
        </p:nvSpPr>
        <p:spPr>
          <a:xfrm>
            <a:off x="7772400" y="3063240"/>
            <a:ext cx="2514600" cy="292608"/>
          </a:xfrm>
          <a:prstGeom prst="rect">
            <a:avLst/>
          </a:prstGeom>
          <a:noFill/>
          <a:ln/>
        </p:spPr>
        <p:txBody>
          <a:bodyPr wrap="square" lIns="0" tIns="0" rIns="0" bIns="0" rtlCol="0" anchor="ctr"/>
          <a:lstStyle/>
          <a:p>
            <a:pPr marL="0" indent="0">
              <a:buNone/>
            </a:pPr>
            <a:r>
              <a:rPr lang="en-US" sz="1000" dirty="0">
                <a:solidFill>
                  <a:srgbClr val="2B2F36"/>
                </a:solidFill>
                <a:latin typeface="Calibri" pitchFamily="34" charset="0"/>
                <a:ea typeface="Calibri" pitchFamily="34" charset="-122"/>
                <a:cs typeface="Calibri" pitchFamily="34" charset="-120"/>
              </a:rPr>
              <a:t>Analyses schedules, not field actuals</a:t>
            </a:r>
            <a:endParaRPr lang="en-US" sz="1000" dirty="0"/>
          </a:p>
        </p:txBody>
      </p:sp>
      <p:sp>
        <p:nvSpPr>
          <p:cNvPr id="581" name="Text 80"/>
          <p:cNvSpPr/>
          <p:nvPr/>
        </p:nvSpPr>
        <p:spPr>
          <a:xfrm>
            <a:off x="10332720" y="3108960"/>
            <a:ext cx="1097280" cy="201168"/>
          </a:xfrm>
          <a:prstGeom prst="roundRect">
            <a:avLst>
              <a:gd name="adj" fmla="val 22727"/>
            </a:avLst>
          </a:prstGeom>
          <a:solidFill>
            <a:srgbClr val="E8EFFA"/>
          </a:solidFill>
          <a:ln/>
        </p:spPr>
        <p:txBody>
          <a:bodyPr wrap="square" lIns="0" tIns="0" rIns="0" bIns="0" rtlCol="0" anchor="ctr"/>
          <a:lstStyle/>
          <a:p>
            <a:pPr marL="0" indent="0" algn="ctr">
              <a:buNone/>
            </a:pPr>
            <a:r>
              <a:rPr lang="en-US" sz="1000" b="1" dirty="0">
                <a:solidFill>
                  <a:srgbClr val="0B1F3A"/>
                </a:solidFill>
                <a:latin typeface="Calibri" pitchFamily="34" charset="0"/>
                <a:ea typeface="Calibri" pitchFamily="34" charset="-122"/>
                <a:cs typeface="Calibri" pitchFamily="34" charset="-120"/>
              </a:rPr>
              <a:t>Med-High</a:t>
            </a:r>
            <a:endParaRPr lang="en-US" sz="1000" dirty="0"/>
          </a:p>
        </p:txBody>
      </p:sp>
      <p:sp>
        <p:nvSpPr>
          <p:cNvPr id="582" name="Text 81"/>
          <p:cNvSpPr txBox="1"/>
          <p:nvPr/>
        </p:nvSpPr>
        <p:spPr>
          <a:xfrm>
            <a:off x="6464808" y="3355848"/>
            <a:ext cx="1280160" cy="292608"/>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ALICE</a:t>
            </a:r>
            <a:endParaRPr lang="en-US" sz="1050" dirty="0"/>
          </a:p>
        </p:txBody>
      </p:sp>
      <p:sp>
        <p:nvSpPr>
          <p:cNvPr id="583" name="Text 82"/>
          <p:cNvSpPr txBox="1"/>
          <p:nvPr/>
        </p:nvSpPr>
        <p:spPr>
          <a:xfrm>
            <a:off x="7772400" y="3355848"/>
            <a:ext cx="2514600" cy="292608"/>
          </a:xfrm>
          <a:prstGeom prst="rect">
            <a:avLst/>
          </a:prstGeom>
          <a:noFill/>
          <a:ln/>
        </p:spPr>
        <p:txBody>
          <a:bodyPr wrap="square" lIns="0" tIns="0" rIns="0" bIns="0" rtlCol="0" anchor="ctr"/>
          <a:lstStyle/>
          <a:p>
            <a:pPr marL="0" indent="0">
              <a:buNone/>
            </a:pPr>
            <a:r>
              <a:rPr lang="en-US" sz="1000" dirty="0">
                <a:solidFill>
                  <a:srgbClr val="2B2F36"/>
                </a:solidFill>
                <a:latin typeface="Calibri" pitchFamily="34" charset="0"/>
                <a:ea typeface="Calibri" pitchFamily="34" charset="-122"/>
                <a:cs typeface="Calibri" pitchFamily="34" charset="-120"/>
              </a:rPr>
              <a:t>Optimizes plans, not reconciliation</a:t>
            </a:r>
            <a:endParaRPr lang="en-US" sz="1000" dirty="0"/>
          </a:p>
        </p:txBody>
      </p:sp>
      <p:sp>
        <p:nvSpPr>
          <p:cNvPr id="584" name="Text 83"/>
          <p:cNvSpPr/>
          <p:nvPr/>
        </p:nvSpPr>
        <p:spPr>
          <a:xfrm>
            <a:off x="10332720" y="3401568"/>
            <a:ext cx="1097280" cy="201168"/>
          </a:xfrm>
          <a:prstGeom prst="roundRect">
            <a:avLst>
              <a:gd name="adj" fmla="val 22727"/>
            </a:avLst>
          </a:prstGeom>
          <a:solidFill>
            <a:srgbClr val="E8EFFA"/>
          </a:solidFill>
          <a:ln/>
        </p:spPr>
        <p:txBody>
          <a:bodyPr wrap="square" lIns="0" tIns="0" rIns="0" bIns="0" rtlCol="0" anchor="ctr"/>
          <a:lstStyle/>
          <a:p>
            <a:pPr marL="0" indent="0" algn="ctr">
              <a:buNone/>
            </a:pPr>
            <a:r>
              <a:rPr lang="en-US" sz="1000" b="1" dirty="0">
                <a:solidFill>
                  <a:srgbClr val="0B1F3A"/>
                </a:solidFill>
                <a:latin typeface="Calibri" pitchFamily="34" charset="0"/>
                <a:ea typeface="Calibri" pitchFamily="34" charset="-122"/>
                <a:cs typeface="Calibri" pitchFamily="34" charset="-120"/>
              </a:rPr>
              <a:t>Med-High</a:t>
            </a:r>
            <a:endParaRPr lang="en-US" sz="1000" dirty="0"/>
          </a:p>
        </p:txBody>
      </p:sp>
      <p:sp>
        <p:nvSpPr>
          <p:cNvPr id="585" name="Shape 84"/>
          <p:cNvSpPr/>
          <p:nvPr/>
        </p:nvSpPr>
        <p:spPr>
          <a:xfrm>
            <a:off x="548640" y="3840480"/>
            <a:ext cx="3611880" cy="2103120"/>
          </a:xfrm>
          <a:prstGeom prst="roundRect">
            <a:avLst>
              <a:gd name="adj" fmla="val 2609"/>
            </a:avLst>
          </a:prstGeom>
          <a:solidFill>
            <a:srgbClr val="FFFFFF"/>
          </a:solidFill>
          <a:ln w="12700">
            <a:solidFill>
              <a:srgbClr val="D3D8E0"/>
            </a:solidFill>
            <a:prstDash val="solid"/>
          </a:ln>
        </p:spPr>
      </p:sp>
      <p:sp>
        <p:nvSpPr>
          <p:cNvPr id="586" name="Text 85"/>
          <p:cNvSpPr txBox="1"/>
          <p:nvPr/>
        </p:nvSpPr>
        <p:spPr>
          <a:xfrm>
            <a:off x="676656" y="3931920"/>
            <a:ext cx="3355848"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Adjacent markets, 2025 ($B) · CAGR</a:t>
            </a:r>
            <a:endParaRPr lang="en-US" sz="1200" dirty="0"/>
          </a:p>
        </p:txBody>
      </p:sp>
      <p:sp>
        <p:nvSpPr>
          <p:cNvPr id="587" name="Shape 86"/>
          <p:cNvSpPr/>
          <p:nvPr/>
        </p:nvSpPr>
        <p:spPr>
          <a:xfrm>
            <a:off x="4288536" y="3840480"/>
            <a:ext cx="3611880" cy="2103120"/>
          </a:xfrm>
          <a:prstGeom prst="roundRect">
            <a:avLst>
              <a:gd name="adj" fmla="val 2609"/>
            </a:avLst>
          </a:prstGeom>
          <a:solidFill>
            <a:srgbClr val="FFFFFF"/>
          </a:solidFill>
          <a:ln w="12700">
            <a:solidFill>
              <a:srgbClr val="D3D8E0"/>
            </a:solidFill>
            <a:prstDash val="solid"/>
          </a:ln>
        </p:spPr>
      </p:sp>
      <p:sp>
        <p:nvSpPr>
          <p:cNvPr id="588" name="Text 87"/>
          <p:cNvSpPr txBox="1"/>
          <p:nvPr/>
        </p:nvSpPr>
        <p:spPr>
          <a:xfrm>
            <a:off x="4416552" y="3931920"/>
            <a:ext cx="3355848"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Whitespace: five linked functions</a:t>
            </a:r>
            <a:endParaRPr lang="en-US" sz="1200" dirty="0"/>
          </a:p>
        </p:txBody>
      </p:sp>
      <p:sp>
        <p:nvSpPr>
          <p:cNvPr id="589" name="Shape 88"/>
          <p:cNvSpPr/>
          <p:nvPr/>
        </p:nvSpPr>
        <p:spPr>
          <a:xfrm>
            <a:off x="8028432" y="3840480"/>
            <a:ext cx="3611880" cy="2103120"/>
          </a:xfrm>
          <a:prstGeom prst="roundRect">
            <a:avLst>
              <a:gd name="adj" fmla="val 2609"/>
            </a:avLst>
          </a:prstGeom>
          <a:solidFill>
            <a:srgbClr val="FFFFFF"/>
          </a:solidFill>
          <a:ln w="12700">
            <a:solidFill>
              <a:srgbClr val="D3D8E0"/>
            </a:solidFill>
            <a:prstDash val="solid"/>
          </a:ln>
        </p:spPr>
      </p:sp>
      <p:sp>
        <p:nvSpPr>
          <p:cNvPr id="590" name="Text 89"/>
          <p:cNvSpPr txBox="1"/>
          <p:nvPr/>
        </p:nvSpPr>
        <p:spPr>
          <a:xfrm>
            <a:off x="8156448" y="3931920"/>
            <a:ext cx="3355848" cy="201168"/>
          </a:xfrm>
          <a:prstGeom prst="rect">
            <a:avLst/>
          </a:prstGeom>
          <a:noFill/>
          <a:ln/>
        </p:spPr>
        <p:txBody>
          <a:bodyPr wrap="square" lIns="0" tIns="0" rIns="0" bIns="0" rtlCol="0" anchor="t"/>
          <a:lstStyle/>
          <a:p>
            <a:pPr marL="0" indent="0">
              <a:buNone/>
            </a:pPr>
            <a:r>
              <a:rPr lang="en-US" sz="1200" b="1" dirty="0">
                <a:solidFill>
                  <a:srgbClr val="0B1F3A"/>
                </a:solidFill>
                <a:latin typeface="Calibri" pitchFamily="34" charset="0"/>
                <a:ea typeface="Calibri" pitchFamily="34" charset="-122"/>
                <a:cs typeface="Calibri" pitchFamily="34" charset="-120"/>
              </a:rPr>
              <a:t>Positioning</a:t>
            </a:r>
            <a:endParaRPr lang="en-US" sz="1200" dirty="0"/>
          </a:p>
        </p:txBody>
      </p:sp>
      <p:graphicFrame>
        <p:nvGraphicFramePr>
          <p:cNvPr id="591" name="Chart 0"/>
          <p:cNvGraphicFramePr/>
          <p:nvPr/>
        </p:nvGraphicFramePr>
        <p:xfrm>
          <a:off x="621792" y="4133088"/>
          <a:ext cx="3465576" cy="1280160"/>
        </p:xfrm>
        <a:graphic>
          <a:graphicData uri="http://schemas.openxmlformats.org/drawingml/2006/chart">
            <c:chart xmlns:c="http://schemas.openxmlformats.org/drawingml/2006/chart" xmlns:r="http://schemas.openxmlformats.org/officeDocument/2006/relationships" r:id="rId3"/>
          </a:graphicData>
        </a:graphic>
      </p:graphicFrame>
      <p:sp>
        <p:nvSpPr>
          <p:cNvPr id="592" name="Text 90"/>
          <p:cNvSpPr txBox="1"/>
          <p:nvPr/>
        </p:nvSpPr>
        <p:spPr>
          <a:xfrm>
            <a:off x="676656" y="5468112"/>
            <a:ext cx="3355848" cy="365760"/>
          </a:xfrm>
          <a:prstGeom prst="rect">
            <a:avLst/>
          </a:prstGeom>
          <a:noFill/>
          <a:ln/>
        </p:spPr>
        <p:txBody>
          <a:bodyPr wrap="square" lIns="0" tIns="0" rIns="0" bIns="0" rtlCol="0" anchor="t"/>
          <a:lstStyle/>
          <a:p>
            <a:pPr marL="0" indent="0">
              <a:buNone/>
            </a:pPr>
            <a:r>
              <a:rPr lang="en-US" sz="1050" dirty="0">
                <a:solidFill>
                  <a:srgbClr val="6B7482"/>
                </a:solidFill>
                <a:latin typeface="Calibri" pitchFamily="34" charset="0"/>
                <a:ea typeface="Calibri" pitchFamily="34" charset="-122"/>
                <a:cs typeface="Calibri" pitchFamily="34" charset="-120"/>
              </a:rPr>
              <a:t>Directional envelopes, not additive; AI in construction grows fastest.</a:t>
            </a:r>
            <a:endParaRPr lang="en-US" sz="1050" dirty="0"/>
          </a:p>
        </p:txBody>
      </p:sp>
      <p:sp>
        <p:nvSpPr>
          <p:cNvPr id="593" name="Shape 91"/>
          <p:cNvSpPr/>
          <p:nvPr/>
        </p:nvSpPr>
        <p:spPr>
          <a:xfrm>
            <a:off x="4416552" y="4224528"/>
            <a:ext cx="256032" cy="256032"/>
          </a:xfrm>
          <a:prstGeom prst="ellipse">
            <a:avLst/>
          </a:prstGeom>
          <a:solidFill>
            <a:srgbClr val="E8EFFA"/>
          </a:solidFill>
          <a:ln/>
        </p:spPr>
      </p:sp>
      <p:pic>
        <p:nvPicPr>
          <p:cNvPr id="594" name="Image 0" descr="preencoded.png"/>
          <p:cNvPicPr>
            <a:picLocks noChangeAspect="1"/>
          </p:cNvPicPr>
          <p:nvPr/>
        </p:nvPicPr>
        <p:blipFill>
          <a:blip r:embed="rId4"/>
          <a:stretch>
            <a:fillRect/>
          </a:stretch>
        </p:blipFill>
        <p:spPr>
          <a:xfrm>
            <a:off x="4483120" y="4291096"/>
            <a:ext cx="122895" cy="122895"/>
          </a:xfrm>
          <a:prstGeom prst="rect">
            <a:avLst/>
          </a:prstGeom>
        </p:spPr>
      </p:pic>
      <p:sp>
        <p:nvSpPr>
          <p:cNvPr id="595" name="Text 92"/>
          <p:cNvSpPr txBox="1"/>
          <p:nvPr/>
        </p:nvSpPr>
        <p:spPr>
          <a:xfrm>
            <a:off x="4773168" y="4224528"/>
            <a:ext cx="3017520" cy="256032"/>
          </a:xfrm>
          <a:prstGeom prst="rect">
            <a:avLst/>
          </a:prstGeom>
          <a:noFill/>
          <a:ln/>
        </p:spPr>
        <p:txBody>
          <a:bodyPr wrap="square" lIns="0" tIns="0" rIns="0" bIns="0" rtlCol="0" anchor="ctr"/>
          <a:lstStyle/>
          <a:p>
            <a:pPr marL="0" indent="0">
              <a:buNone/>
            </a:pPr>
            <a:r>
              <a:rPr lang="en-US" sz="1050" dirty="0">
                <a:solidFill>
                  <a:srgbClr val="2B2F36"/>
                </a:solidFill>
                <a:latin typeface="Calibri" pitchFamily="34" charset="0"/>
                <a:ea typeface="Calibri" pitchFamily="34" charset="-122"/>
                <a:cs typeface="Calibri" pitchFamily="34" charset="-120"/>
              </a:rPr>
              <a:t>Ingest mixed-format project sources</a:t>
            </a:r>
            <a:endParaRPr lang="en-US" sz="1050" dirty="0"/>
          </a:p>
        </p:txBody>
      </p:sp>
      <p:sp>
        <p:nvSpPr>
          <p:cNvPr id="596" name="Shape 93"/>
          <p:cNvSpPr/>
          <p:nvPr/>
        </p:nvSpPr>
        <p:spPr>
          <a:xfrm>
            <a:off x="4416552" y="4553712"/>
            <a:ext cx="256032" cy="256032"/>
          </a:xfrm>
          <a:prstGeom prst="ellipse">
            <a:avLst/>
          </a:prstGeom>
          <a:solidFill>
            <a:srgbClr val="E8EFFA"/>
          </a:solidFill>
          <a:ln/>
        </p:spPr>
      </p:sp>
      <p:pic>
        <p:nvPicPr>
          <p:cNvPr id="597" name="Image 1" descr="preencoded.png"/>
          <p:cNvPicPr>
            <a:picLocks noChangeAspect="1"/>
          </p:cNvPicPr>
          <p:nvPr/>
        </p:nvPicPr>
        <p:blipFill>
          <a:blip r:embed="rId5"/>
          <a:stretch>
            <a:fillRect/>
          </a:stretch>
        </p:blipFill>
        <p:spPr>
          <a:xfrm>
            <a:off x="4483120" y="4620280"/>
            <a:ext cx="122895" cy="122895"/>
          </a:xfrm>
          <a:prstGeom prst="rect">
            <a:avLst/>
          </a:prstGeom>
        </p:spPr>
      </p:pic>
      <p:sp>
        <p:nvSpPr>
          <p:cNvPr id="598" name="Text 94"/>
          <p:cNvSpPr txBox="1"/>
          <p:nvPr/>
        </p:nvSpPr>
        <p:spPr>
          <a:xfrm>
            <a:off x="4773168" y="4553712"/>
            <a:ext cx="3017520" cy="256032"/>
          </a:xfrm>
          <a:prstGeom prst="rect">
            <a:avLst/>
          </a:prstGeom>
          <a:noFill/>
          <a:ln/>
        </p:spPr>
        <p:txBody>
          <a:bodyPr wrap="square" lIns="0" tIns="0" rIns="0" bIns="0" rtlCol="0" anchor="ctr"/>
          <a:lstStyle/>
          <a:p>
            <a:pPr marL="0" indent="0">
              <a:buNone/>
            </a:pPr>
            <a:r>
              <a:rPr lang="en-US" sz="1050" dirty="0">
                <a:solidFill>
                  <a:srgbClr val="2B2F36"/>
                </a:solidFill>
                <a:latin typeface="Calibri" pitchFamily="34" charset="0"/>
                <a:ea typeface="Calibri" pitchFamily="34" charset="-122"/>
                <a:cs typeface="Calibri" pitchFamily="34" charset="-120"/>
              </a:rPr>
              <a:t>Link entities and events into one model</a:t>
            </a:r>
            <a:endParaRPr lang="en-US" sz="1050" dirty="0"/>
          </a:p>
        </p:txBody>
      </p:sp>
      <p:sp>
        <p:nvSpPr>
          <p:cNvPr id="599" name="Shape 95"/>
          <p:cNvSpPr/>
          <p:nvPr/>
        </p:nvSpPr>
        <p:spPr>
          <a:xfrm>
            <a:off x="4416552" y="4882896"/>
            <a:ext cx="256032" cy="256032"/>
          </a:xfrm>
          <a:prstGeom prst="ellipse">
            <a:avLst/>
          </a:prstGeom>
          <a:solidFill>
            <a:srgbClr val="E8EFFA"/>
          </a:solidFill>
          <a:ln/>
        </p:spPr>
      </p:sp>
      <p:pic>
        <p:nvPicPr>
          <p:cNvPr id="600" name="Image 2" descr="preencoded.png"/>
          <p:cNvPicPr>
            <a:picLocks noChangeAspect="1"/>
          </p:cNvPicPr>
          <p:nvPr/>
        </p:nvPicPr>
        <p:blipFill>
          <a:blip r:embed="rId6"/>
          <a:stretch>
            <a:fillRect/>
          </a:stretch>
        </p:blipFill>
        <p:spPr>
          <a:xfrm>
            <a:off x="4483120" y="4949464"/>
            <a:ext cx="122895" cy="122895"/>
          </a:xfrm>
          <a:prstGeom prst="rect">
            <a:avLst/>
          </a:prstGeom>
        </p:spPr>
      </p:pic>
      <p:sp>
        <p:nvSpPr>
          <p:cNvPr id="601" name="Text 96"/>
          <p:cNvSpPr txBox="1"/>
          <p:nvPr/>
        </p:nvSpPr>
        <p:spPr>
          <a:xfrm>
            <a:off x="4773168" y="4882896"/>
            <a:ext cx="3017520" cy="256032"/>
          </a:xfrm>
          <a:prstGeom prst="rect">
            <a:avLst/>
          </a:prstGeom>
          <a:noFill/>
          <a:ln/>
        </p:spPr>
        <p:txBody>
          <a:bodyPr wrap="square" lIns="0" tIns="0" rIns="0" bIns="0" rtlCol="0" anchor="ctr"/>
          <a:lstStyle/>
          <a:p>
            <a:pPr marL="0" indent="0">
              <a:buNone/>
            </a:pPr>
            <a:r>
              <a:rPr lang="en-US" sz="1050" dirty="0">
                <a:solidFill>
                  <a:srgbClr val="2B2F36"/>
                </a:solidFill>
                <a:latin typeface="Calibri" pitchFamily="34" charset="0"/>
                <a:ea typeface="Calibri" pitchFamily="34" charset="-122"/>
                <a:cs typeface="Calibri" pitchFamily="34" charset="-120"/>
              </a:rPr>
              <a:t>Reason across disciplines, not within one</a:t>
            </a:r>
            <a:endParaRPr lang="en-US" sz="1050" dirty="0"/>
          </a:p>
        </p:txBody>
      </p:sp>
      <p:sp>
        <p:nvSpPr>
          <p:cNvPr id="602" name="Shape 97"/>
          <p:cNvSpPr/>
          <p:nvPr/>
        </p:nvSpPr>
        <p:spPr>
          <a:xfrm>
            <a:off x="4416552" y="5212080"/>
            <a:ext cx="256032" cy="256032"/>
          </a:xfrm>
          <a:prstGeom prst="ellipse">
            <a:avLst/>
          </a:prstGeom>
          <a:solidFill>
            <a:srgbClr val="E8EFFA"/>
          </a:solidFill>
          <a:ln/>
        </p:spPr>
      </p:sp>
      <p:pic>
        <p:nvPicPr>
          <p:cNvPr id="603" name="Image 3" descr="preencoded.png"/>
          <p:cNvPicPr>
            <a:picLocks noChangeAspect="1"/>
          </p:cNvPicPr>
          <p:nvPr/>
        </p:nvPicPr>
        <p:blipFill>
          <a:blip r:embed="rId7"/>
          <a:stretch>
            <a:fillRect/>
          </a:stretch>
        </p:blipFill>
        <p:spPr>
          <a:xfrm>
            <a:off x="4483120" y="5278648"/>
            <a:ext cx="122895" cy="122895"/>
          </a:xfrm>
          <a:prstGeom prst="rect">
            <a:avLst/>
          </a:prstGeom>
        </p:spPr>
      </p:pic>
      <p:sp>
        <p:nvSpPr>
          <p:cNvPr id="604" name="Text 98"/>
          <p:cNvSpPr txBox="1"/>
          <p:nvPr/>
        </p:nvSpPr>
        <p:spPr>
          <a:xfrm>
            <a:off x="4773168" y="5212080"/>
            <a:ext cx="3017520" cy="256032"/>
          </a:xfrm>
          <a:prstGeom prst="rect">
            <a:avLst/>
          </a:prstGeom>
          <a:noFill/>
          <a:ln/>
        </p:spPr>
        <p:txBody>
          <a:bodyPr wrap="square" lIns="0" tIns="0" rIns="0" bIns="0" rtlCol="0" anchor="ctr"/>
          <a:lstStyle/>
          <a:p>
            <a:pPr marL="0" indent="0">
              <a:buNone/>
            </a:pPr>
            <a:r>
              <a:rPr lang="en-US" sz="1050" dirty="0">
                <a:solidFill>
                  <a:srgbClr val="2B2F36"/>
                </a:solidFill>
                <a:latin typeface="Calibri" pitchFamily="34" charset="0"/>
                <a:ea typeface="Calibri" pitchFamily="34" charset="-122"/>
                <a:cs typeface="Calibri" pitchFamily="34" charset="-120"/>
              </a:rPr>
              <a:t>Expose evidence, confidence and provenance</a:t>
            </a:r>
            <a:endParaRPr lang="en-US" sz="1050" dirty="0"/>
          </a:p>
        </p:txBody>
      </p:sp>
      <p:sp>
        <p:nvSpPr>
          <p:cNvPr id="605" name="Shape 99"/>
          <p:cNvSpPr/>
          <p:nvPr/>
        </p:nvSpPr>
        <p:spPr>
          <a:xfrm>
            <a:off x="4416552" y="5541264"/>
            <a:ext cx="256032" cy="256032"/>
          </a:xfrm>
          <a:prstGeom prst="ellipse">
            <a:avLst/>
          </a:prstGeom>
          <a:solidFill>
            <a:srgbClr val="E8EFFA"/>
          </a:solidFill>
          <a:ln/>
        </p:spPr>
      </p:sp>
      <p:pic>
        <p:nvPicPr>
          <p:cNvPr id="606" name="Image 4" descr="preencoded.png"/>
          <p:cNvPicPr>
            <a:picLocks noChangeAspect="1"/>
          </p:cNvPicPr>
          <p:nvPr/>
        </p:nvPicPr>
        <p:blipFill>
          <a:blip r:embed="rId8"/>
          <a:stretch>
            <a:fillRect/>
          </a:stretch>
        </p:blipFill>
        <p:spPr>
          <a:xfrm>
            <a:off x="4483120" y="5607832"/>
            <a:ext cx="122895" cy="122895"/>
          </a:xfrm>
          <a:prstGeom prst="rect">
            <a:avLst/>
          </a:prstGeom>
        </p:spPr>
      </p:pic>
      <p:sp>
        <p:nvSpPr>
          <p:cNvPr id="607" name="Text 100"/>
          <p:cNvSpPr txBox="1"/>
          <p:nvPr/>
        </p:nvSpPr>
        <p:spPr>
          <a:xfrm>
            <a:off x="4773168" y="5541264"/>
            <a:ext cx="3017520" cy="256032"/>
          </a:xfrm>
          <a:prstGeom prst="rect">
            <a:avLst/>
          </a:prstGeom>
          <a:noFill/>
          <a:ln/>
        </p:spPr>
        <p:txBody>
          <a:bodyPr wrap="square" lIns="0" tIns="0" rIns="0" bIns="0" rtlCol="0" anchor="ctr"/>
          <a:lstStyle/>
          <a:p>
            <a:pPr marL="0" indent="0">
              <a:buNone/>
            </a:pPr>
            <a:r>
              <a:rPr lang="en-US" sz="1050" dirty="0">
                <a:solidFill>
                  <a:srgbClr val="2B2F36"/>
                </a:solidFill>
                <a:latin typeface="Calibri" pitchFamily="34" charset="0"/>
                <a:ea typeface="Calibri" pitchFamily="34" charset="-122"/>
                <a:cs typeface="Calibri" pitchFamily="34" charset="-120"/>
              </a:rPr>
              <a:t>Learn from professional review</a:t>
            </a:r>
            <a:endParaRPr lang="en-US" sz="1050" dirty="0"/>
          </a:p>
        </p:txBody>
      </p:sp>
      <p:sp>
        <p:nvSpPr>
          <p:cNvPr id="608" name="Text 101"/>
          <p:cNvSpPr txBox="1"/>
          <p:nvPr/>
        </p:nvSpPr>
        <p:spPr>
          <a:xfrm>
            <a:off x="8156448" y="4206240"/>
            <a:ext cx="1645920" cy="182880"/>
          </a:xfrm>
          <a:prstGeom prst="rect">
            <a:avLst/>
          </a:prstGeom>
          <a:noFill/>
          <a:ln/>
        </p:spPr>
        <p:txBody>
          <a:bodyPr wrap="square" lIns="0" tIns="0" rIns="0" bIns="0" rtlCol="0" anchor="t"/>
          <a:lstStyle/>
          <a:p>
            <a:pPr marL="0" indent="0">
              <a:buNone/>
            </a:pPr>
            <a:r>
              <a:rPr lang="en-US" sz="1000" b="1" kern="0" spc="150" dirty="0">
                <a:solidFill>
                  <a:srgbClr val="2F6FDB"/>
                </a:solidFill>
                <a:latin typeface="Calibri" pitchFamily="34" charset="0"/>
                <a:ea typeface="Calibri" pitchFamily="34" charset="-122"/>
                <a:cs typeface="Calibri" pitchFamily="34" charset="-120"/>
              </a:rPr>
              <a:t>AERES IS</a:t>
            </a:r>
            <a:endParaRPr lang="en-US" sz="1000" dirty="0"/>
          </a:p>
        </p:txBody>
      </p:sp>
      <p:pic>
        <p:nvPicPr>
          <p:cNvPr id="609" name="Image 5" descr="preencoded.png"/>
          <p:cNvPicPr>
            <a:picLocks noChangeAspect="1"/>
          </p:cNvPicPr>
          <p:nvPr/>
        </p:nvPicPr>
        <p:blipFill>
          <a:blip r:embed="rId9"/>
          <a:stretch>
            <a:fillRect/>
          </a:stretch>
        </p:blipFill>
        <p:spPr>
          <a:xfrm>
            <a:off x="8156448" y="4535424"/>
            <a:ext cx="155448" cy="155448"/>
          </a:xfrm>
          <a:prstGeom prst="rect">
            <a:avLst/>
          </a:prstGeom>
        </p:spPr>
      </p:pic>
      <p:sp>
        <p:nvSpPr>
          <p:cNvPr id="610" name="Text 102"/>
          <p:cNvSpPr txBox="1"/>
          <p:nvPr/>
        </p:nvSpPr>
        <p:spPr>
          <a:xfrm>
            <a:off x="8385048" y="4462272"/>
            <a:ext cx="1417320" cy="329184"/>
          </a:xfrm>
          <a:prstGeom prst="rect">
            <a:avLst/>
          </a:prstGeom>
          <a:noFill/>
          <a:ln/>
        </p:spPr>
        <p:txBody>
          <a:bodyPr wrap="square" lIns="0" tIns="0" rIns="0" bIns="0" rtlCol="0" anchor="ctr"/>
          <a:lstStyle/>
          <a:p>
            <a:pPr marL="0" indent="0">
              <a:buNone/>
            </a:pPr>
            <a:r>
              <a:rPr lang="en-US" sz="1050" dirty="0">
                <a:solidFill>
                  <a:srgbClr val="2B2F36"/>
                </a:solidFill>
                <a:latin typeface="Calibri" pitchFamily="34" charset="0"/>
                <a:ea typeface="Calibri" pitchFamily="34" charset="-122"/>
                <a:cs typeface="Calibri" pitchFamily="34" charset="-120"/>
              </a:rPr>
              <a:t>An AI-assisted reasoning layer</a:t>
            </a:r>
            <a:endParaRPr lang="en-US" sz="1050" dirty="0"/>
          </a:p>
        </p:txBody>
      </p:sp>
      <p:pic>
        <p:nvPicPr>
          <p:cNvPr id="611" name="Image 6" descr="preencoded.png"/>
          <p:cNvPicPr>
            <a:picLocks noChangeAspect="1"/>
          </p:cNvPicPr>
          <p:nvPr/>
        </p:nvPicPr>
        <p:blipFill>
          <a:blip r:embed="rId9"/>
          <a:stretch>
            <a:fillRect/>
          </a:stretch>
        </p:blipFill>
        <p:spPr>
          <a:xfrm>
            <a:off x="8156448" y="4901184"/>
            <a:ext cx="155448" cy="155448"/>
          </a:xfrm>
          <a:prstGeom prst="rect">
            <a:avLst/>
          </a:prstGeom>
        </p:spPr>
      </p:pic>
      <p:sp>
        <p:nvSpPr>
          <p:cNvPr id="612" name="Text 103"/>
          <p:cNvSpPr txBox="1"/>
          <p:nvPr/>
        </p:nvSpPr>
        <p:spPr>
          <a:xfrm>
            <a:off x="8385048" y="4828032"/>
            <a:ext cx="1417320" cy="329184"/>
          </a:xfrm>
          <a:prstGeom prst="rect">
            <a:avLst/>
          </a:prstGeom>
          <a:noFill/>
          <a:ln/>
        </p:spPr>
        <p:txBody>
          <a:bodyPr wrap="square" lIns="0" tIns="0" rIns="0" bIns="0" rtlCol="0" anchor="ctr"/>
          <a:lstStyle/>
          <a:p>
            <a:pPr marL="0" indent="0">
              <a:buNone/>
            </a:pPr>
            <a:r>
              <a:rPr lang="en-US" sz="1050" dirty="0">
                <a:solidFill>
                  <a:srgbClr val="2B2F36"/>
                </a:solidFill>
                <a:latin typeface="Calibri" pitchFamily="34" charset="0"/>
                <a:ea typeface="Calibri" pitchFamily="34" charset="-122"/>
                <a:cs typeface="Calibri" pitchFamily="34" charset="-120"/>
              </a:rPr>
              <a:t>Built on existing tools and formats</a:t>
            </a:r>
            <a:endParaRPr lang="en-US" sz="1050" dirty="0"/>
          </a:p>
        </p:txBody>
      </p:sp>
      <p:pic>
        <p:nvPicPr>
          <p:cNvPr id="613" name="Image 7" descr="preencoded.png"/>
          <p:cNvPicPr>
            <a:picLocks noChangeAspect="1"/>
          </p:cNvPicPr>
          <p:nvPr/>
        </p:nvPicPr>
        <p:blipFill>
          <a:blip r:embed="rId9"/>
          <a:stretch>
            <a:fillRect/>
          </a:stretch>
        </p:blipFill>
        <p:spPr>
          <a:xfrm>
            <a:off x="8156448" y="5266944"/>
            <a:ext cx="155448" cy="155448"/>
          </a:xfrm>
          <a:prstGeom prst="rect">
            <a:avLst/>
          </a:prstGeom>
        </p:spPr>
      </p:pic>
      <p:sp>
        <p:nvSpPr>
          <p:cNvPr id="614" name="Text 104"/>
          <p:cNvSpPr txBox="1"/>
          <p:nvPr/>
        </p:nvSpPr>
        <p:spPr>
          <a:xfrm>
            <a:off x="8385048" y="5193792"/>
            <a:ext cx="1417320" cy="329184"/>
          </a:xfrm>
          <a:prstGeom prst="rect">
            <a:avLst/>
          </a:prstGeom>
          <a:noFill/>
          <a:ln/>
        </p:spPr>
        <p:txBody>
          <a:bodyPr wrap="square" lIns="0" tIns="0" rIns="0" bIns="0" rtlCol="0" anchor="ctr"/>
          <a:lstStyle/>
          <a:p>
            <a:pPr marL="0" indent="0">
              <a:buNone/>
            </a:pPr>
            <a:r>
              <a:rPr lang="en-US" sz="1050" dirty="0">
                <a:solidFill>
                  <a:srgbClr val="2B2F36"/>
                </a:solidFill>
                <a:latin typeface="Calibri" pitchFamily="34" charset="0"/>
                <a:ea typeface="Calibri" pitchFamily="34" charset="-122"/>
                <a:cs typeface="Calibri" pitchFamily="34" charset="-120"/>
              </a:rPr>
              <a:t>Evidence-first; professionals decide</a:t>
            </a:r>
            <a:endParaRPr lang="en-US" sz="1050" dirty="0"/>
          </a:p>
        </p:txBody>
      </p:sp>
      <p:sp>
        <p:nvSpPr>
          <p:cNvPr id="615" name="Text 105"/>
          <p:cNvSpPr txBox="1"/>
          <p:nvPr/>
        </p:nvSpPr>
        <p:spPr>
          <a:xfrm>
            <a:off x="9893808" y="4206240"/>
            <a:ext cx="1645920" cy="182880"/>
          </a:xfrm>
          <a:prstGeom prst="rect">
            <a:avLst/>
          </a:prstGeom>
          <a:noFill/>
          <a:ln/>
        </p:spPr>
        <p:txBody>
          <a:bodyPr wrap="square" lIns="0" tIns="0" rIns="0" bIns="0" rtlCol="0" anchor="t"/>
          <a:lstStyle/>
          <a:p>
            <a:pPr marL="0" indent="0">
              <a:buNone/>
            </a:pPr>
            <a:r>
              <a:rPr lang="en-US" sz="1000" b="1" kern="0" spc="150" dirty="0">
                <a:solidFill>
                  <a:srgbClr val="1F4E96"/>
                </a:solidFill>
                <a:latin typeface="Calibri" pitchFamily="34" charset="0"/>
                <a:ea typeface="Calibri" pitchFamily="34" charset="-122"/>
                <a:cs typeface="Calibri" pitchFamily="34" charset="-120"/>
              </a:rPr>
              <a:t>AERES IS NOT</a:t>
            </a:r>
            <a:endParaRPr lang="en-US" sz="1000" dirty="0"/>
          </a:p>
        </p:txBody>
      </p:sp>
      <p:pic>
        <p:nvPicPr>
          <p:cNvPr id="616" name="Image 8" descr="preencoded.png"/>
          <p:cNvPicPr>
            <a:picLocks noChangeAspect="1"/>
          </p:cNvPicPr>
          <p:nvPr/>
        </p:nvPicPr>
        <p:blipFill>
          <a:blip r:embed="rId10"/>
          <a:stretch>
            <a:fillRect/>
          </a:stretch>
        </p:blipFill>
        <p:spPr>
          <a:xfrm>
            <a:off x="9893808" y="4535424"/>
            <a:ext cx="155448" cy="155448"/>
          </a:xfrm>
          <a:prstGeom prst="rect">
            <a:avLst/>
          </a:prstGeom>
        </p:spPr>
      </p:pic>
      <p:sp>
        <p:nvSpPr>
          <p:cNvPr id="617" name="Text 106"/>
          <p:cNvSpPr txBox="1"/>
          <p:nvPr/>
        </p:nvSpPr>
        <p:spPr>
          <a:xfrm>
            <a:off x="10122408" y="4462272"/>
            <a:ext cx="1417320" cy="329184"/>
          </a:xfrm>
          <a:prstGeom prst="rect">
            <a:avLst/>
          </a:prstGeom>
          <a:noFill/>
          <a:ln/>
        </p:spPr>
        <p:txBody>
          <a:bodyPr wrap="square" lIns="0" tIns="0" rIns="0" bIns="0" rtlCol="0" anchor="ctr"/>
          <a:lstStyle/>
          <a:p>
            <a:pPr marL="0" indent="0">
              <a:buNone/>
            </a:pPr>
            <a:r>
              <a:rPr lang="en-US" sz="1050" dirty="0">
                <a:solidFill>
                  <a:srgbClr val="2B2F36"/>
                </a:solidFill>
                <a:latin typeface="Calibri" pitchFamily="34" charset="0"/>
                <a:ea typeface="Calibri" pitchFamily="34" charset="-122"/>
                <a:cs typeface="Calibri" pitchFamily="34" charset="-120"/>
              </a:rPr>
              <a:t>Another BIM or PM platform</a:t>
            </a:r>
            <a:endParaRPr lang="en-US" sz="1050" dirty="0"/>
          </a:p>
        </p:txBody>
      </p:sp>
      <p:pic>
        <p:nvPicPr>
          <p:cNvPr id="618" name="Image 9" descr="preencoded.png"/>
          <p:cNvPicPr>
            <a:picLocks noChangeAspect="1"/>
          </p:cNvPicPr>
          <p:nvPr/>
        </p:nvPicPr>
        <p:blipFill>
          <a:blip r:embed="rId10"/>
          <a:stretch>
            <a:fillRect/>
          </a:stretch>
        </p:blipFill>
        <p:spPr>
          <a:xfrm>
            <a:off x="9893808" y="4901184"/>
            <a:ext cx="155448" cy="155448"/>
          </a:xfrm>
          <a:prstGeom prst="rect">
            <a:avLst/>
          </a:prstGeom>
        </p:spPr>
      </p:pic>
      <p:sp>
        <p:nvSpPr>
          <p:cNvPr id="619" name="Text 107"/>
          <p:cNvSpPr txBox="1"/>
          <p:nvPr/>
        </p:nvSpPr>
        <p:spPr>
          <a:xfrm>
            <a:off x="10122408" y="4828032"/>
            <a:ext cx="1417320" cy="329184"/>
          </a:xfrm>
          <a:prstGeom prst="rect">
            <a:avLst/>
          </a:prstGeom>
          <a:noFill/>
          <a:ln/>
        </p:spPr>
        <p:txBody>
          <a:bodyPr wrap="square" lIns="0" tIns="0" rIns="0" bIns="0" rtlCol="0" anchor="ctr"/>
          <a:lstStyle/>
          <a:p>
            <a:pPr marL="0" indent="0">
              <a:buNone/>
            </a:pPr>
            <a:r>
              <a:rPr lang="en-US" sz="1050" dirty="0">
                <a:solidFill>
                  <a:srgbClr val="2B2F36"/>
                </a:solidFill>
                <a:latin typeface="Calibri" pitchFamily="34" charset="0"/>
                <a:ea typeface="Calibri" pitchFamily="34" charset="-122"/>
                <a:cs typeface="Calibri" pitchFamily="34" charset="-120"/>
              </a:rPr>
              <a:t>A Primavera or Revit replacement</a:t>
            </a:r>
            <a:endParaRPr lang="en-US" sz="1050" dirty="0"/>
          </a:p>
        </p:txBody>
      </p:sp>
      <p:pic>
        <p:nvPicPr>
          <p:cNvPr id="620" name="Image 10" descr="preencoded.png"/>
          <p:cNvPicPr>
            <a:picLocks noChangeAspect="1"/>
          </p:cNvPicPr>
          <p:nvPr/>
        </p:nvPicPr>
        <p:blipFill>
          <a:blip r:embed="rId10"/>
          <a:stretch>
            <a:fillRect/>
          </a:stretch>
        </p:blipFill>
        <p:spPr>
          <a:xfrm>
            <a:off x="9893808" y="5266944"/>
            <a:ext cx="155448" cy="155448"/>
          </a:xfrm>
          <a:prstGeom prst="rect">
            <a:avLst/>
          </a:prstGeom>
        </p:spPr>
      </p:pic>
      <p:sp>
        <p:nvSpPr>
          <p:cNvPr id="621" name="Text 108"/>
          <p:cNvSpPr txBox="1"/>
          <p:nvPr/>
        </p:nvSpPr>
        <p:spPr>
          <a:xfrm>
            <a:off x="10122408" y="5193792"/>
            <a:ext cx="1417320" cy="329184"/>
          </a:xfrm>
          <a:prstGeom prst="rect">
            <a:avLst/>
          </a:prstGeom>
          <a:noFill/>
          <a:ln/>
        </p:spPr>
        <p:txBody>
          <a:bodyPr wrap="square" lIns="0" tIns="0" rIns="0" bIns="0" rtlCol="0" anchor="ctr"/>
          <a:lstStyle/>
          <a:p>
            <a:pPr marL="0" indent="0">
              <a:buNone/>
            </a:pPr>
            <a:r>
              <a:rPr lang="en-US" sz="1050" dirty="0">
                <a:solidFill>
                  <a:srgbClr val="2B2F36"/>
                </a:solidFill>
                <a:latin typeface="Calibri" pitchFamily="34" charset="0"/>
                <a:ea typeface="Calibri" pitchFamily="34" charset="-122"/>
                <a:cs typeface="Calibri" pitchFamily="34" charset="-120"/>
              </a:rPr>
              <a:t>A generic AI chatbot</a:t>
            </a:r>
            <a:endParaRPr lang="en-US" sz="1050" dirty="0"/>
          </a:p>
        </p:txBody>
      </p:sp>
      <p:sp>
        <p:nvSpPr>
          <p:cNvPr id="622" name="Text 109"/>
          <p:cNvSpPr txBox="1"/>
          <p:nvPr/>
        </p:nvSpPr>
        <p:spPr>
          <a:xfrm>
            <a:off x="8156448" y="5559552"/>
            <a:ext cx="3383280" cy="310896"/>
          </a:xfrm>
          <a:prstGeom prst="rect">
            <a:avLst/>
          </a:prstGeom>
          <a:noFill/>
          <a:ln/>
        </p:spPr>
        <p:txBody>
          <a:bodyPr wrap="square" lIns="0" tIns="0" rIns="0" bIns="0" rtlCol="0" anchor="t"/>
          <a:lstStyle/>
          <a:p>
            <a:pPr marL="0" indent="0">
              <a:buNone/>
            </a:pPr>
            <a:r>
              <a:rPr lang="en-US" sz="1050" b="1" i="1" dirty="0">
                <a:solidFill>
                  <a:srgbClr val="1F4E96"/>
                </a:solidFill>
                <a:latin typeface="Calibri" pitchFamily="34" charset="0"/>
                <a:ea typeface="Calibri" pitchFamily="34" charset="-122"/>
                <a:cs typeface="Calibri" pitchFamily="34" charset="-120"/>
              </a:rPr>
              <a:t>Wedge: messy field evidence to reviewable actuals</a:t>
            </a:r>
            <a:endParaRPr lang="en-US" sz="1050" dirty="0"/>
          </a:p>
        </p:txBody>
      </p:sp>
      <p:sp>
        <p:nvSpPr>
          <p:cNvPr id="623" name="Text 110"/>
          <p:cNvSpPr txBox="1"/>
          <p:nvPr/>
        </p:nvSpPr>
        <p:spPr>
          <a:xfrm>
            <a:off x="548640" y="6016752"/>
            <a:ext cx="11064240" cy="182880"/>
          </a:xfrm>
          <a:prstGeom prst="rect">
            <a:avLst/>
          </a:prstGeom>
          <a:noFill/>
          <a:ln/>
        </p:spPr>
        <p:txBody>
          <a:bodyPr wrap="square" lIns="0" tIns="0" rIns="0" bIns="0" rtlCol="0" anchor="t"/>
          <a:lstStyle/>
          <a:p>
            <a:pPr marL="0" indent="0">
              <a:buNone/>
            </a:pPr>
            <a:endParaRPr lang="en-US" sz="1000" dirty="0"/>
          </a:p>
        </p:txBody>
      </p:sp>
      <p:sp>
        <p:nvSpPr>
          <p:cNvPr id="6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482"/>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60120"/>
          </a:xfrm>
          <a:prstGeom prst="rect">
            <a:avLst/>
          </a:prstGeom>
          <a:noFill/>
          <a:ln/>
        </p:spPr>
        <p:txBody>
          <a:bodyPr wrap="square" lIns="0" tIns="0" rIns="0" bIns="0" rtlCol="0" anchor="t"/>
          <a:lstStyle/>
          <a:p>
            <a:pPr marL="0" indent="0" algn="l">
              <a:buNone/>
            </a:pPr>
            <a:r>
              <a:rPr lang="en-US" sz="3000" b="1" dirty="0">
                <a:solidFill>
                  <a:srgbClr val="0B1F3A"/>
                </a:solidFill>
                <a:latin typeface="Calibri" pitchFamily="34" charset="0"/>
                <a:ea typeface="Calibri" pitchFamily="34" charset="-122"/>
                <a:cs typeface="Calibri" pitchFamily="34" charset="-120"/>
              </a:rPr>
              <a:t>A staged path from concept to professional validation, gated by evidence</a:t>
            </a:r>
            <a:endParaRPr lang="en-US" sz="3000" dirty="0"/>
          </a:p>
        </p:txBody>
      </p:sp>
      <p:sp>
        <p:nvSpPr>
          <p:cNvPr id="3" name="Shape 1"/>
          <p:cNvSpPr/>
          <p:nvPr/>
        </p:nvSpPr>
        <p:spPr>
          <a:xfrm>
            <a:off x="548640" y="1600200"/>
            <a:ext cx="2743200" cy="868680"/>
          </a:xfrm>
          <a:prstGeom prst="homePlate">
            <a:avLst/>
          </a:prstGeom>
          <a:solidFill>
            <a:srgbClr val="0B1F3A"/>
          </a:solidFill>
          <a:ln w="12700">
            <a:solidFill>
              <a:srgbClr val="0B1F3A"/>
            </a:solidFill>
            <a:prstDash val="solid"/>
          </a:ln>
        </p:spPr>
      </p:sp>
      <p:sp>
        <p:nvSpPr>
          <p:cNvPr id="4" name="Text 2"/>
          <p:cNvSpPr txBox="1"/>
          <p:nvPr/>
        </p:nvSpPr>
        <p:spPr>
          <a:xfrm>
            <a:off x="731520" y="1600200"/>
            <a:ext cx="365760" cy="868680"/>
          </a:xfrm>
          <a:prstGeom prst="rect">
            <a:avLst/>
          </a:prstGeom>
          <a:noFill/>
          <a:ln/>
        </p:spPr>
        <p:txBody>
          <a:bodyPr wrap="square" lIns="0" tIns="0" rIns="0" bIns="0" rtlCol="0" anchor="ctr"/>
          <a:lstStyle/>
          <a:p>
            <a:pPr marL="0" indent="0">
              <a:buNone/>
            </a:pPr>
            <a:r>
              <a:rPr lang="en-US" sz="2600" b="1" dirty="0">
                <a:solidFill>
                  <a:srgbClr val="C9D9F5"/>
                </a:solidFill>
                <a:latin typeface="Calibri" pitchFamily="34" charset="0"/>
                <a:ea typeface="Calibri" pitchFamily="34" charset="-122"/>
                <a:cs typeface="Calibri" pitchFamily="34" charset="-120"/>
              </a:rPr>
              <a:t>1</a:t>
            </a:r>
            <a:endParaRPr lang="en-US" sz="2600" dirty="0"/>
          </a:p>
        </p:txBody>
      </p:sp>
      <p:sp>
        <p:nvSpPr>
          <p:cNvPr id="5" name="Text 3"/>
          <p:cNvSpPr txBox="1"/>
          <p:nvPr/>
        </p:nvSpPr>
        <p:spPr>
          <a:xfrm>
            <a:off x="1143000" y="1600200"/>
            <a:ext cx="1828800" cy="8686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Validate the problem</a:t>
            </a:r>
            <a:endParaRPr lang="en-US" sz="1500" dirty="0"/>
          </a:p>
        </p:txBody>
      </p:sp>
      <p:sp>
        <p:nvSpPr>
          <p:cNvPr id="6" name="Text 4"/>
          <p:cNvSpPr txBox="1"/>
          <p:nvPr/>
        </p:nvSpPr>
        <p:spPr>
          <a:xfrm>
            <a:off x="640080" y="2697480"/>
            <a:ext cx="256032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F36"/>
                </a:solidFill>
                <a:latin typeface="Calibri" pitchFamily="34" charset="0"/>
                <a:ea typeface="Calibri" pitchFamily="34" charset="-122"/>
                <a:cs typeface="Calibri" pitchFamily="34" charset="-120"/>
              </a:rPr>
              <a:t>Engage AEC professionals</a:t>
            </a:r>
            <a:endParaRPr lang="en-US" sz="1400" dirty="0"/>
          </a:p>
          <a:p>
            <a:pPr marL="342900" indent="-342900">
              <a:spcAft>
                <a:spcPts val="400"/>
              </a:spcAft>
              <a:buSzPct val="100000"/>
              <a:buChar char="•"/>
            </a:pPr>
            <a:r>
              <a:rPr lang="en-US" sz="1400" dirty="0">
                <a:solidFill>
                  <a:srgbClr val="2B2F36"/>
                </a:solidFill>
                <a:latin typeface="Calibri" pitchFamily="34" charset="0"/>
                <a:ea typeface="Calibri" pitchFamily="34" charset="-122"/>
                <a:cs typeface="Calibri" pitchFamily="34" charset="-120"/>
              </a:rPr>
              <a:t>Examine real project artifacts</a:t>
            </a:r>
            <a:endParaRPr lang="en-US" sz="1400" dirty="0"/>
          </a:p>
          <a:p>
            <a:pPr marL="342900" indent="-342900">
              <a:spcAft>
                <a:spcPts val="400"/>
              </a:spcAft>
              <a:buSzPct val="100000"/>
              <a:buChar char="•"/>
            </a:pPr>
            <a:r>
              <a:rPr lang="en-US" sz="1400" dirty="0">
                <a:solidFill>
                  <a:srgbClr val="2B2F36"/>
                </a:solidFill>
                <a:latin typeface="Calibri" pitchFamily="34" charset="0"/>
                <a:ea typeface="Calibri" pitchFamily="34" charset="-122"/>
                <a:cs typeface="Calibri" pitchFamily="34" charset="-120"/>
              </a:rPr>
              <a:t>Pick a high-value workflow</a:t>
            </a:r>
            <a:endParaRPr lang="en-US" sz="1400" dirty="0"/>
          </a:p>
        </p:txBody>
      </p:sp>
      <p:sp>
        <p:nvSpPr>
          <p:cNvPr id="7" name="Shape 5"/>
          <p:cNvSpPr/>
          <p:nvPr/>
        </p:nvSpPr>
        <p:spPr>
          <a:xfrm>
            <a:off x="3337560" y="1600200"/>
            <a:ext cx="2743200" cy="868680"/>
          </a:xfrm>
          <a:prstGeom prst="homePlate">
            <a:avLst/>
          </a:prstGeom>
          <a:solidFill>
            <a:srgbClr val="1F4E96"/>
          </a:solidFill>
          <a:ln w="12700">
            <a:solidFill>
              <a:srgbClr val="1F4E96"/>
            </a:solidFill>
            <a:prstDash val="solid"/>
          </a:ln>
        </p:spPr>
      </p:sp>
      <p:sp>
        <p:nvSpPr>
          <p:cNvPr id="8" name="Text 6"/>
          <p:cNvSpPr txBox="1"/>
          <p:nvPr/>
        </p:nvSpPr>
        <p:spPr>
          <a:xfrm>
            <a:off x="3520440" y="1600200"/>
            <a:ext cx="365760" cy="868680"/>
          </a:xfrm>
          <a:prstGeom prst="rect">
            <a:avLst/>
          </a:prstGeom>
          <a:noFill/>
          <a:ln/>
        </p:spPr>
        <p:txBody>
          <a:bodyPr wrap="square" lIns="0" tIns="0" rIns="0" bIns="0" rtlCol="0" anchor="ctr"/>
          <a:lstStyle/>
          <a:p>
            <a:pPr marL="0" indent="0">
              <a:buNone/>
            </a:pPr>
            <a:r>
              <a:rPr lang="en-US" sz="2600" b="1" dirty="0">
                <a:solidFill>
                  <a:srgbClr val="C9D9F5"/>
                </a:solidFill>
                <a:latin typeface="Calibri" pitchFamily="34" charset="0"/>
                <a:ea typeface="Calibri" pitchFamily="34" charset="-122"/>
                <a:cs typeface="Calibri" pitchFamily="34" charset="-120"/>
              </a:rPr>
              <a:t>2</a:t>
            </a:r>
            <a:endParaRPr lang="en-US" sz="2600" dirty="0"/>
          </a:p>
        </p:txBody>
      </p:sp>
      <p:sp>
        <p:nvSpPr>
          <p:cNvPr id="9" name="Text 7"/>
          <p:cNvSpPr txBox="1"/>
          <p:nvPr/>
        </p:nvSpPr>
        <p:spPr>
          <a:xfrm>
            <a:off x="3931920" y="1600200"/>
            <a:ext cx="1828800" cy="8686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Build a bounded proof of concept</a:t>
            </a:r>
            <a:endParaRPr lang="en-US" sz="1500" dirty="0"/>
          </a:p>
        </p:txBody>
      </p:sp>
      <p:sp>
        <p:nvSpPr>
          <p:cNvPr id="10" name="Text 8"/>
          <p:cNvSpPr txBox="1"/>
          <p:nvPr/>
        </p:nvSpPr>
        <p:spPr>
          <a:xfrm>
            <a:off x="3429000" y="2697480"/>
            <a:ext cx="256032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F36"/>
                </a:solidFill>
                <a:latin typeface="Calibri" pitchFamily="34" charset="0"/>
                <a:ea typeface="Calibri" pitchFamily="34" charset="-122"/>
                <a:cs typeface="Calibri" pitchFamily="34" charset="-120"/>
              </a:rPr>
              <a:t>Selected inputs only</a:t>
            </a:r>
            <a:endParaRPr lang="en-US" sz="1400" dirty="0"/>
          </a:p>
          <a:p>
            <a:pPr marL="342900" indent="-342900">
              <a:spcAft>
                <a:spcPts val="400"/>
              </a:spcAft>
              <a:buSzPct val="100000"/>
              <a:buChar char="•"/>
            </a:pPr>
            <a:r>
              <a:rPr lang="en-US" sz="1400" dirty="0">
                <a:solidFill>
                  <a:srgbClr val="2B2F36"/>
                </a:solidFill>
                <a:latin typeface="Calibri" pitchFamily="34" charset="0"/>
                <a:ea typeface="Calibri" pitchFamily="34" charset="-122"/>
                <a:cs typeface="Calibri" pitchFamily="34" charset="-120"/>
              </a:rPr>
              <a:t>Limited structured representation</a:t>
            </a:r>
            <a:endParaRPr lang="en-US" sz="1400" dirty="0"/>
          </a:p>
          <a:p>
            <a:pPr marL="342900" indent="-342900">
              <a:spcAft>
                <a:spcPts val="400"/>
              </a:spcAft>
              <a:buSzPct val="100000"/>
              <a:buChar char="•"/>
            </a:pPr>
            <a:r>
              <a:rPr lang="en-US" sz="1400" dirty="0">
                <a:solidFill>
                  <a:srgbClr val="2B2F36"/>
                </a:solidFill>
                <a:latin typeface="Calibri" pitchFamily="34" charset="0"/>
                <a:ea typeface="Calibri" pitchFamily="34" charset="-122"/>
                <a:cs typeface="Calibri" pitchFamily="34" charset="-120"/>
              </a:rPr>
              <a:t>One reasoning workflow, evidence-linked</a:t>
            </a:r>
            <a:endParaRPr lang="en-US" sz="1400" dirty="0"/>
          </a:p>
        </p:txBody>
      </p:sp>
      <p:sp>
        <p:nvSpPr>
          <p:cNvPr id="11" name="Shape 9"/>
          <p:cNvSpPr/>
          <p:nvPr/>
        </p:nvSpPr>
        <p:spPr>
          <a:xfrm>
            <a:off x="6126480" y="1600200"/>
            <a:ext cx="2743200" cy="868680"/>
          </a:xfrm>
          <a:prstGeom prst="homePlate">
            <a:avLst/>
          </a:prstGeom>
          <a:solidFill>
            <a:srgbClr val="2F6FDB"/>
          </a:solidFill>
          <a:ln w="12700">
            <a:solidFill>
              <a:srgbClr val="2F6FDB"/>
            </a:solidFill>
            <a:prstDash val="solid"/>
          </a:ln>
        </p:spPr>
      </p:sp>
      <p:sp>
        <p:nvSpPr>
          <p:cNvPr id="12" name="Text 10"/>
          <p:cNvSpPr txBox="1"/>
          <p:nvPr/>
        </p:nvSpPr>
        <p:spPr>
          <a:xfrm>
            <a:off x="6309360" y="1600200"/>
            <a:ext cx="365760" cy="868680"/>
          </a:xfrm>
          <a:prstGeom prst="rect">
            <a:avLst/>
          </a:prstGeom>
          <a:noFill/>
          <a:ln/>
        </p:spPr>
        <p:txBody>
          <a:bodyPr wrap="square" lIns="0" tIns="0" rIns="0" bIns="0" rtlCol="0" anchor="ctr"/>
          <a:lstStyle/>
          <a:p>
            <a:pPr marL="0" indent="0">
              <a:buNone/>
            </a:pPr>
            <a:r>
              <a:rPr lang="en-US" sz="2600" b="1" dirty="0">
                <a:solidFill>
                  <a:srgbClr val="C9D9F5"/>
                </a:solidFill>
                <a:latin typeface="Calibri" pitchFamily="34" charset="0"/>
                <a:ea typeface="Calibri" pitchFamily="34" charset="-122"/>
                <a:cs typeface="Calibri" pitchFamily="34" charset="-120"/>
              </a:rPr>
              <a:t>3</a:t>
            </a:r>
            <a:endParaRPr lang="en-US" sz="2600" dirty="0"/>
          </a:p>
        </p:txBody>
      </p:sp>
      <p:sp>
        <p:nvSpPr>
          <p:cNvPr id="13" name="Text 11"/>
          <p:cNvSpPr txBox="1"/>
          <p:nvPr/>
        </p:nvSpPr>
        <p:spPr>
          <a:xfrm>
            <a:off x="6720840" y="1600200"/>
            <a:ext cx="1828800" cy="8686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Test with professionals</a:t>
            </a:r>
            <a:endParaRPr lang="en-US" sz="1500" dirty="0"/>
          </a:p>
        </p:txBody>
      </p:sp>
      <p:sp>
        <p:nvSpPr>
          <p:cNvPr id="14" name="Text 12"/>
          <p:cNvSpPr txBox="1"/>
          <p:nvPr/>
        </p:nvSpPr>
        <p:spPr>
          <a:xfrm>
            <a:off x="6217920" y="2697480"/>
            <a:ext cx="256032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F36"/>
                </a:solidFill>
                <a:latin typeface="Calibri" pitchFamily="34" charset="0"/>
                <a:ea typeface="Calibri" pitchFamily="34" charset="-122"/>
                <a:cs typeface="Calibri" pitchFamily="34" charset="-120"/>
              </a:rPr>
              <a:t>Accuracy and usefulness</a:t>
            </a:r>
            <a:endParaRPr lang="en-US" sz="1400" dirty="0"/>
          </a:p>
          <a:p>
            <a:pPr marL="342900" indent="-342900">
              <a:spcAft>
                <a:spcPts val="400"/>
              </a:spcAft>
              <a:buSzPct val="100000"/>
              <a:buChar char="•"/>
            </a:pPr>
            <a:r>
              <a:rPr lang="en-US" sz="1400" dirty="0">
                <a:solidFill>
                  <a:srgbClr val="2B2F36"/>
                </a:solidFill>
                <a:latin typeface="Calibri" pitchFamily="34" charset="0"/>
                <a:ea typeface="Calibri" pitchFamily="34" charset="-122"/>
                <a:cs typeface="Calibri" pitchFamily="34" charset="-120"/>
              </a:rPr>
              <a:t>False positives, review time</a:t>
            </a:r>
            <a:endParaRPr lang="en-US" sz="1400" dirty="0"/>
          </a:p>
          <a:p>
            <a:pPr marL="342900" indent="-342900">
              <a:spcAft>
                <a:spcPts val="400"/>
              </a:spcAft>
              <a:buSzPct val="100000"/>
              <a:buChar char="•"/>
            </a:pPr>
            <a:r>
              <a:rPr lang="en-US" sz="1400" dirty="0">
                <a:solidFill>
                  <a:srgbClr val="2B2F36"/>
                </a:solidFill>
                <a:latin typeface="Calibri" pitchFamily="34" charset="0"/>
                <a:ea typeface="Calibri" pitchFamily="34" charset="-122"/>
                <a:cs typeface="Calibri" pitchFamily="34" charset="-120"/>
              </a:rPr>
              <a:t>Reproducibility on real data</a:t>
            </a:r>
            <a:endParaRPr lang="en-US" sz="1400" dirty="0"/>
          </a:p>
        </p:txBody>
      </p:sp>
      <p:sp>
        <p:nvSpPr>
          <p:cNvPr id="15" name="Shape 13"/>
          <p:cNvSpPr/>
          <p:nvPr/>
        </p:nvSpPr>
        <p:spPr>
          <a:xfrm>
            <a:off x="8915400" y="1600200"/>
            <a:ext cx="2743200" cy="868680"/>
          </a:xfrm>
          <a:prstGeom prst="homePlate">
            <a:avLst/>
          </a:prstGeom>
          <a:solidFill>
            <a:srgbClr val="5A8FE6"/>
          </a:solidFill>
          <a:ln w="12700">
            <a:solidFill>
              <a:srgbClr val="5A8FE6"/>
            </a:solidFill>
            <a:prstDash val="solid"/>
          </a:ln>
        </p:spPr>
      </p:sp>
      <p:sp>
        <p:nvSpPr>
          <p:cNvPr id="16" name="Text 14"/>
          <p:cNvSpPr txBox="1"/>
          <p:nvPr/>
        </p:nvSpPr>
        <p:spPr>
          <a:xfrm>
            <a:off x="9098280" y="1600200"/>
            <a:ext cx="365760" cy="868680"/>
          </a:xfrm>
          <a:prstGeom prst="rect">
            <a:avLst/>
          </a:prstGeom>
          <a:noFill/>
          <a:ln/>
        </p:spPr>
        <p:txBody>
          <a:bodyPr wrap="square" lIns="0" tIns="0" rIns="0" bIns="0" rtlCol="0" anchor="ctr"/>
          <a:lstStyle/>
          <a:p>
            <a:pPr marL="0" indent="0">
              <a:buNone/>
            </a:pPr>
            <a:r>
              <a:rPr lang="en-US" sz="2600" b="1" dirty="0">
                <a:solidFill>
                  <a:srgbClr val="C9D9F5"/>
                </a:solidFill>
                <a:latin typeface="Calibri" pitchFamily="34" charset="0"/>
                <a:ea typeface="Calibri" pitchFamily="34" charset="-122"/>
                <a:cs typeface="Calibri" pitchFamily="34" charset="-120"/>
              </a:rPr>
              <a:t>4</a:t>
            </a:r>
            <a:endParaRPr lang="en-US" sz="2600" dirty="0"/>
          </a:p>
        </p:txBody>
      </p:sp>
      <p:sp>
        <p:nvSpPr>
          <p:cNvPr id="17" name="Text 15"/>
          <p:cNvSpPr txBox="1"/>
          <p:nvPr/>
        </p:nvSpPr>
        <p:spPr>
          <a:xfrm>
            <a:off x="9509760" y="1600200"/>
            <a:ext cx="1828800" cy="8686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Expand carefully</a:t>
            </a:r>
            <a:endParaRPr lang="en-US" sz="1500" dirty="0"/>
          </a:p>
        </p:txBody>
      </p:sp>
      <p:sp>
        <p:nvSpPr>
          <p:cNvPr id="18" name="Text 16"/>
          <p:cNvSpPr txBox="1"/>
          <p:nvPr/>
        </p:nvSpPr>
        <p:spPr>
          <a:xfrm>
            <a:off x="9006840" y="2697480"/>
            <a:ext cx="256032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F36"/>
                </a:solidFill>
                <a:latin typeface="Calibri" pitchFamily="34" charset="0"/>
                <a:ea typeface="Calibri" pitchFamily="34" charset="-122"/>
                <a:cs typeface="Calibri" pitchFamily="34" charset="-120"/>
              </a:rPr>
              <a:t>More sources and disciplines</a:t>
            </a:r>
            <a:endParaRPr lang="en-US" sz="1400" dirty="0"/>
          </a:p>
          <a:p>
            <a:pPr marL="342900" indent="-342900">
              <a:spcAft>
                <a:spcPts val="400"/>
              </a:spcAft>
              <a:buSzPct val="100000"/>
              <a:buChar char="•"/>
            </a:pPr>
            <a:r>
              <a:rPr lang="en-US" sz="1400" dirty="0">
                <a:solidFill>
                  <a:srgbClr val="2B2F36"/>
                </a:solidFill>
                <a:latin typeface="Calibri" pitchFamily="34" charset="0"/>
                <a:ea typeface="Calibri" pitchFamily="34" charset="-122"/>
                <a:cs typeface="Calibri" pitchFamily="34" charset="-120"/>
              </a:rPr>
              <a:t>Integrations</a:t>
            </a:r>
            <a:endParaRPr lang="en-US" sz="1400" dirty="0"/>
          </a:p>
          <a:p>
            <a:pPr marL="342900" indent="-342900">
              <a:spcAft>
                <a:spcPts val="400"/>
              </a:spcAft>
              <a:buSzPct val="100000"/>
              <a:buChar char="•"/>
            </a:pPr>
            <a:r>
              <a:rPr lang="en-US" sz="1400" dirty="0">
                <a:solidFill>
                  <a:srgbClr val="2B2F36"/>
                </a:solidFill>
                <a:latin typeface="Calibri" pitchFamily="34" charset="0"/>
                <a:ea typeface="Calibri" pitchFamily="34" charset="-122"/>
                <a:cs typeface="Calibri" pitchFamily="34" charset="-120"/>
              </a:rPr>
              <a:t>Change-aware reasoning, as evidence justifies</a:t>
            </a:r>
            <a:endParaRPr lang="en-US" sz="1400" dirty="0"/>
          </a:p>
        </p:txBody>
      </p:sp>
      <p:sp>
        <p:nvSpPr>
          <p:cNvPr id="19" name="Shape 17"/>
          <p:cNvSpPr/>
          <p:nvPr/>
        </p:nvSpPr>
        <p:spPr>
          <a:xfrm>
            <a:off x="3337560" y="4069080"/>
            <a:ext cx="2651760" cy="457200"/>
          </a:xfrm>
          <a:prstGeom prst="rect">
            <a:avLst/>
          </a:prstGeom>
          <a:solidFill>
            <a:srgbClr val="E8EFFA"/>
          </a:solidFill>
          <a:ln w="12700">
            <a:solidFill>
              <a:srgbClr val="2F6FDB"/>
            </a:solidFill>
            <a:prstDash val="solid"/>
          </a:ln>
        </p:spPr>
      </p:sp>
      <p:sp>
        <p:nvSpPr>
          <p:cNvPr id="20" name="Text 18"/>
          <p:cNvSpPr txBox="1"/>
          <p:nvPr/>
        </p:nvSpPr>
        <p:spPr>
          <a:xfrm>
            <a:off x="3383280" y="4069080"/>
            <a:ext cx="2560320" cy="457200"/>
          </a:xfrm>
          <a:prstGeom prst="rect">
            <a:avLst/>
          </a:prstGeom>
          <a:noFill/>
          <a:ln/>
        </p:spPr>
        <p:txBody>
          <a:bodyPr wrap="square" lIns="0" tIns="0" rIns="0" bIns="0" rtlCol="0" anchor="ctr"/>
          <a:lstStyle/>
          <a:p>
            <a:pPr marL="0" indent="0" algn="ctr">
              <a:buNone/>
            </a:pPr>
            <a:r>
              <a:rPr lang="en-US" sz="1100" dirty="0">
                <a:solidFill>
                  <a:srgbClr val="0B1F3A"/>
                </a:solidFill>
                <a:latin typeface="Calibri" pitchFamily="34" charset="0"/>
                <a:ea typeface="Calibri" pitchFamily="34" charset="-122"/>
                <a:cs typeface="Calibri" pitchFamily="34" charset="-120"/>
              </a:rPr>
              <a:t>Candidate first workflow: execution intelligence (AERES V2)</a:t>
            </a:r>
            <a:endParaRPr lang="en-US" sz="1100" dirty="0"/>
          </a:p>
        </p:txBody>
      </p:sp>
      <p:sp>
        <p:nvSpPr>
          <p:cNvPr id="21" name="Text 19"/>
          <p:cNvSpPr txBox="1"/>
          <p:nvPr/>
        </p:nvSpPr>
        <p:spPr>
          <a:xfrm>
            <a:off x="548640" y="4754880"/>
            <a:ext cx="4572000" cy="274320"/>
          </a:xfrm>
          <a:prstGeom prst="rect">
            <a:avLst/>
          </a:prstGeom>
          <a:noFill/>
          <a:ln/>
        </p:spPr>
        <p:txBody>
          <a:bodyPr wrap="square" lIns="0" tIns="0" rIns="0" bIns="0" rtlCol="0" anchor="t"/>
          <a:lstStyle/>
          <a:p>
            <a:pPr marL="0" indent="0">
              <a:buNone/>
            </a:pPr>
            <a:r>
              <a:rPr lang="en-US" sz="1200" b="1" kern="0" spc="200" dirty="0">
                <a:solidFill>
                  <a:srgbClr val="6B7482"/>
                </a:solidFill>
                <a:latin typeface="Calibri" pitchFamily="34" charset="0"/>
                <a:ea typeface="Calibri" pitchFamily="34" charset="-122"/>
                <a:cs typeface="Calibri" pitchFamily="34" charset="-120"/>
              </a:rPr>
              <a:t>HARD PROBLEMS WE EXPECT</a:t>
            </a:r>
            <a:endParaRPr lang="en-US" sz="1200" dirty="0"/>
          </a:p>
        </p:txBody>
      </p:sp>
      <p:sp>
        <p:nvSpPr>
          <p:cNvPr id="22" name="Shape 20"/>
          <p:cNvSpPr/>
          <p:nvPr/>
        </p:nvSpPr>
        <p:spPr>
          <a:xfrm>
            <a:off x="548640" y="5074920"/>
            <a:ext cx="2651760" cy="731520"/>
          </a:xfrm>
          <a:prstGeom prst="rect">
            <a:avLst/>
          </a:prstGeom>
          <a:solidFill>
            <a:srgbClr val="FFFFFF"/>
          </a:solidFill>
          <a:ln w="12700">
            <a:solidFill>
              <a:srgbClr val="D3D8E0"/>
            </a:solidFill>
            <a:prstDash val="solid"/>
          </a:ln>
        </p:spPr>
      </p:sp>
      <p:sp>
        <p:nvSpPr>
          <p:cNvPr id="23" name="Text 21"/>
          <p:cNvSpPr txBox="1"/>
          <p:nvPr/>
        </p:nvSpPr>
        <p:spPr>
          <a:xfrm>
            <a:off x="685800" y="5074920"/>
            <a:ext cx="2377440" cy="7315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Cross-source entity resolution</a:t>
            </a:r>
            <a:endParaRPr lang="en-US" sz="1400" dirty="0"/>
          </a:p>
        </p:txBody>
      </p:sp>
      <p:sp>
        <p:nvSpPr>
          <p:cNvPr id="24" name="Shape 22"/>
          <p:cNvSpPr/>
          <p:nvPr/>
        </p:nvSpPr>
        <p:spPr>
          <a:xfrm>
            <a:off x="3337560" y="5074920"/>
            <a:ext cx="2651760" cy="731520"/>
          </a:xfrm>
          <a:prstGeom prst="rect">
            <a:avLst/>
          </a:prstGeom>
          <a:solidFill>
            <a:srgbClr val="FFFFFF"/>
          </a:solidFill>
          <a:ln w="12700">
            <a:solidFill>
              <a:srgbClr val="D3D8E0"/>
            </a:solidFill>
            <a:prstDash val="solid"/>
          </a:ln>
        </p:spPr>
      </p:sp>
      <p:sp>
        <p:nvSpPr>
          <p:cNvPr id="25" name="Text 23"/>
          <p:cNvSpPr txBox="1"/>
          <p:nvPr/>
        </p:nvSpPr>
        <p:spPr>
          <a:xfrm>
            <a:off x="3474720" y="5074920"/>
            <a:ext cx="2377440" cy="7315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Contradictory and revised documents</a:t>
            </a:r>
            <a:endParaRPr lang="en-US" sz="1400" dirty="0"/>
          </a:p>
        </p:txBody>
      </p:sp>
      <p:sp>
        <p:nvSpPr>
          <p:cNvPr id="26" name="Shape 24"/>
          <p:cNvSpPr/>
          <p:nvPr/>
        </p:nvSpPr>
        <p:spPr>
          <a:xfrm>
            <a:off x="6126480" y="5074920"/>
            <a:ext cx="2651760" cy="731520"/>
          </a:xfrm>
          <a:prstGeom prst="rect">
            <a:avLst/>
          </a:prstGeom>
          <a:solidFill>
            <a:srgbClr val="FFFFFF"/>
          </a:solidFill>
          <a:ln w="12700">
            <a:solidFill>
              <a:srgbClr val="D3D8E0"/>
            </a:solidFill>
            <a:prstDash val="solid"/>
          </a:ln>
        </p:spPr>
      </p:sp>
      <p:sp>
        <p:nvSpPr>
          <p:cNvPr id="27" name="Text 25"/>
          <p:cNvSpPr txBox="1"/>
          <p:nvPr/>
        </p:nvSpPr>
        <p:spPr>
          <a:xfrm>
            <a:off x="6263640" y="5074920"/>
            <a:ext cx="2377440" cy="7315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Geometry and engineering validation</a:t>
            </a:r>
            <a:endParaRPr lang="en-US" sz="1400" dirty="0"/>
          </a:p>
        </p:txBody>
      </p:sp>
      <p:sp>
        <p:nvSpPr>
          <p:cNvPr id="28" name="Shape 26"/>
          <p:cNvSpPr/>
          <p:nvPr/>
        </p:nvSpPr>
        <p:spPr>
          <a:xfrm>
            <a:off x="8915400" y="5074920"/>
            <a:ext cx="2651760" cy="731520"/>
          </a:xfrm>
          <a:prstGeom prst="rect">
            <a:avLst/>
          </a:prstGeom>
          <a:solidFill>
            <a:srgbClr val="FFFFFF"/>
          </a:solidFill>
          <a:ln w="12700">
            <a:solidFill>
              <a:srgbClr val="D3D8E0"/>
            </a:solidFill>
            <a:prstDash val="solid"/>
          </a:ln>
        </p:spPr>
      </p:sp>
      <p:sp>
        <p:nvSpPr>
          <p:cNvPr id="29" name="Text 27"/>
          <p:cNvSpPr txBox="1"/>
          <p:nvPr/>
        </p:nvSpPr>
        <p:spPr>
          <a:xfrm>
            <a:off x="9052560" y="5074920"/>
            <a:ext cx="2377440" cy="73152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Plausible but wrong outputs</a:t>
            </a:r>
            <a:endParaRPr lang="en-US" sz="1400" dirty="0"/>
          </a:p>
        </p:txBody>
      </p:sp>
      <p:sp>
        <p:nvSpPr>
          <p:cNvPr id="30" name="Text 28"/>
          <p:cNvSpPr txBox="1"/>
          <p:nvPr/>
        </p:nvSpPr>
        <p:spPr>
          <a:xfrm>
            <a:off x="548640" y="6035040"/>
            <a:ext cx="11064240" cy="256032"/>
          </a:xfrm>
          <a:prstGeom prst="rect">
            <a:avLst/>
          </a:prstGeom>
          <a:noFill/>
          <a:ln/>
        </p:spPr>
        <p:txBody>
          <a:bodyPr wrap="square" lIns="0" tIns="0" rIns="0" bIns="0" rtlCol="0" anchor="t"/>
          <a:lstStyle/>
          <a:p>
            <a:pPr marL="0" indent="0">
              <a:buNone/>
            </a:pPr>
            <a:r>
              <a:rPr lang="en-US" sz="1000" dirty="0">
                <a:solidFill>
                  <a:srgbClr val="6B7482"/>
                </a:solidFill>
                <a:latin typeface="Calibri" pitchFamily="34" charset="0"/>
                <a:ea typeface="Calibri" pitchFamily="34" charset="-122"/>
                <a:cs typeface="Calibri" pitchFamily="34" charset="-120"/>
              </a:rPr>
              <a:t>No dates or performance metrics are claimed. Stages advance only when evidence from the previous stage supports them.</a:t>
            </a:r>
            <a:endParaRPr lang="en-US" sz="1000" dirty="0"/>
          </a:p>
        </p:txBody>
      </p:sp>
      <p:sp>
        <p:nvSpPr>
          <p:cNvPr id="31"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482"/>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498080" y="1280160"/>
            <a:ext cx="4023360" cy="4023360"/>
          </a:xfrm>
          <a:prstGeom prst="rect">
            <a:avLst/>
          </a:prstGeom>
          <a:solidFill>
            <a:srgbClr val="3A5A8C">
              <a:alpha val="0"/>
            </a:srgbClr>
          </a:solidFill>
          <a:ln w="17780">
            <a:solidFill>
              <a:srgbClr val="3A5A8C"/>
            </a:solidFill>
            <a:prstDash val="solid"/>
          </a:ln>
        </p:spPr>
      </p:sp>
      <p:sp>
        <p:nvSpPr>
          <p:cNvPr id="3" name="Shape 1"/>
          <p:cNvSpPr/>
          <p:nvPr/>
        </p:nvSpPr>
        <p:spPr>
          <a:xfrm>
            <a:off x="7498080" y="2286000"/>
            <a:ext cx="4023360" cy="0"/>
          </a:xfrm>
          <a:prstGeom prst="line">
            <a:avLst/>
          </a:prstGeom>
          <a:noFill/>
          <a:ln w="12700">
            <a:solidFill>
              <a:srgbClr val="3A5A8C"/>
            </a:solidFill>
            <a:prstDash val="solid"/>
          </a:ln>
        </p:spPr>
      </p:sp>
      <p:sp>
        <p:nvSpPr>
          <p:cNvPr id="4" name="Shape 2"/>
          <p:cNvSpPr/>
          <p:nvPr/>
        </p:nvSpPr>
        <p:spPr>
          <a:xfrm>
            <a:off x="7498080" y="3291840"/>
            <a:ext cx="4023360" cy="0"/>
          </a:xfrm>
          <a:prstGeom prst="line">
            <a:avLst/>
          </a:prstGeom>
          <a:noFill/>
          <a:ln w="12700">
            <a:solidFill>
              <a:srgbClr val="3A5A8C"/>
            </a:solidFill>
            <a:prstDash val="solid"/>
          </a:ln>
        </p:spPr>
      </p:sp>
      <p:sp>
        <p:nvSpPr>
          <p:cNvPr id="5" name="Shape 3"/>
          <p:cNvSpPr/>
          <p:nvPr/>
        </p:nvSpPr>
        <p:spPr>
          <a:xfrm>
            <a:off x="7498080" y="4297680"/>
            <a:ext cx="4023360" cy="0"/>
          </a:xfrm>
          <a:prstGeom prst="line">
            <a:avLst/>
          </a:prstGeom>
          <a:noFill/>
          <a:ln w="12700">
            <a:solidFill>
              <a:srgbClr val="3A5A8C"/>
            </a:solidFill>
            <a:prstDash val="solid"/>
          </a:ln>
        </p:spPr>
      </p:sp>
      <p:sp>
        <p:nvSpPr>
          <p:cNvPr id="6" name="Shape 4"/>
          <p:cNvSpPr/>
          <p:nvPr/>
        </p:nvSpPr>
        <p:spPr>
          <a:xfrm>
            <a:off x="8302752" y="1280160"/>
            <a:ext cx="0" cy="4023360"/>
          </a:xfrm>
          <a:prstGeom prst="line">
            <a:avLst/>
          </a:prstGeom>
          <a:noFill/>
          <a:ln w="12700">
            <a:solidFill>
              <a:srgbClr val="3A5A8C"/>
            </a:solidFill>
            <a:prstDash val="solid"/>
          </a:ln>
        </p:spPr>
      </p:sp>
      <p:sp>
        <p:nvSpPr>
          <p:cNvPr id="7" name="Shape 5"/>
          <p:cNvSpPr/>
          <p:nvPr/>
        </p:nvSpPr>
        <p:spPr>
          <a:xfrm>
            <a:off x="9107424" y="1280160"/>
            <a:ext cx="0" cy="4023360"/>
          </a:xfrm>
          <a:prstGeom prst="line">
            <a:avLst/>
          </a:prstGeom>
          <a:noFill/>
          <a:ln w="12700">
            <a:solidFill>
              <a:srgbClr val="3A5A8C"/>
            </a:solidFill>
            <a:prstDash val="solid"/>
          </a:ln>
        </p:spPr>
      </p:sp>
      <p:sp>
        <p:nvSpPr>
          <p:cNvPr id="8" name="Shape 6"/>
          <p:cNvSpPr/>
          <p:nvPr/>
        </p:nvSpPr>
        <p:spPr>
          <a:xfrm>
            <a:off x="9912096" y="1280160"/>
            <a:ext cx="0" cy="4023360"/>
          </a:xfrm>
          <a:prstGeom prst="line">
            <a:avLst/>
          </a:prstGeom>
          <a:noFill/>
          <a:ln w="12700">
            <a:solidFill>
              <a:srgbClr val="3A5A8C"/>
            </a:solidFill>
            <a:prstDash val="solid"/>
          </a:ln>
        </p:spPr>
      </p:sp>
      <p:sp>
        <p:nvSpPr>
          <p:cNvPr id="9" name="Shape 7"/>
          <p:cNvSpPr/>
          <p:nvPr/>
        </p:nvSpPr>
        <p:spPr>
          <a:xfrm>
            <a:off x="10716768" y="1280160"/>
            <a:ext cx="0" cy="4023360"/>
          </a:xfrm>
          <a:prstGeom prst="line">
            <a:avLst/>
          </a:prstGeom>
          <a:noFill/>
          <a:ln w="12700">
            <a:solidFill>
              <a:srgbClr val="3A5A8C"/>
            </a:solidFill>
            <a:prstDash val="solid"/>
          </a:ln>
        </p:spPr>
      </p:sp>
      <p:sp>
        <p:nvSpPr>
          <p:cNvPr id="10" name="Shape 8"/>
          <p:cNvSpPr/>
          <p:nvPr/>
        </p:nvSpPr>
        <p:spPr>
          <a:xfrm>
            <a:off x="7223760" y="5303520"/>
            <a:ext cx="4572000" cy="0"/>
          </a:xfrm>
          <a:prstGeom prst="line">
            <a:avLst/>
          </a:prstGeom>
          <a:noFill/>
          <a:ln w="25400">
            <a:solidFill>
              <a:srgbClr val="3A5A8C"/>
            </a:solidFill>
            <a:prstDash val="solid"/>
          </a:ln>
        </p:spPr>
      </p:sp>
      <p:sp>
        <p:nvSpPr>
          <p:cNvPr id="11" name="Shape 9"/>
          <p:cNvSpPr/>
          <p:nvPr/>
        </p:nvSpPr>
        <p:spPr>
          <a:xfrm>
            <a:off x="8302752" y="2286000"/>
            <a:ext cx="1609344" cy="0"/>
          </a:xfrm>
          <a:prstGeom prst="line">
            <a:avLst/>
          </a:prstGeom>
          <a:noFill/>
          <a:ln w="19050">
            <a:solidFill>
              <a:srgbClr val="5A9BFF"/>
            </a:solidFill>
            <a:prstDash val="solid"/>
          </a:ln>
        </p:spPr>
      </p:sp>
      <p:sp>
        <p:nvSpPr>
          <p:cNvPr id="12" name="Shape 10"/>
          <p:cNvSpPr/>
          <p:nvPr/>
        </p:nvSpPr>
        <p:spPr>
          <a:xfrm>
            <a:off x="8302752" y="2286000"/>
            <a:ext cx="804672" cy="1005840"/>
          </a:xfrm>
          <a:prstGeom prst="line">
            <a:avLst/>
          </a:prstGeom>
          <a:noFill/>
          <a:ln w="19050">
            <a:solidFill>
              <a:srgbClr val="5A9BFF"/>
            </a:solidFill>
            <a:prstDash val="solid"/>
          </a:ln>
        </p:spPr>
      </p:sp>
      <p:sp>
        <p:nvSpPr>
          <p:cNvPr id="13" name="Shape 11"/>
          <p:cNvSpPr/>
          <p:nvPr/>
        </p:nvSpPr>
        <p:spPr>
          <a:xfrm flipH="1">
            <a:off x="9107424" y="2286000"/>
            <a:ext cx="804672" cy="1005840"/>
          </a:xfrm>
          <a:prstGeom prst="line">
            <a:avLst/>
          </a:prstGeom>
          <a:noFill/>
          <a:ln w="19050">
            <a:solidFill>
              <a:srgbClr val="5A9BFF"/>
            </a:solidFill>
            <a:prstDash val="solid"/>
          </a:ln>
        </p:spPr>
      </p:sp>
      <p:sp>
        <p:nvSpPr>
          <p:cNvPr id="14" name="Shape 12"/>
          <p:cNvSpPr/>
          <p:nvPr/>
        </p:nvSpPr>
        <p:spPr>
          <a:xfrm>
            <a:off x="9912096" y="2286000"/>
            <a:ext cx="804672" cy="1005840"/>
          </a:xfrm>
          <a:prstGeom prst="line">
            <a:avLst/>
          </a:prstGeom>
          <a:noFill/>
          <a:ln w="19050">
            <a:solidFill>
              <a:srgbClr val="5A9BFF"/>
            </a:solidFill>
            <a:prstDash val="solid"/>
          </a:ln>
        </p:spPr>
      </p:sp>
      <p:sp>
        <p:nvSpPr>
          <p:cNvPr id="15" name="Shape 13"/>
          <p:cNvSpPr/>
          <p:nvPr/>
        </p:nvSpPr>
        <p:spPr>
          <a:xfrm flipH="1">
            <a:off x="8302752" y="3291840"/>
            <a:ext cx="804672" cy="1005840"/>
          </a:xfrm>
          <a:prstGeom prst="line">
            <a:avLst/>
          </a:prstGeom>
          <a:noFill/>
          <a:ln w="19050">
            <a:solidFill>
              <a:srgbClr val="5A9BFF"/>
            </a:solidFill>
            <a:prstDash val="solid"/>
          </a:ln>
        </p:spPr>
      </p:sp>
      <p:sp>
        <p:nvSpPr>
          <p:cNvPr id="16" name="Shape 14"/>
          <p:cNvSpPr/>
          <p:nvPr/>
        </p:nvSpPr>
        <p:spPr>
          <a:xfrm>
            <a:off x="9107424" y="3291840"/>
            <a:ext cx="804672" cy="1005840"/>
          </a:xfrm>
          <a:prstGeom prst="line">
            <a:avLst/>
          </a:prstGeom>
          <a:noFill/>
          <a:ln w="19050">
            <a:solidFill>
              <a:srgbClr val="5A9BFF"/>
            </a:solidFill>
            <a:prstDash val="solid"/>
          </a:ln>
        </p:spPr>
      </p:sp>
      <p:sp>
        <p:nvSpPr>
          <p:cNvPr id="17" name="Shape 15"/>
          <p:cNvSpPr/>
          <p:nvPr/>
        </p:nvSpPr>
        <p:spPr>
          <a:xfrm flipH="1">
            <a:off x="9912096" y="3291840"/>
            <a:ext cx="804672" cy="1005840"/>
          </a:xfrm>
          <a:prstGeom prst="line">
            <a:avLst/>
          </a:prstGeom>
          <a:noFill/>
          <a:ln w="19050">
            <a:solidFill>
              <a:srgbClr val="5A9BFF"/>
            </a:solidFill>
            <a:prstDash val="solid"/>
          </a:ln>
        </p:spPr>
      </p:sp>
      <p:sp>
        <p:nvSpPr>
          <p:cNvPr id="18" name="Shape 16"/>
          <p:cNvSpPr/>
          <p:nvPr/>
        </p:nvSpPr>
        <p:spPr>
          <a:xfrm>
            <a:off x="8302752" y="4297680"/>
            <a:ext cx="1609344" cy="0"/>
          </a:xfrm>
          <a:prstGeom prst="line">
            <a:avLst/>
          </a:prstGeom>
          <a:noFill/>
          <a:ln w="19050">
            <a:solidFill>
              <a:srgbClr val="5A9BFF"/>
            </a:solidFill>
            <a:prstDash val="solid"/>
          </a:ln>
        </p:spPr>
      </p:sp>
      <p:sp>
        <p:nvSpPr>
          <p:cNvPr id="19" name="Shape 17"/>
          <p:cNvSpPr/>
          <p:nvPr/>
        </p:nvSpPr>
        <p:spPr>
          <a:xfrm flipH="1">
            <a:off x="8302752" y="1280160"/>
            <a:ext cx="804672" cy="1005840"/>
          </a:xfrm>
          <a:prstGeom prst="line">
            <a:avLst/>
          </a:prstGeom>
          <a:noFill/>
          <a:ln w="19050">
            <a:solidFill>
              <a:srgbClr val="5A9BFF"/>
            </a:solidFill>
            <a:prstDash val="solid"/>
          </a:ln>
        </p:spPr>
      </p:sp>
      <p:sp>
        <p:nvSpPr>
          <p:cNvPr id="20" name="Shape 18"/>
          <p:cNvSpPr/>
          <p:nvPr/>
        </p:nvSpPr>
        <p:spPr>
          <a:xfrm>
            <a:off x="9107424" y="1280160"/>
            <a:ext cx="804672" cy="1005840"/>
          </a:xfrm>
          <a:prstGeom prst="line">
            <a:avLst/>
          </a:prstGeom>
          <a:noFill/>
          <a:ln w="19050">
            <a:solidFill>
              <a:srgbClr val="5A9BFF"/>
            </a:solidFill>
            <a:prstDash val="solid"/>
          </a:ln>
        </p:spPr>
      </p:sp>
      <p:sp>
        <p:nvSpPr>
          <p:cNvPr id="21" name="Shape 19"/>
          <p:cNvSpPr/>
          <p:nvPr/>
        </p:nvSpPr>
        <p:spPr>
          <a:xfrm>
            <a:off x="10716768" y="3291840"/>
            <a:ext cx="0" cy="1005840"/>
          </a:xfrm>
          <a:prstGeom prst="line">
            <a:avLst/>
          </a:prstGeom>
          <a:noFill/>
          <a:ln w="19050">
            <a:solidFill>
              <a:srgbClr val="5A9BFF"/>
            </a:solidFill>
            <a:prstDash val="solid"/>
          </a:ln>
        </p:spPr>
      </p:sp>
      <p:sp>
        <p:nvSpPr>
          <p:cNvPr id="22" name="Shape 20"/>
          <p:cNvSpPr/>
          <p:nvPr/>
        </p:nvSpPr>
        <p:spPr>
          <a:xfrm>
            <a:off x="9912096" y="4297680"/>
            <a:ext cx="804672" cy="0"/>
          </a:xfrm>
          <a:prstGeom prst="line">
            <a:avLst/>
          </a:prstGeom>
          <a:noFill/>
          <a:ln w="19050">
            <a:solidFill>
              <a:srgbClr val="5A9BFF"/>
            </a:solidFill>
            <a:prstDash val="solid"/>
          </a:ln>
        </p:spPr>
      </p:sp>
      <p:sp>
        <p:nvSpPr>
          <p:cNvPr id="23" name="Shape 21"/>
          <p:cNvSpPr/>
          <p:nvPr/>
        </p:nvSpPr>
        <p:spPr>
          <a:xfrm>
            <a:off x="8174736" y="2157984"/>
            <a:ext cx="256032" cy="256032"/>
          </a:xfrm>
          <a:prstGeom prst="ellipse">
            <a:avLst/>
          </a:prstGeom>
          <a:solidFill>
            <a:srgbClr val="0B1F3A"/>
          </a:solidFill>
          <a:ln w="12700">
            <a:solidFill>
              <a:srgbClr val="5A9BFF"/>
            </a:solidFill>
            <a:prstDash val="solid"/>
          </a:ln>
        </p:spPr>
      </p:sp>
      <p:sp>
        <p:nvSpPr>
          <p:cNvPr id="24" name="Shape 22"/>
          <p:cNvSpPr/>
          <p:nvPr/>
        </p:nvSpPr>
        <p:spPr>
          <a:xfrm>
            <a:off x="8247888" y="2231136"/>
            <a:ext cx="109728" cy="109728"/>
          </a:xfrm>
          <a:prstGeom prst="ellipse">
            <a:avLst/>
          </a:prstGeom>
          <a:solidFill>
            <a:srgbClr val="5A9BFF"/>
          </a:solidFill>
          <a:ln w="12700">
            <a:solidFill>
              <a:srgbClr val="5A9BFF"/>
            </a:solidFill>
            <a:prstDash val="solid"/>
          </a:ln>
        </p:spPr>
      </p:sp>
      <p:sp>
        <p:nvSpPr>
          <p:cNvPr id="25" name="Shape 23"/>
          <p:cNvSpPr/>
          <p:nvPr/>
        </p:nvSpPr>
        <p:spPr>
          <a:xfrm>
            <a:off x="9784080" y="2157984"/>
            <a:ext cx="256032" cy="256032"/>
          </a:xfrm>
          <a:prstGeom prst="ellipse">
            <a:avLst/>
          </a:prstGeom>
          <a:solidFill>
            <a:srgbClr val="0B1F3A"/>
          </a:solidFill>
          <a:ln w="12700">
            <a:solidFill>
              <a:srgbClr val="5A9BFF"/>
            </a:solidFill>
            <a:prstDash val="solid"/>
          </a:ln>
        </p:spPr>
      </p:sp>
      <p:sp>
        <p:nvSpPr>
          <p:cNvPr id="26" name="Shape 24"/>
          <p:cNvSpPr/>
          <p:nvPr/>
        </p:nvSpPr>
        <p:spPr>
          <a:xfrm>
            <a:off x="9857232" y="2231136"/>
            <a:ext cx="109728" cy="109728"/>
          </a:xfrm>
          <a:prstGeom prst="ellipse">
            <a:avLst/>
          </a:prstGeom>
          <a:solidFill>
            <a:srgbClr val="5A9BFF"/>
          </a:solidFill>
          <a:ln w="12700">
            <a:solidFill>
              <a:srgbClr val="5A9BFF"/>
            </a:solidFill>
            <a:prstDash val="solid"/>
          </a:ln>
        </p:spPr>
      </p:sp>
      <p:sp>
        <p:nvSpPr>
          <p:cNvPr id="27" name="Shape 25"/>
          <p:cNvSpPr/>
          <p:nvPr/>
        </p:nvSpPr>
        <p:spPr>
          <a:xfrm>
            <a:off x="8979408" y="3163824"/>
            <a:ext cx="256032" cy="256032"/>
          </a:xfrm>
          <a:prstGeom prst="ellipse">
            <a:avLst/>
          </a:prstGeom>
          <a:solidFill>
            <a:srgbClr val="0B1F3A"/>
          </a:solidFill>
          <a:ln w="12700">
            <a:solidFill>
              <a:srgbClr val="5A9BFF"/>
            </a:solidFill>
            <a:prstDash val="solid"/>
          </a:ln>
        </p:spPr>
      </p:sp>
      <p:sp>
        <p:nvSpPr>
          <p:cNvPr id="28" name="Shape 26"/>
          <p:cNvSpPr/>
          <p:nvPr/>
        </p:nvSpPr>
        <p:spPr>
          <a:xfrm>
            <a:off x="9052560" y="3236976"/>
            <a:ext cx="109728" cy="109728"/>
          </a:xfrm>
          <a:prstGeom prst="ellipse">
            <a:avLst/>
          </a:prstGeom>
          <a:solidFill>
            <a:srgbClr val="5A9BFF"/>
          </a:solidFill>
          <a:ln w="12700">
            <a:solidFill>
              <a:srgbClr val="5A9BFF"/>
            </a:solidFill>
            <a:prstDash val="solid"/>
          </a:ln>
        </p:spPr>
      </p:sp>
      <p:sp>
        <p:nvSpPr>
          <p:cNvPr id="29" name="Shape 27"/>
          <p:cNvSpPr/>
          <p:nvPr/>
        </p:nvSpPr>
        <p:spPr>
          <a:xfrm>
            <a:off x="10588752" y="3163824"/>
            <a:ext cx="256032" cy="256032"/>
          </a:xfrm>
          <a:prstGeom prst="ellipse">
            <a:avLst/>
          </a:prstGeom>
          <a:solidFill>
            <a:srgbClr val="0B1F3A"/>
          </a:solidFill>
          <a:ln w="12700">
            <a:solidFill>
              <a:srgbClr val="5A9BFF"/>
            </a:solidFill>
            <a:prstDash val="solid"/>
          </a:ln>
        </p:spPr>
      </p:sp>
      <p:sp>
        <p:nvSpPr>
          <p:cNvPr id="30" name="Shape 28"/>
          <p:cNvSpPr/>
          <p:nvPr/>
        </p:nvSpPr>
        <p:spPr>
          <a:xfrm>
            <a:off x="10661904" y="3236976"/>
            <a:ext cx="109728" cy="109728"/>
          </a:xfrm>
          <a:prstGeom prst="ellipse">
            <a:avLst/>
          </a:prstGeom>
          <a:solidFill>
            <a:srgbClr val="5A9BFF"/>
          </a:solidFill>
          <a:ln w="12700">
            <a:solidFill>
              <a:srgbClr val="5A9BFF"/>
            </a:solidFill>
            <a:prstDash val="solid"/>
          </a:ln>
        </p:spPr>
      </p:sp>
      <p:sp>
        <p:nvSpPr>
          <p:cNvPr id="31" name="Shape 29"/>
          <p:cNvSpPr/>
          <p:nvPr/>
        </p:nvSpPr>
        <p:spPr>
          <a:xfrm>
            <a:off x="8174736" y="4169664"/>
            <a:ext cx="256032" cy="256032"/>
          </a:xfrm>
          <a:prstGeom prst="ellipse">
            <a:avLst/>
          </a:prstGeom>
          <a:solidFill>
            <a:srgbClr val="0B1F3A"/>
          </a:solidFill>
          <a:ln w="12700">
            <a:solidFill>
              <a:srgbClr val="5A9BFF"/>
            </a:solidFill>
            <a:prstDash val="solid"/>
          </a:ln>
        </p:spPr>
      </p:sp>
      <p:sp>
        <p:nvSpPr>
          <p:cNvPr id="32" name="Shape 30"/>
          <p:cNvSpPr/>
          <p:nvPr/>
        </p:nvSpPr>
        <p:spPr>
          <a:xfrm>
            <a:off x="8247888" y="4242816"/>
            <a:ext cx="109728" cy="109728"/>
          </a:xfrm>
          <a:prstGeom prst="ellipse">
            <a:avLst/>
          </a:prstGeom>
          <a:solidFill>
            <a:srgbClr val="5A9BFF"/>
          </a:solidFill>
          <a:ln w="12700">
            <a:solidFill>
              <a:srgbClr val="5A9BFF"/>
            </a:solidFill>
            <a:prstDash val="solid"/>
          </a:ln>
        </p:spPr>
      </p:sp>
      <p:sp>
        <p:nvSpPr>
          <p:cNvPr id="33" name="Shape 31"/>
          <p:cNvSpPr/>
          <p:nvPr/>
        </p:nvSpPr>
        <p:spPr>
          <a:xfrm>
            <a:off x="9784080" y="4169664"/>
            <a:ext cx="256032" cy="256032"/>
          </a:xfrm>
          <a:prstGeom prst="ellipse">
            <a:avLst/>
          </a:prstGeom>
          <a:solidFill>
            <a:srgbClr val="0B1F3A"/>
          </a:solidFill>
          <a:ln w="12700">
            <a:solidFill>
              <a:srgbClr val="5A9BFF"/>
            </a:solidFill>
            <a:prstDash val="solid"/>
          </a:ln>
        </p:spPr>
      </p:sp>
      <p:sp>
        <p:nvSpPr>
          <p:cNvPr id="34" name="Shape 32"/>
          <p:cNvSpPr/>
          <p:nvPr/>
        </p:nvSpPr>
        <p:spPr>
          <a:xfrm>
            <a:off x="9857232" y="4242816"/>
            <a:ext cx="109728" cy="109728"/>
          </a:xfrm>
          <a:prstGeom prst="ellipse">
            <a:avLst/>
          </a:prstGeom>
          <a:solidFill>
            <a:srgbClr val="5A9BFF"/>
          </a:solidFill>
          <a:ln w="12700">
            <a:solidFill>
              <a:srgbClr val="5A9BFF"/>
            </a:solidFill>
            <a:prstDash val="solid"/>
          </a:ln>
        </p:spPr>
      </p:sp>
      <p:sp>
        <p:nvSpPr>
          <p:cNvPr id="35" name="Shape 33"/>
          <p:cNvSpPr/>
          <p:nvPr/>
        </p:nvSpPr>
        <p:spPr>
          <a:xfrm>
            <a:off x="8979408" y="1152144"/>
            <a:ext cx="256032" cy="256032"/>
          </a:xfrm>
          <a:prstGeom prst="ellipse">
            <a:avLst/>
          </a:prstGeom>
          <a:solidFill>
            <a:srgbClr val="0B1F3A"/>
          </a:solidFill>
          <a:ln w="12700">
            <a:solidFill>
              <a:srgbClr val="5A9BFF"/>
            </a:solidFill>
            <a:prstDash val="solid"/>
          </a:ln>
        </p:spPr>
      </p:sp>
      <p:sp>
        <p:nvSpPr>
          <p:cNvPr id="36" name="Shape 34"/>
          <p:cNvSpPr/>
          <p:nvPr/>
        </p:nvSpPr>
        <p:spPr>
          <a:xfrm>
            <a:off x="9052560" y="1225296"/>
            <a:ext cx="109728" cy="109728"/>
          </a:xfrm>
          <a:prstGeom prst="ellipse">
            <a:avLst/>
          </a:prstGeom>
          <a:solidFill>
            <a:srgbClr val="5A9BFF"/>
          </a:solidFill>
          <a:ln w="12700">
            <a:solidFill>
              <a:srgbClr val="5A9BFF"/>
            </a:solidFill>
            <a:prstDash val="solid"/>
          </a:ln>
        </p:spPr>
      </p:sp>
      <p:sp>
        <p:nvSpPr>
          <p:cNvPr id="37" name="Shape 35"/>
          <p:cNvSpPr/>
          <p:nvPr/>
        </p:nvSpPr>
        <p:spPr>
          <a:xfrm>
            <a:off x="10588752" y="4169664"/>
            <a:ext cx="256032" cy="256032"/>
          </a:xfrm>
          <a:prstGeom prst="ellipse">
            <a:avLst/>
          </a:prstGeom>
          <a:solidFill>
            <a:srgbClr val="0B1F3A"/>
          </a:solidFill>
          <a:ln w="12700">
            <a:solidFill>
              <a:srgbClr val="5A9BFF"/>
            </a:solidFill>
            <a:prstDash val="solid"/>
          </a:ln>
        </p:spPr>
      </p:sp>
      <p:sp>
        <p:nvSpPr>
          <p:cNvPr id="38" name="Shape 36"/>
          <p:cNvSpPr/>
          <p:nvPr/>
        </p:nvSpPr>
        <p:spPr>
          <a:xfrm>
            <a:off x="10661904" y="4242816"/>
            <a:ext cx="109728" cy="109728"/>
          </a:xfrm>
          <a:prstGeom prst="ellipse">
            <a:avLst/>
          </a:prstGeom>
          <a:solidFill>
            <a:srgbClr val="5A9BFF"/>
          </a:solidFill>
          <a:ln w="12700">
            <a:solidFill>
              <a:srgbClr val="5A9BFF"/>
            </a:solidFill>
            <a:prstDash val="solid"/>
          </a:ln>
        </p:spPr>
      </p:sp>
      <p:sp>
        <p:nvSpPr>
          <p:cNvPr id="39" name="Text 37"/>
          <p:cNvSpPr txBox="1"/>
          <p:nvPr/>
        </p:nvSpPr>
        <p:spPr>
          <a:xfrm>
            <a:off x="731520" y="1280160"/>
            <a:ext cx="6309360" cy="237744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From software that stores project information to systems that understand it.</a:t>
            </a:r>
            <a:endParaRPr lang="en-US" sz="4000" dirty="0"/>
          </a:p>
        </p:txBody>
      </p:sp>
      <p:sp>
        <p:nvSpPr>
          <p:cNvPr id="40" name="Text 38"/>
          <p:cNvSpPr txBox="1"/>
          <p:nvPr/>
        </p:nvSpPr>
        <p:spPr>
          <a:xfrm>
            <a:off x="731520" y="3794760"/>
            <a:ext cx="6035040" cy="822960"/>
          </a:xfrm>
          <a:prstGeom prst="rect">
            <a:avLst/>
          </a:prstGeom>
          <a:noFill/>
          <a:ln/>
        </p:spPr>
        <p:txBody>
          <a:bodyPr wrap="square" lIns="0" tIns="0" rIns="0" bIns="0" rtlCol="0" anchor="t"/>
          <a:lstStyle/>
          <a:p>
            <a:pPr marL="0" indent="0">
              <a:buNone/>
            </a:pPr>
            <a:r>
              <a:rPr lang="en-US" sz="2000" dirty="0">
                <a:solidFill>
                  <a:srgbClr val="9DB8E8"/>
                </a:solidFill>
                <a:latin typeface="Calibri" pitchFamily="34" charset="0"/>
                <a:ea typeface="Calibri" pitchFamily="34" charset="-122"/>
                <a:cs typeface="Calibri" pitchFamily="34" charset="-120"/>
              </a:rPr>
              <a:t>Relationships understood. Disciplines connected. Decisions grounded in evidence.</a:t>
            </a:r>
            <a:endParaRPr lang="en-US" sz="2000" dirty="0"/>
          </a:p>
        </p:txBody>
      </p:sp>
      <p:sp>
        <p:nvSpPr>
          <p:cNvPr id="41" name="Shape 39"/>
          <p:cNvSpPr/>
          <p:nvPr/>
        </p:nvSpPr>
        <p:spPr>
          <a:xfrm>
            <a:off x="731520" y="5074920"/>
            <a:ext cx="6309360" cy="960120"/>
          </a:xfrm>
          <a:prstGeom prst="rect">
            <a:avLst/>
          </a:prstGeom>
          <a:solidFill>
            <a:srgbClr val="12294A"/>
          </a:solidFill>
          <a:ln w="12700">
            <a:solidFill>
              <a:srgbClr val="3A5A8C"/>
            </a:solidFill>
            <a:prstDash val="solid"/>
          </a:ln>
        </p:spPr>
      </p:sp>
      <p:sp>
        <p:nvSpPr>
          <p:cNvPr id="42" name="Text 40"/>
          <p:cNvSpPr txBox="1"/>
          <p:nvPr/>
        </p:nvSpPr>
        <p:spPr>
          <a:xfrm>
            <a:off x="960120" y="5074920"/>
            <a:ext cx="5897880" cy="960120"/>
          </a:xfrm>
          <a:prstGeom prst="rect">
            <a:avLst/>
          </a:prstGeom>
          <a:noFill/>
          <a:ln/>
        </p:spPr>
        <p:txBody>
          <a:bodyPr wrap="square" lIns="0" tIns="0" rIns="0" bIns="0" rtlCol="0" anchor="ctr"/>
          <a:lstStyle/>
          <a:p>
            <a:pPr marL="0" indent="0">
              <a:buNone/>
            </a:pPr>
            <a:r>
              <a:rPr lang="en-US" sz="1200" b="1" kern="0" spc="200" dirty="0">
                <a:solidFill>
                  <a:srgbClr val="9DB8E8"/>
                </a:solidFill>
                <a:latin typeface="Calibri" pitchFamily="34" charset="0"/>
                <a:ea typeface="Calibri" pitchFamily="34" charset="-122"/>
                <a:cs typeface="Calibri" pitchFamily="34" charset="-120"/>
              </a:rPr>
              <a:t>NEXT MILESTONE  </a:t>
            </a:r>
            <a:endParaRPr lang="en-US" sz="1400" dirty="0"/>
          </a:p>
          <a:p>
            <a:pPr marL="0" indent="0">
              <a:buNone/>
            </a:pPr>
            <a:r>
              <a:rPr lang="en-US" sz="1500" dirty="0">
                <a:solidFill>
                  <a:srgbClr val="FFFFFF"/>
                </a:solidFill>
                <a:latin typeface="Calibri" pitchFamily="34" charset="0"/>
                <a:ea typeface="Calibri" pitchFamily="34" charset="-122"/>
                <a:cs typeface="Calibri" pitchFamily="34" charset="-120"/>
              </a:rPr>
              <a:t>Validate the highest-value workflow, build a bounded prototype, test it with qualified professionals.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References">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60120"/>
          </a:xfrm>
          <a:prstGeom prst="rect">
            <a:avLst/>
          </a:prstGeom>
          <a:noFill/>
          <a:ln/>
        </p:spPr>
        <p:txBody>
          <a:bodyPr wrap="square" lIns="0" tIns="0" rIns="0" bIns="0" rtlCol="0" anchor="t"/>
          <a:lstStyle/>
          <a:p>
            <a:pPr marL="0" indent="0" algn="l">
              <a:buNone/>
            </a:pPr>
            <a:r>
              <a:rPr lang="en-US" sz="2800" b="1" dirty="0">
                <a:solidFill>
                  <a:srgbClr val="0B1F3A"/>
                </a:solidFill>
                <a:latin typeface="Calibri" pitchFamily="34" charset="0"/>
                <a:ea typeface="Calibri" pitchFamily="34" charset="-122"/>
                <a:cs typeface="Calibri" pitchFamily="34" charset="-120"/>
              </a:rPr>
              <a:t>Research references behind the numbers and claims</a:t>
            </a:r>
            <a:endParaRPr lang="en-US" sz="2800" dirty="0"/>
          </a:p>
        </p:txBody>
      </p:sp>
      <p:sp>
        <p:nvSpPr>
          <p:cNvPr id="1001" name="Text 0"/>
          <p:cNvSpPr txBox="1"/>
          <p:nvPr/>
        </p:nvSpPr>
        <p:spPr>
          <a:xfrm>
            <a:off x="548640" y="868680"/>
            <a:ext cx="11064240" cy="274320"/>
          </a:xfrm>
          <a:prstGeom prst="rect">
            <a:avLst/>
          </a:prstGeom>
          <a:noFill/>
          <a:ln/>
        </p:spPr>
        <p:txBody>
          <a:bodyPr wrap="square" lIns="0" tIns="0" rIns="0" bIns="0" rtlCol="0" anchor="t"/>
          <a:lstStyle/>
          <a:p>
            <a:pPr algn="l" indent="0" marL="0">
              <a:buNone/>
            </a:pPr>
            <a:r>
              <a:rPr lang="en-US" sz="1300" dirty="0">
                <a:solidFill>
                  <a:srgbClr val="6B7482"/>
                </a:solidFill>
                <a:latin typeface="Calibri" pitchFamily="34" charset="0"/>
                <a:ea typeface="Calibri" pitchFamily="34" charset="-122"/>
                <a:cs typeface="Calibri" pitchFamily="34" charset="-120"/>
              </a:rPr>
              <a:t>The sources behind the deck’s numbers, competitor claims and design choices. Each describes its own context, not AERES performance.</a:t>
            </a:r>
            <a:endParaRPr lang="en-US" sz="1300" dirty="0"/>
          </a:p>
        </p:txBody>
      </p:sp>
      <p:sp>
        <p:nvSpPr>
          <p:cNvPr id="1002" name="Shape 1"/>
          <p:cNvSpPr/>
          <p:nvPr/>
        </p:nvSpPr>
        <p:spPr>
          <a:xfrm>
            <a:off x="548640" y="1371600"/>
            <a:ext cx="2656332" cy="2395728"/>
          </a:xfrm>
          <a:prstGeom prst="roundRect">
            <a:avLst>
              <a:gd name="adj" fmla="val 2672"/>
            </a:avLst>
          </a:prstGeom>
          <a:solidFill>
            <a:srgbClr val="FFFFFF"/>
          </a:solidFill>
          <a:ln w="9525">
            <a:solidFill>
              <a:srgbClr val="D3D8E0"/>
            </a:solidFill>
            <a:prstDash val="solid"/>
          </a:ln>
        </p:spPr>
      </p:sp>
      <p:sp>
        <p:nvSpPr>
          <p:cNvPr id="1003" name="Shape 2"/>
          <p:cNvSpPr/>
          <p:nvPr/>
        </p:nvSpPr>
        <p:spPr>
          <a:xfrm>
            <a:off x="713232" y="1517904"/>
            <a:ext cx="402336" cy="402336"/>
          </a:xfrm>
          <a:prstGeom prst="ellipse">
            <a:avLst/>
          </a:prstGeom>
          <a:solidFill>
            <a:srgbClr val="2F6FDB"/>
          </a:solidFill>
          <a:ln w="6350">
            <a:solidFill>
              <a:srgbClr val="2F6FDB"/>
            </a:solidFill>
            <a:prstDash val="solid"/>
          </a:ln>
        </p:spPr>
      </p:sp>
      <p:pic>
        <p:nvPicPr>
          <p:cNvPr id="1004" name="Image 0" descr="preencoded.png">    </p:cNvPr>
          <p:cNvPicPr>
            <a:picLocks noChangeAspect="1"/>
          </p:cNvPicPr>
          <p:nvPr/>
        </p:nvPicPr>
        <p:blipFill>
          <a:blip r:embed="rId11"/>
          <a:stretch>
            <a:fillRect/>
          </a:stretch>
        </p:blipFill>
        <p:spPr>
          <a:xfrm>
            <a:off x="813816" y="1618488"/>
            <a:ext cx="201168" cy="201168"/>
          </a:xfrm>
          <a:prstGeom prst="rect">
            <a:avLst/>
          </a:prstGeom>
        </p:spPr>
      </p:pic>
      <p:sp>
        <p:nvSpPr>
          <p:cNvPr id="1005" name="Text 3"/>
          <p:cNvSpPr txBox="1"/>
          <p:nvPr/>
        </p:nvSpPr>
        <p:spPr>
          <a:xfrm>
            <a:off x="1207008" y="1517904"/>
            <a:ext cx="1833372" cy="402336"/>
          </a:xfrm>
          <a:prstGeom prst="rect">
            <a:avLst/>
          </a:prstGeom>
          <a:noFill/>
          <a:ln/>
        </p:spPr>
        <p:txBody>
          <a:bodyPr wrap="square" lIns="0" tIns="0" rIns="0" bIns="0" rtlCol="0" anchor="ctr"/>
          <a:lstStyle/>
          <a:p>
            <a:pPr algn="l" indent="0" marL="0">
              <a:buNone/>
            </a:pPr>
            <a:r>
              <a:rPr lang="en-US" sz="1250" b="1" dirty="0">
                <a:solidFill>
                  <a:srgbClr val="0B1F3A"/>
                </a:solidFill>
                <a:latin typeface="Calibri" pitchFamily="34" charset="0"/>
                <a:ea typeface="Calibri" pitchFamily="34" charset="-122"/>
                <a:cs typeface="Calibri" pitchFamily="34" charset="-120"/>
              </a:rPr>
              <a:t>Numbers in the deck</a:t>
            </a:r>
            <a:endParaRPr lang="en-US" sz="1250" dirty="0"/>
          </a:p>
        </p:txBody>
      </p:sp>
      <p:sp>
        <p:nvSpPr>
          <p:cNvPr id="1006" name="Text 4"/>
          <p:cNvSpPr txBox="1"/>
          <p:nvPr/>
        </p:nvSpPr>
        <p:spPr>
          <a:xfrm>
            <a:off x="713232" y="2048256"/>
            <a:ext cx="2345436" cy="1609344"/>
          </a:xfrm>
          <a:prstGeom prst="rect">
            <a:avLst/>
          </a:prstGeom>
          <a:noFill/>
          <a:ln/>
        </p:spPr>
        <p:txBody>
          <a:bodyPr wrap="square" lIns="0" tIns="0" rIns="0" bIns="0" rtlCol="0" anchor="t"/>
          <a:lstStyle/>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Nomic, AEC-Bench (2026) and repository</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NBS National BIM Report 2020; Digital Construction Report 2021</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FMI + PlanGrid, Construction Disconnected (2018)</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McKinsey Global Institute (2017)</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ResearchAndMarkets, AI in Construction (2025)</a:t>
            </a:r>
            <a:endParaRPr lang="en-US" sz="1000" dirty="0"/>
          </a:p>
        </p:txBody>
      </p:sp>
      <p:sp>
        <p:nvSpPr>
          <p:cNvPr id="1007" name="Shape 5"/>
          <p:cNvSpPr/>
          <p:nvPr/>
        </p:nvSpPr>
        <p:spPr>
          <a:xfrm>
            <a:off x="3360420" y="1371600"/>
            <a:ext cx="2656332" cy="2395728"/>
          </a:xfrm>
          <a:prstGeom prst="roundRect">
            <a:avLst>
              <a:gd name="adj" fmla="val 2672"/>
            </a:avLst>
          </a:prstGeom>
          <a:solidFill>
            <a:srgbClr val="FFFFFF"/>
          </a:solidFill>
          <a:ln w="9525">
            <a:solidFill>
              <a:srgbClr val="D3D8E0"/>
            </a:solidFill>
            <a:prstDash val="solid"/>
          </a:ln>
        </p:spPr>
      </p:sp>
      <p:sp>
        <p:nvSpPr>
          <p:cNvPr id="1008" name="Shape 6"/>
          <p:cNvSpPr/>
          <p:nvPr/>
        </p:nvSpPr>
        <p:spPr>
          <a:xfrm>
            <a:off x="3525012" y="1517904"/>
            <a:ext cx="402336" cy="402336"/>
          </a:xfrm>
          <a:prstGeom prst="ellipse">
            <a:avLst/>
          </a:prstGeom>
          <a:solidFill>
            <a:srgbClr val="2F6FDB"/>
          </a:solidFill>
          <a:ln w="6350">
            <a:solidFill>
              <a:srgbClr val="2F6FDB"/>
            </a:solidFill>
            <a:prstDash val="solid"/>
          </a:ln>
        </p:spPr>
      </p:sp>
      <p:pic>
        <p:nvPicPr>
          <p:cNvPr id="1009" name="Image 1" descr="preencoded.png">    </p:cNvPr>
          <p:cNvPicPr>
            <a:picLocks noChangeAspect="1"/>
          </p:cNvPicPr>
          <p:nvPr/>
        </p:nvPicPr>
        <p:blipFill>
          <a:blip r:embed="rId12"/>
          <a:stretch>
            <a:fillRect/>
          </a:stretch>
        </p:blipFill>
        <p:spPr>
          <a:xfrm>
            <a:off x="3625596" y="1618488"/>
            <a:ext cx="201168" cy="201168"/>
          </a:xfrm>
          <a:prstGeom prst="rect">
            <a:avLst/>
          </a:prstGeom>
        </p:spPr>
      </p:pic>
      <p:sp>
        <p:nvSpPr>
          <p:cNvPr id="1010" name="Text 7"/>
          <p:cNvSpPr txBox="1"/>
          <p:nvPr/>
        </p:nvSpPr>
        <p:spPr>
          <a:xfrm>
            <a:off x="4018788" y="1517904"/>
            <a:ext cx="1833372" cy="402336"/>
          </a:xfrm>
          <a:prstGeom prst="rect">
            <a:avLst/>
          </a:prstGeom>
          <a:noFill/>
          <a:ln/>
        </p:spPr>
        <p:txBody>
          <a:bodyPr wrap="square" lIns="0" tIns="0" rIns="0" bIns="0" rtlCol="0" anchor="ctr"/>
          <a:lstStyle/>
          <a:p>
            <a:pPr algn="l" indent="0" marL="0">
              <a:buNone/>
            </a:pPr>
            <a:r>
              <a:rPr lang="en-US" sz="1250" b="1" dirty="0">
                <a:solidFill>
                  <a:srgbClr val="0B1F3A"/>
                </a:solidFill>
                <a:latin typeface="Calibri" pitchFamily="34" charset="0"/>
                <a:ea typeface="Calibri" pitchFamily="34" charset="-122"/>
                <a:cs typeface="Calibri" pitchFamily="34" charset="-120"/>
              </a:rPr>
              <a:t>Competitors and products</a:t>
            </a:r>
            <a:endParaRPr lang="en-US" sz="1250" dirty="0"/>
          </a:p>
        </p:txBody>
      </p:sp>
      <p:sp>
        <p:nvSpPr>
          <p:cNvPr id="1011" name="Text 8"/>
          <p:cNvSpPr txBox="1"/>
          <p:nvPr/>
        </p:nvSpPr>
        <p:spPr>
          <a:xfrm>
            <a:off x="3525012" y="2048256"/>
            <a:ext cx="2345436" cy="1609344"/>
          </a:xfrm>
          <a:prstGeom prst="rect">
            <a:avLst/>
          </a:prstGeom>
          <a:noFill/>
          <a:ln/>
        </p:spPr>
        <p:txBody>
          <a:bodyPr wrap="square" lIns="0" tIns="0" rIns="0" bIns="0" rtlCol="0" anchor="t"/>
          <a:lstStyle/>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Autodesk Forma, Assistant and AI features (2026)</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Procore AI and platform (500+ integrations)</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Nomic on Autodesk Marketplace (Jul 2026); Arcadis investment</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Oracle Primavera, InEight, Bentley SYNCHRO and iTwin</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Buildots, nPlan, ALICE, Solibri</a:t>
            </a:r>
            <a:endParaRPr lang="en-US" sz="1000" dirty="0"/>
          </a:p>
        </p:txBody>
      </p:sp>
      <p:sp>
        <p:nvSpPr>
          <p:cNvPr id="1012" name="Shape 9"/>
          <p:cNvSpPr/>
          <p:nvPr/>
        </p:nvSpPr>
        <p:spPr>
          <a:xfrm>
            <a:off x="6172200" y="1371600"/>
            <a:ext cx="2656332" cy="2395728"/>
          </a:xfrm>
          <a:prstGeom prst="roundRect">
            <a:avLst>
              <a:gd name="adj" fmla="val 2672"/>
            </a:avLst>
          </a:prstGeom>
          <a:solidFill>
            <a:srgbClr val="FFFFFF"/>
          </a:solidFill>
          <a:ln w="9525">
            <a:solidFill>
              <a:srgbClr val="D3D8E0"/>
            </a:solidFill>
            <a:prstDash val="solid"/>
          </a:ln>
        </p:spPr>
      </p:sp>
      <p:sp>
        <p:nvSpPr>
          <p:cNvPr id="1013" name="Shape 10"/>
          <p:cNvSpPr/>
          <p:nvPr/>
        </p:nvSpPr>
        <p:spPr>
          <a:xfrm>
            <a:off x="6336792" y="1517904"/>
            <a:ext cx="402336" cy="402336"/>
          </a:xfrm>
          <a:prstGeom prst="ellipse">
            <a:avLst/>
          </a:prstGeom>
          <a:solidFill>
            <a:srgbClr val="2F6FDB"/>
          </a:solidFill>
          <a:ln w="6350">
            <a:solidFill>
              <a:srgbClr val="2F6FDB"/>
            </a:solidFill>
            <a:prstDash val="solid"/>
          </a:ln>
        </p:spPr>
      </p:sp>
      <p:pic>
        <p:nvPicPr>
          <p:cNvPr id="1014" name="Image 2" descr="preencoded.png">    </p:cNvPr>
          <p:cNvPicPr>
            <a:picLocks noChangeAspect="1"/>
          </p:cNvPicPr>
          <p:nvPr/>
        </p:nvPicPr>
        <p:blipFill>
          <a:blip r:embed="rId13"/>
          <a:stretch>
            <a:fillRect/>
          </a:stretch>
        </p:blipFill>
        <p:spPr>
          <a:xfrm>
            <a:off x="6437376" y="1618488"/>
            <a:ext cx="201168" cy="201168"/>
          </a:xfrm>
          <a:prstGeom prst="rect">
            <a:avLst/>
          </a:prstGeom>
        </p:spPr>
      </p:pic>
      <p:sp>
        <p:nvSpPr>
          <p:cNvPr id="1015" name="Text 11"/>
          <p:cNvSpPr txBox="1"/>
          <p:nvPr/>
        </p:nvSpPr>
        <p:spPr>
          <a:xfrm>
            <a:off x="6830568" y="1517904"/>
            <a:ext cx="1833372" cy="402336"/>
          </a:xfrm>
          <a:prstGeom prst="rect">
            <a:avLst/>
          </a:prstGeom>
          <a:noFill/>
          <a:ln/>
        </p:spPr>
        <p:txBody>
          <a:bodyPr wrap="square" lIns="0" tIns="0" rIns="0" bIns="0" rtlCol="0" anchor="ctr"/>
          <a:lstStyle/>
          <a:p>
            <a:pPr algn="l" indent="0" marL="0">
              <a:buNone/>
            </a:pPr>
            <a:r>
              <a:rPr lang="en-US" sz="1250" b="1" dirty="0">
                <a:solidFill>
                  <a:srgbClr val="0B1F3A"/>
                </a:solidFill>
                <a:latin typeface="Calibri" pitchFamily="34" charset="0"/>
                <a:ea typeface="Calibri" pitchFamily="34" charset="-122"/>
                <a:cs typeface="Calibri" pitchFamily="34" charset="-120"/>
              </a:rPr>
              <a:t>AI risk and human oversight</a:t>
            </a:r>
            <a:endParaRPr lang="en-US" sz="1250" dirty="0"/>
          </a:p>
        </p:txBody>
      </p:sp>
      <p:sp>
        <p:nvSpPr>
          <p:cNvPr id="1016" name="Text 12"/>
          <p:cNvSpPr txBox="1"/>
          <p:nvPr/>
        </p:nvSpPr>
        <p:spPr>
          <a:xfrm>
            <a:off x="6336792" y="2048256"/>
            <a:ext cx="2345436" cy="1609344"/>
          </a:xfrm>
          <a:prstGeom prst="rect">
            <a:avLst/>
          </a:prstGeom>
          <a:noFill/>
          <a:ln/>
        </p:spPr>
        <p:txBody>
          <a:bodyPr wrap="square" lIns="0" tIns="0" rIns="0" bIns="0" rtlCol="0" anchor="t"/>
          <a:lstStyle/>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NIST AI RMF and Generative AI Profile (AI 600-1)</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Zhan et al., J. Mgmt in Engineering (2025)</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LLM reviews: ECAM; AI Review; Buildings (2025)</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Singh and Hsieh (2026); Golmoradi et al. (2026)</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Frontiers (2025); Adv. Civil Eng. (2023)</a:t>
            </a:r>
            <a:endParaRPr lang="en-US" sz="1000" dirty="0"/>
          </a:p>
        </p:txBody>
      </p:sp>
      <p:sp>
        <p:nvSpPr>
          <p:cNvPr id="1017" name="Shape 13"/>
          <p:cNvSpPr/>
          <p:nvPr/>
        </p:nvSpPr>
        <p:spPr>
          <a:xfrm>
            <a:off x="8983980" y="1371600"/>
            <a:ext cx="2656332" cy="2395728"/>
          </a:xfrm>
          <a:prstGeom prst="roundRect">
            <a:avLst>
              <a:gd name="adj" fmla="val 2672"/>
            </a:avLst>
          </a:prstGeom>
          <a:solidFill>
            <a:srgbClr val="FFFFFF"/>
          </a:solidFill>
          <a:ln w="9525">
            <a:solidFill>
              <a:srgbClr val="D3D8E0"/>
            </a:solidFill>
            <a:prstDash val="solid"/>
          </a:ln>
        </p:spPr>
      </p:sp>
      <p:sp>
        <p:nvSpPr>
          <p:cNvPr id="1018" name="Shape 14"/>
          <p:cNvSpPr/>
          <p:nvPr/>
        </p:nvSpPr>
        <p:spPr>
          <a:xfrm>
            <a:off x="9148572" y="1517904"/>
            <a:ext cx="402336" cy="402336"/>
          </a:xfrm>
          <a:prstGeom prst="ellipse">
            <a:avLst/>
          </a:prstGeom>
          <a:solidFill>
            <a:srgbClr val="2F6FDB"/>
          </a:solidFill>
          <a:ln w="6350">
            <a:solidFill>
              <a:srgbClr val="2F6FDB"/>
            </a:solidFill>
            <a:prstDash val="solid"/>
          </a:ln>
        </p:spPr>
      </p:sp>
      <p:pic>
        <p:nvPicPr>
          <p:cNvPr id="1019" name="Image 3" descr="preencoded.png">    </p:cNvPr>
          <p:cNvPicPr>
            <a:picLocks noChangeAspect="1"/>
          </p:cNvPicPr>
          <p:nvPr/>
        </p:nvPicPr>
        <p:blipFill>
          <a:blip r:embed="rId14"/>
          <a:stretch>
            <a:fillRect/>
          </a:stretch>
        </p:blipFill>
        <p:spPr>
          <a:xfrm>
            <a:off x="9249156" y="1618488"/>
            <a:ext cx="201168" cy="201168"/>
          </a:xfrm>
          <a:prstGeom prst="rect">
            <a:avLst/>
          </a:prstGeom>
        </p:spPr>
      </p:pic>
      <p:sp>
        <p:nvSpPr>
          <p:cNvPr id="1020" name="Text 15"/>
          <p:cNvSpPr txBox="1"/>
          <p:nvPr/>
        </p:nvSpPr>
        <p:spPr>
          <a:xfrm>
            <a:off x="9642348" y="1517904"/>
            <a:ext cx="1833372" cy="402336"/>
          </a:xfrm>
          <a:prstGeom prst="rect">
            <a:avLst/>
          </a:prstGeom>
          <a:noFill/>
          <a:ln/>
        </p:spPr>
        <p:txBody>
          <a:bodyPr wrap="square" lIns="0" tIns="0" rIns="0" bIns="0" rtlCol="0" anchor="ctr"/>
          <a:lstStyle/>
          <a:p>
            <a:pPr algn="l" indent="0" marL="0">
              <a:buNone/>
            </a:pPr>
            <a:r>
              <a:rPr lang="en-US" sz="1250" b="1" dirty="0">
                <a:solidFill>
                  <a:srgbClr val="0B1F3A"/>
                </a:solidFill>
                <a:latin typeface="Calibri" pitchFamily="34" charset="0"/>
                <a:ea typeface="Calibri" pitchFamily="34" charset="-122"/>
                <a:cs typeface="Calibri" pitchFamily="34" charset="-120"/>
              </a:rPr>
              <a:t>Market sizing</a:t>
            </a:r>
            <a:endParaRPr lang="en-US" sz="1250" dirty="0"/>
          </a:p>
        </p:txBody>
      </p:sp>
      <p:sp>
        <p:nvSpPr>
          <p:cNvPr id="1021" name="Text 16"/>
          <p:cNvSpPr txBox="1"/>
          <p:nvPr/>
        </p:nvSpPr>
        <p:spPr>
          <a:xfrm>
            <a:off x="9148572" y="2048256"/>
            <a:ext cx="2345436" cy="1609344"/>
          </a:xfrm>
          <a:prstGeom prst="rect">
            <a:avLst/>
          </a:prstGeom>
          <a:noFill/>
          <a:ln/>
        </p:spPr>
        <p:txBody>
          <a:bodyPr wrap="square" lIns="0" tIns="0" rIns="0" bIns="0" rtlCol="0" anchor="t"/>
          <a:lstStyle/>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Grand View Research: AEC software, project management, construction management</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Fortune Business Insights: construction management, AI in construction</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SEBI disclosure: India National Infrastructure Pipeline, about ₹111T</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Directional envelopes, not a TAM</a:t>
            </a:r>
            <a:endParaRPr lang="en-US" sz="1000" dirty="0"/>
          </a:p>
        </p:txBody>
      </p:sp>
      <p:sp>
        <p:nvSpPr>
          <p:cNvPr id="1022" name="Shape 17"/>
          <p:cNvSpPr/>
          <p:nvPr/>
        </p:nvSpPr>
        <p:spPr>
          <a:xfrm>
            <a:off x="548640" y="3922776"/>
            <a:ext cx="2656332" cy="2395728"/>
          </a:xfrm>
          <a:prstGeom prst="roundRect">
            <a:avLst>
              <a:gd name="adj" fmla="val 2672"/>
            </a:avLst>
          </a:prstGeom>
          <a:solidFill>
            <a:srgbClr val="FFFFFF"/>
          </a:solidFill>
          <a:ln w="9525">
            <a:solidFill>
              <a:srgbClr val="D3D8E0"/>
            </a:solidFill>
            <a:prstDash val="solid"/>
          </a:ln>
        </p:spPr>
      </p:sp>
      <p:sp>
        <p:nvSpPr>
          <p:cNvPr id="1023" name="Shape 18"/>
          <p:cNvSpPr/>
          <p:nvPr/>
        </p:nvSpPr>
        <p:spPr>
          <a:xfrm>
            <a:off x="713232" y="4069080"/>
            <a:ext cx="402336" cy="402336"/>
          </a:xfrm>
          <a:prstGeom prst="ellipse">
            <a:avLst/>
          </a:prstGeom>
          <a:solidFill>
            <a:srgbClr val="2F6FDB"/>
          </a:solidFill>
          <a:ln w="6350">
            <a:solidFill>
              <a:srgbClr val="2F6FDB"/>
            </a:solidFill>
            <a:prstDash val="solid"/>
          </a:ln>
        </p:spPr>
      </p:sp>
      <p:pic>
        <p:nvPicPr>
          <p:cNvPr id="1024" name="Image 4" descr="preencoded.png">    </p:cNvPr>
          <p:cNvPicPr>
            <a:picLocks noChangeAspect="1"/>
          </p:cNvPicPr>
          <p:nvPr/>
        </p:nvPicPr>
        <p:blipFill>
          <a:blip r:embed="rId15"/>
          <a:stretch>
            <a:fillRect/>
          </a:stretch>
        </p:blipFill>
        <p:spPr>
          <a:xfrm>
            <a:off x="813816" y="4169664"/>
            <a:ext cx="201168" cy="201168"/>
          </a:xfrm>
          <a:prstGeom prst="rect">
            <a:avLst/>
          </a:prstGeom>
        </p:spPr>
      </p:pic>
      <p:sp>
        <p:nvSpPr>
          <p:cNvPr id="1025" name="Text 19"/>
          <p:cNvSpPr txBox="1"/>
          <p:nvPr/>
        </p:nvSpPr>
        <p:spPr>
          <a:xfrm>
            <a:off x="1207008" y="4069080"/>
            <a:ext cx="1833372" cy="402336"/>
          </a:xfrm>
          <a:prstGeom prst="rect">
            <a:avLst/>
          </a:prstGeom>
          <a:noFill/>
          <a:ln/>
        </p:spPr>
        <p:txBody>
          <a:bodyPr wrap="square" lIns="0" tIns="0" rIns="0" bIns="0" rtlCol="0" anchor="ctr"/>
          <a:lstStyle/>
          <a:p>
            <a:pPr algn="l" indent="0" marL="0">
              <a:buNone/>
            </a:pPr>
            <a:r>
              <a:rPr lang="en-US" sz="1250" b="1" dirty="0">
                <a:solidFill>
                  <a:srgbClr val="0B1F3A"/>
                </a:solidFill>
                <a:latin typeface="Calibri" pitchFamily="34" charset="0"/>
                <a:ea typeface="Calibri" pitchFamily="34" charset="-122"/>
                <a:cs typeface="Calibri" pitchFamily="34" charset="-120"/>
              </a:rPr>
              <a:t>Technical architecture</a:t>
            </a:r>
            <a:endParaRPr lang="en-US" sz="1250" dirty="0"/>
          </a:p>
        </p:txBody>
      </p:sp>
      <p:sp>
        <p:nvSpPr>
          <p:cNvPr id="1026" name="Text 20"/>
          <p:cNvSpPr txBox="1"/>
          <p:nvPr/>
        </p:nvSpPr>
        <p:spPr>
          <a:xfrm>
            <a:off x="713232" y="4599432"/>
            <a:ext cx="2345436" cy="1609344"/>
          </a:xfrm>
          <a:prstGeom prst="rect">
            <a:avLst/>
          </a:prstGeom>
          <a:noFill/>
          <a:ln/>
        </p:spPr>
        <p:txBody>
          <a:bodyPr wrap="square" lIns="0" tIns="0" rIns="0" bIns="0" rtlCol="0" anchor="t"/>
          <a:lstStyle/>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Docling, PaddleOCR (documents, OCR)</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LangGraph, FastAPI, Pydantic (workflow, API)</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pgvector, Qdrant, sentence-transformers (retrieval)</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Langfuse, OpenTelemetry (observability)</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MinIO, Temporal, faster-whisper, xerparser (GPL-3.0)</a:t>
            </a:r>
            <a:endParaRPr lang="en-US" sz="1000" dirty="0"/>
          </a:p>
        </p:txBody>
      </p:sp>
      <p:sp>
        <p:nvSpPr>
          <p:cNvPr id="1027" name="Shape 21"/>
          <p:cNvSpPr/>
          <p:nvPr/>
        </p:nvSpPr>
        <p:spPr>
          <a:xfrm>
            <a:off x="3360420" y="3922776"/>
            <a:ext cx="2656332" cy="2395728"/>
          </a:xfrm>
          <a:prstGeom prst="roundRect">
            <a:avLst>
              <a:gd name="adj" fmla="val 2672"/>
            </a:avLst>
          </a:prstGeom>
          <a:solidFill>
            <a:srgbClr val="FFFFFF"/>
          </a:solidFill>
          <a:ln w="9525">
            <a:solidFill>
              <a:srgbClr val="D3D8E0"/>
            </a:solidFill>
            <a:prstDash val="solid"/>
          </a:ln>
        </p:spPr>
      </p:sp>
      <p:sp>
        <p:nvSpPr>
          <p:cNvPr id="1028" name="Shape 22"/>
          <p:cNvSpPr/>
          <p:nvPr/>
        </p:nvSpPr>
        <p:spPr>
          <a:xfrm>
            <a:off x="3525012" y="4069080"/>
            <a:ext cx="402336" cy="402336"/>
          </a:xfrm>
          <a:prstGeom prst="ellipse">
            <a:avLst/>
          </a:prstGeom>
          <a:solidFill>
            <a:srgbClr val="2F6FDB"/>
          </a:solidFill>
          <a:ln w="6350">
            <a:solidFill>
              <a:srgbClr val="2F6FDB"/>
            </a:solidFill>
            <a:prstDash val="solid"/>
          </a:ln>
        </p:spPr>
      </p:sp>
      <p:pic>
        <p:nvPicPr>
          <p:cNvPr id="1029" name="Image 5" descr="preencoded.png">    </p:cNvPr>
          <p:cNvPicPr>
            <a:picLocks noChangeAspect="1"/>
          </p:cNvPicPr>
          <p:nvPr/>
        </p:nvPicPr>
        <p:blipFill>
          <a:blip r:embed="rId16"/>
          <a:stretch>
            <a:fillRect/>
          </a:stretch>
        </p:blipFill>
        <p:spPr>
          <a:xfrm>
            <a:off x="3625596" y="4169664"/>
            <a:ext cx="201168" cy="201168"/>
          </a:xfrm>
          <a:prstGeom prst="rect">
            <a:avLst/>
          </a:prstGeom>
        </p:spPr>
      </p:pic>
      <p:sp>
        <p:nvSpPr>
          <p:cNvPr id="1030" name="Text 23"/>
          <p:cNvSpPr txBox="1"/>
          <p:nvPr/>
        </p:nvSpPr>
        <p:spPr>
          <a:xfrm>
            <a:off x="4018788" y="4069080"/>
            <a:ext cx="1833372" cy="402336"/>
          </a:xfrm>
          <a:prstGeom prst="rect">
            <a:avLst/>
          </a:prstGeom>
          <a:noFill/>
          <a:ln/>
        </p:spPr>
        <p:txBody>
          <a:bodyPr wrap="square" lIns="0" tIns="0" rIns="0" bIns="0" rtlCol="0" anchor="ctr"/>
          <a:lstStyle/>
          <a:p>
            <a:pPr algn="l" indent="0" marL="0">
              <a:buNone/>
            </a:pPr>
            <a:r>
              <a:rPr lang="en-US" sz="1250" b="1" dirty="0">
                <a:solidFill>
                  <a:srgbClr val="0B1F3A"/>
                </a:solidFill>
                <a:latin typeface="Calibri" pitchFamily="34" charset="0"/>
                <a:ea typeface="Calibri" pitchFamily="34" charset="-122"/>
                <a:cs typeface="Calibri" pitchFamily="34" charset="-120"/>
              </a:rPr>
              <a:t>Pitch and slide design</a:t>
            </a:r>
            <a:endParaRPr lang="en-US" sz="1250" dirty="0"/>
          </a:p>
        </p:txBody>
      </p:sp>
      <p:sp>
        <p:nvSpPr>
          <p:cNvPr id="1031" name="Text 24"/>
          <p:cNvSpPr txBox="1"/>
          <p:nvPr/>
        </p:nvSpPr>
        <p:spPr>
          <a:xfrm>
            <a:off x="3525012" y="4599432"/>
            <a:ext cx="2345436" cy="1609344"/>
          </a:xfrm>
          <a:prstGeom prst="rect">
            <a:avLst/>
          </a:prstGeom>
          <a:noFill/>
          <a:ln/>
        </p:spPr>
        <p:txBody>
          <a:bodyPr wrap="square" lIns="0" tIns="0" rIns="0" bIns="0" rtlCol="0" anchor="t"/>
          <a:lstStyle/>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Y Combinator: How to Pitch; Demo Day guide; Essential Advice</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Assertion-evidence: Penn State; FHSU Press</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Alley et al.; IJEE comprehension study</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“Start with Why, but Only if You Have To” (SMJ)</a:t>
            </a:r>
            <a:endParaRPr lang="en-US" sz="1000" dirty="0"/>
          </a:p>
        </p:txBody>
      </p:sp>
      <p:sp>
        <p:nvSpPr>
          <p:cNvPr id="1032" name="Shape 25"/>
          <p:cNvSpPr/>
          <p:nvPr/>
        </p:nvSpPr>
        <p:spPr>
          <a:xfrm>
            <a:off x="6172200" y="3922776"/>
            <a:ext cx="2656332" cy="2395728"/>
          </a:xfrm>
          <a:prstGeom prst="roundRect">
            <a:avLst>
              <a:gd name="adj" fmla="val 2672"/>
            </a:avLst>
          </a:prstGeom>
          <a:solidFill>
            <a:srgbClr val="FFFFFF"/>
          </a:solidFill>
          <a:ln w="9525">
            <a:solidFill>
              <a:srgbClr val="D3D8E0"/>
            </a:solidFill>
            <a:prstDash val="solid"/>
          </a:ln>
        </p:spPr>
      </p:sp>
      <p:sp>
        <p:nvSpPr>
          <p:cNvPr id="1033" name="Shape 26"/>
          <p:cNvSpPr/>
          <p:nvPr/>
        </p:nvSpPr>
        <p:spPr>
          <a:xfrm>
            <a:off x="6336792" y="4069080"/>
            <a:ext cx="402336" cy="402336"/>
          </a:xfrm>
          <a:prstGeom prst="ellipse">
            <a:avLst/>
          </a:prstGeom>
          <a:solidFill>
            <a:srgbClr val="0B1F3A"/>
          </a:solidFill>
          <a:ln w="6350">
            <a:solidFill>
              <a:srgbClr val="0B1F3A"/>
            </a:solidFill>
            <a:prstDash val="solid"/>
          </a:ln>
        </p:spPr>
      </p:sp>
      <p:pic>
        <p:nvPicPr>
          <p:cNvPr id="1034" name="Image 6" descr="preencoded.png">    </p:cNvPr>
          <p:cNvPicPr>
            <a:picLocks noChangeAspect="1"/>
          </p:cNvPicPr>
          <p:nvPr/>
        </p:nvPicPr>
        <p:blipFill>
          <a:blip r:embed="rId17"/>
          <a:stretch>
            <a:fillRect/>
          </a:stretch>
        </p:blipFill>
        <p:spPr>
          <a:xfrm>
            <a:off x="6437376" y="4169664"/>
            <a:ext cx="201168" cy="201168"/>
          </a:xfrm>
          <a:prstGeom prst="rect">
            <a:avLst/>
          </a:prstGeom>
        </p:spPr>
      </p:pic>
      <p:sp>
        <p:nvSpPr>
          <p:cNvPr id="1035" name="Text 27"/>
          <p:cNvSpPr txBox="1"/>
          <p:nvPr/>
        </p:nvSpPr>
        <p:spPr>
          <a:xfrm>
            <a:off x="6830568" y="4069080"/>
            <a:ext cx="1833372" cy="402336"/>
          </a:xfrm>
          <a:prstGeom prst="rect">
            <a:avLst/>
          </a:prstGeom>
          <a:noFill/>
          <a:ln/>
        </p:spPr>
        <p:txBody>
          <a:bodyPr wrap="square" lIns="0" tIns="0" rIns="0" bIns="0" rtlCol="0" anchor="ctr"/>
          <a:lstStyle/>
          <a:p>
            <a:pPr algn="l" indent="0" marL="0">
              <a:buNone/>
            </a:pPr>
            <a:r>
              <a:rPr lang="en-US" sz="1250" b="1" dirty="0">
                <a:solidFill>
                  <a:srgbClr val="0B1F3A"/>
                </a:solidFill>
                <a:latin typeface="Calibri" pitchFamily="34" charset="0"/>
                <a:ea typeface="Calibri" pitchFamily="34" charset="-122"/>
                <a:cs typeface="Calibri" pitchFamily="34" charset="-120"/>
              </a:rPr>
              <a:t>Also used, outside the register</a:t>
            </a:r>
            <a:endParaRPr lang="en-US" sz="1250" dirty="0"/>
          </a:p>
        </p:txBody>
      </p:sp>
      <p:sp>
        <p:nvSpPr>
          <p:cNvPr id="1036" name="Text 28"/>
          <p:cNvSpPr txBox="1"/>
          <p:nvPr/>
        </p:nvSpPr>
        <p:spPr>
          <a:xfrm>
            <a:off x="6336792" y="4599432"/>
            <a:ext cx="2345436" cy="1609344"/>
          </a:xfrm>
          <a:prstGeom prst="rect">
            <a:avLst/>
          </a:prstGeom>
          <a:noFill/>
          <a:ln/>
        </p:spPr>
        <p:txBody>
          <a:bodyPr wrap="square" lIns="0" tIns="0" rIns="0" bIns="0" rtlCol="0" anchor="t"/>
          <a:lstStyle/>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NIST GCR 04-867 (2004): $15.8B interoperability cost</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Navigant, RFIs on Construction Projects (2013)</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Autodesk + FMI, Harnessing the Data Advantage (2021)</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Stanford CIFE BIM study, 32 projects</a:t>
            </a:r>
            <a:endParaRPr lang="en-US" sz="1000" dirty="0"/>
          </a:p>
          <a:p>
            <a:pPr algn="l" marL="127000" indent="-127000">
              <a:spcAft>
                <a:spcPts val="400"/>
              </a:spcAft>
              <a:buSzPct val="100000"/>
              <a:buChar char="•"/>
            </a:pPr>
            <a:r>
              <a:rPr lang="en-US" sz="1000" dirty="0">
                <a:solidFill>
                  <a:srgbClr val="2B2F36"/>
                </a:solidFill>
                <a:latin typeface="Calibri" pitchFamily="34" charset="0"/>
                <a:ea typeface="Calibri" pitchFamily="34" charset="-122"/>
                <a:cs typeface="Calibri" pitchFamily="34" charset="-120"/>
              </a:rPr>
              <a:t>Nomic funding and partners announcement (Sep 2026)</a:t>
            </a:r>
            <a:endParaRPr lang="en-US" sz="1000" dirty="0"/>
          </a:p>
        </p:txBody>
      </p:sp>
      <p:sp>
        <p:nvSpPr>
          <p:cNvPr id="1037" name="Shape 29"/>
          <p:cNvSpPr/>
          <p:nvPr/>
        </p:nvSpPr>
        <p:spPr>
          <a:xfrm>
            <a:off x="8983980" y="3922776"/>
            <a:ext cx="2656332" cy="2395728"/>
          </a:xfrm>
          <a:prstGeom prst="roundRect">
            <a:avLst>
              <a:gd name="adj" fmla="val 2672"/>
            </a:avLst>
          </a:prstGeom>
          <a:solidFill>
            <a:srgbClr val="E8EFFA"/>
          </a:solidFill>
          <a:ln w="9525">
            <a:solidFill>
              <a:srgbClr val="C9D9F5"/>
            </a:solidFill>
            <a:prstDash val="solid"/>
          </a:ln>
        </p:spPr>
      </p:sp>
      <p:sp>
        <p:nvSpPr>
          <p:cNvPr id="1038" name="Shape 30"/>
          <p:cNvSpPr/>
          <p:nvPr/>
        </p:nvSpPr>
        <p:spPr>
          <a:xfrm>
            <a:off x="9148572" y="4069080"/>
            <a:ext cx="402336" cy="402336"/>
          </a:xfrm>
          <a:prstGeom prst="ellipse">
            <a:avLst/>
          </a:prstGeom>
          <a:solidFill>
            <a:srgbClr val="2F6FDB"/>
          </a:solidFill>
          <a:ln w="6350">
            <a:solidFill>
              <a:srgbClr val="2F6FDB"/>
            </a:solidFill>
            <a:prstDash val="solid"/>
          </a:ln>
        </p:spPr>
      </p:sp>
      <p:pic>
        <p:nvPicPr>
          <p:cNvPr id="1039" name="Image 7" descr="preencoded.png">    </p:cNvPr>
          <p:cNvPicPr>
            <a:picLocks noChangeAspect="1"/>
          </p:cNvPicPr>
          <p:nvPr/>
        </p:nvPicPr>
        <p:blipFill>
          <a:blip r:embed="rId18"/>
          <a:stretch>
            <a:fillRect/>
          </a:stretch>
        </p:blipFill>
        <p:spPr>
          <a:xfrm>
            <a:off x="9249156" y="4169664"/>
            <a:ext cx="201168" cy="201168"/>
          </a:xfrm>
          <a:prstGeom prst="rect">
            <a:avLst/>
          </a:prstGeom>
        </p:spPr>
      </p:pic>
      <p:sp>
        <p:nvSpPr>
          <p:cNvPr id="1040" name="Text 31"/>
          <p:cNvSpPr txBox="1"/>
          <p:nvPr/>
        </p:nvSpPr>
        <p:spPr>
          <a:xfrm>
            <a:off x="9642348" y="4069080"/>
            <a:ext cx="1833372" cy="402336"/>
          </a:xfrm>
          <a:prstGeom prst="rect">
            <a:avLst/>
          </a:prstGeom>
          <a:noFill/>
          <a:ln/>
        </p:spPr>
        <p:txBody>
          <a:bodyPr wrap="square" lIns="0" tIns="0" rIns="0" bIns="0" rtlCol="0" anchor="ctr"/>
          <a:lstStyle/>
          <a:p>
            <a:pPr algn="l" indent="0" marL="0">
              <a:buNone/>
            </a:pPr>
            <a:r>
              <a:rPr lang="en-US" sz="1250" b="1" dirty="0">
                <a:solidFill>
                  <a:srgbClr val="0B1F3A"/>
                </a:solidFill>
                <a:latin typeface="Calibri" pitchFamily="34" charset="0"/>
                <a:ea typeface="Calibri" pitchFamily="34" charset="-122"/>
                <a:cs typeface="Calibri" pitchFamily="34" charset="-120"/>
              </a:rPr>
              <a:t>How to read this page</a:t>
            </a:r>
            <a:endParaRPr lang="en-US" sz="1250" dirty="0"/>
          </a:p>
        </p:txBody>
      </p:sp>
      <p:sp>
        <p:nvSpPr>
          <p:cNvPr id="1041" name="Text 32"/>
          <p:cNvSpPr txBox="1"/>
          <p:nvPr/>
        </p:nvSpPr>
        <p:spPr>
          <a:xfrm>
            <a:off x="9148572" y="4599432"/>
            <a:ext cx="2345436" cy="1609344"/>
          </a:xfrm>
          <a:prstGeom prst="rect">
            <a:avLst/>
          </a:prstGeom>
          <a:noFill/>
          <a:ln/>
        </p:spPr>
        <p:txBody>
          <a:bodyPr wrap="square" lIns="0" tIns="0" rIns="0" bIns="0" rtlCol="0" anchor="t"/>
          <a:lstStyle/>
          <a:p>
            <a:pPr algn="l" indent="0" marL="0">
              <a:spcAft>
                <a:spcPts val="400"/>
              </a:spcAft>
              <a:buNone/>
            </a:pPr>
            <a:r>
              <a:rPr lang="en-US" sz="1000" dirty="0">
                <a:solidFill>
                  <a:srgbClr val="2B2F36"/>
                </a:solidFill>
                <a:latin typeface="Calibri" pitchFamily="34" charset="0"/>
                <a:ea typeface="Calibri" pitchFamily="34" charset="-122"/>
                <a:cs typeface="Calibri" pitchFamily="34" charset="-120"/>
              </a:rPr>
              <a:t>Benchmarks, estimates and forecasts describe their own sources. They do not show AERES performance, demand or savings.</a:t>
            </a:r>
            <a:endParaRPr lang="en-US" sz="1000" dirty="0"/>
          </a:p>
          <a:p>
            <a:pPr algn="l" indent="0" marL="0">
              <a:spcAft>
                <a:spcPts val="400"/>
              </a:spcAft>
              <a:buNone/>
            </a:pPr>
            <a:r>
              <a:rPr lang="en-US" sz="1000" dirty="0">
                <a:solidFill>
                  <a:srgbClr val="2B2F36"/>
                </a:solidFill>
                <a:latin typeface="Calibri" pitchFamily="34" charset="0"/>
                <a:ea typeface="Calibri" pitchFamily="34" charset="-122"/>
                <a:cs typeface="Calibri" pitchFamily="34" charset="-120"/>
              </a:rPr>
              <a:t>Vendor-run results and single-publisher forecasts are flagged where used.</a:t>
            </a:r>
            <a:endParaRPr lang="en-US" sz="1000" dirty="0"/>
          </a:p>
          <a:p>
            <a:pPr algn="l" indent="0" marL="0">
              <a:spcAft>
                <a:spcPts val="400"/>
              </a:spcAft>
              <a:buNone/>
            </a:pPr>
            <a:r>
              <a:rPr lang="en-US" sz="1000" dirty="0">
                <a:solidFill>
                  <a:srgbClr val="2B2F36"/>
                </a:solidFill>
                <a:latin typeface="Calibri" pitchFamily="34" charset="0"/>
                <a:ea typeface="Calibri" pitchFamily="34" charset="-122"/>
                <a:cs typeface="Calibri" pitchFamily="34" charset="-120"/>
              </a:rPr>
              <a:t>Full links: AERES Citations and Source Notes, and this slide’s speaker notes.</a:t>
            </a:r>
            <a:endParaRPr lang="en-US" sz="1000" dirty="0"/>
          </a:p>
        </p:txBody>
      </p:sp>
      <p:sp>
        <p:nvSpPr>
          <p:cNvPr id="1042" name="Text 33"/>
          <p:cNvSpPr txBox="1"/>
          <p:nvPr/>
        </p:nvSpPr>
        <p:spPr>
          <a:xfrm>
            <a:off x="548640" y="6382512"/>
            <a:ext cx="9601200" cy="182880"/>
          </a:xfrm>
          <a:prstGeom prst="rect">
            <a:avLst/>
          </a:prstGeom>
          <a:noFill/>
          <a:ln/>
        </p:spPr>
        <p:txBody>
          <a:bodyPr wrap="square" lIns="0" tIns="0" rIns="0" bIns="0" rtlCol="0" anchor="t"/>
          <a:lstStyle/>
          <a:p>
            <a:pPr algn="l" indent="0" marL="0">
              <a:buNone/>
            </a:pPr>
            <a:r>
              <a:rPr lang="en-US" sz="900" i="1" dirty="0">
                <a:solidFill>
                  <a:srgbClr val="6B7482"/>
                </a:solidFill>
                <a:latin typeface="Calibri" pitchFamily="34" charset="0"/>
                <a:ea typeface="Calibri" pitchFamily="34" charset="-122"/>
                <a:cs typeface="Calibri" pitchFamily="34" charset="-120"/>
              </a:rPr>
              <a:t>Register compiled 20 October 2026. Full links for every source are in the speaker notes.</a:t>
            </a:r>
            <a:endParaRPr lang="en-US" sz="900" dirty="0"/>
          </a:p>
        </p:txBody>
      </p:sp>
      <p:sp>
        <p:nvSpPr>
          <p:cNvPr id="31"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482"/>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AERES">
  <a:themeElements>
    <a:clrScheme name="AERES">
      <a:dk1>
        <a:srgbClr val="2B2F36"/>
      </a:dk1>
      <a:lt1>
        <a:srgbClr val="FFFFFF"/>
      </a:lt1>
      <a:dk2>
        <a:srgbClr val="0B1F3A"/>
      </a:dk2>
      <a:lt2>
        <a:srgbClr val="FAF9F6"/>
      </a:lt2>
      <a:accent1>
        <a:srgbClr val="2F6FDB"/>
      </a:accent1>
      <a:accent2>
        <a:srgbClr val="0B1F3A"/>
      </a:accent2>
      <a:accent3>
        <a:srgbClr val="9DB8E8"/>
      </a:accent3>
      <a:accent4>
        <a:srgbClr val="6B7482"/>
      </a:accent4>
      <a:accent5>
        <a:srgbClr val="1F4E96"/>
      </a:accent5>
      <a:accent6>
        <a:srgbClr val="E8EFFA"/>
      </a:accent6>
      <a:hlink>
        <a:srgbClr val="2F6FDB"/>
      </a:hlink>
      <a:folHlink>
        <a:srgbClr val="6B7482"/>
      </a:folHlink>
    </a:clrScheme>
    <a:fontScheme name="AER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3345</Words>
  <Application>Microsoft Office PowerPoint</Application>
  <PresentationFormat>Widescreen</PresentationFormat>
  <Paragraphs>369</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AERES</vt:lpstr>
      <vt:lpstr>PowerPoint Presentation</vt:lpstr>
      <vt:lpstr>One change. Multiple consequences. No unified review.</vt:lpstr>
      <vt:lpstr>AERES connects the project. It reasons across the consequences.</vt:lpstr>
      <vt:lpstr>Process flow and system design</vt:lpstr>
      <vt:lpstr>Feasibility &amp; scalability: the real-world evidence</vt:lpstr>
      <vt:lpstr>Business model: how AERES gets sold</vt:lpstr>
      <vt:lpstr>Competitive landscape: strong layers, one clear whitespace</vt:lpstr>
      <vt:lpstr>A staged path from concept to professional validation, gated by evidence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AERES — Open Innovation Pitch</dc:title>
  <dc:subject>PptxGenJS Presentation</dc:subject>
  <dc:creator>AERES</dc:creator>
  <cp:lastModifiedBy>utkarsh sai sidhardh</cp:lastModifiedBy>
  <cp:revision>3</cp:revision>
  <dcterms:created xsi:type="dcterms:W3CDTF">2026-10-17T07:53:04Z</dcterms:created>
  <dcterms:modified xsi:type="dcterms:W3CDTF">2026-10-18T15:31:41Z</dcterms:modified>
</cp:coreProperties>
</file>